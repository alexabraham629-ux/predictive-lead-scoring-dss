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388" autoAdjust="0"/>
  </p:normalViewPr>
  <p:slideViewPr>
    <p:cSldViewPr snapToGrid="0" snapToObjects="1">
      <p:cViewPr>
        <p:scale>
          <a:sx n="100" d="100"/>
          <a:sy n="100" d="100"/>
        </p:scale>
        <p:origin x="946" y="269"/>
      </p:cViewPr>
      <p:guideLst/>
    </p:cSldViewPr>
  </p:slideViewPr>
  <p:notesTextViewPr>
    <p:cViewPr>
      <p:scale>
        <a:sx n="1" d="1"/>
        <a:sy n="1" d="1"/>
      </p:scale>
      <p:origin x="0" y="-512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12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project is to help businesses identify which customers are most likely to convert before the sales team spends time contacting them.</a:t>
            </a:r>
          </a:p>
          <a:p>
            <a:r>
              <a:rPr lang="en-US" dirty="0"/>
              <a:t>Traditionally, companies rely on manual judgment and intuition to </a:t>
            </a:r>
            <a:r>
              <a:rPr lang="en-US" dirty="0" err="1"/>
              <a:t>prioritise</a:t>
            </a:r>
            <a:r>
              <a:rPr lang="en-US" dirty="0"/>
              <a:t> leads. This often leads to wasted effort and missed opportunities.</a:t>
            </a:r>
          </a:p>
          <a:p>
            <a:r>
              <a:rPr lang="en-US" dirty="0"/>
              <a:t>So, in this project, I developed a machine learning-based system that:</a:t>
            </a:r>
          </a:p>
          <a:p>
            <a:r>
              <a:rPr lang="en-US" dirty="0"/>
              <a:t>predicts conversion probability, </a:t>
            </a:r>
          </a:p>
          <a:p>
            <a:r>
              <a:rPr lang="en-US" dirty="0"/>
              <a:t>assigns lead scores, </a:t>
            </a:r>
          </a:p>
          <a:p>
            <a:r>
              <a:rPr lang="en-US" dirty="0"/>
              <a:t>and helps sales teams focus on high-value customers.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organizations generate thousands of customer leads every day through:</a:t>
            </a:r>
          </a:p>
          <a:p>
            <a:r>
              <a:rPr lang="en-US" dirty="0"/>
              <a:t>websites, </a:t>
            </a:r>
          </a:p>
          <a:p>
            <a:r>
              <a:rPr lang="en-US" dirty="0"/>
              <a:t>social media, </a:t>
            </a:r>
          </a:p>
          <a:p>
            <a:r>
              <a:rPr lang="en-US" dirty="0"/>
              <a:t>advertisements, </a:t>
            </a:r>
          </a:p>
          <a:p>
            <a:r>
              <a:rPr lang="en-US" dirty="0"/>
              <a:t>and campaigns. </a:t>
            </a:r>
          </a:p>
          <a:p>
            <a:r>
              <a:rPr lang="en-US" dirty="0"/>
              <a:t>However, most companies still do not have a scientific method to identify which leads are actually valuable.</a:t>
            </a:r>
          </a:p>
          <a:p>
            <a:r>
              <a:rPr lang="en-US" dirty="0"/>
              <a:t>As a result:</a:t>
            </a:r>
          </a:p>
          <a:p>
            <a:r>
              <a:rPr lang="en-US" dirty="0"/>
              <a:t>sales teams spend a large amount of time contacting customers who may never convert, </a:t>
            </a:r>
          </a:p>
          <a:p>
            <a:r>
              <a:rPr lang="en-US" dirty="0"/>
              <a:t>while potentially valuable customers may not receive enough attention. </a:t>
            </a:r>
          </a:p>
          <a:p>
            <a:r>
              <a:rPr lang="en-US" dirty="0"/>
              <a:t>Research and industry reports show that sales teams can waste nearly:</a:t>
            </a:r>
          </a:p>
          <a:p>
            <a:r>
              <a:rPr lang="en-US" b="1" dirty="0"/>
              <a:t>60% of their effort</a:t>
            </a:r>
          </a:p>
          <a:p>
            <a:r>
              <a:rPr lang="en-US" dirty="0"/>
              <a:t>on low-quality or non-converting leads.</a:t>
            </a:r>
          </a:p>
          <a:p>
            <a:r>
              <a:rPr lang="en-US" dirty="0"/>
              <a:t>Another issue is that lead prioritization is often based on:</a:t>
            </a:r>
          </a:p>
          <a:p>
            <a:r>
              <a:rPr lang="en-US" dirty="0"/>
              <a:t>intuition, </a:t>
            </a:r>
          </a:p>
          <a:p>
            <a:r>
              <a:rPr lang="en-US" dirty="0"/>
              <a:t>experience, </a:t>
            </a:r>
          </a:p>
          <a:p>
            <a:r>
              <a:rPr lang="en-US" dirty="0"/>
              <a:t>or manual judgement,</a:t>
            </a:r>
            <a:br>
              <a:rPr lang="en-US" dirty="0"/>
            </a:br>
            <a:r>
              <a:rPr lang="en-US" dirty="0"/>
              <a:t>rather than predictive analytics. </a:t>
            </a:r>
          </a:p>
          <a:p>
            <a:r>
              <a:rPr lang="en-US" dirty="0"/>
              <a:t>This creates:</a:t>
            </a:r>
          </a:p>
          <a:p>
            <a:r>
              <a:rPr lang="en-US" dirty="0"/>
              <a:t>inefficiency, </a:t>
            </a:r>
          </a:p>
          <a:p>
            <a:r>
              <a:rPr lang="en-US" dirty="0"/>
              <a:t>poor scalability, </a:t>
            </a:r>
          </a:p>
          <a:p>
            <a:r>
              <a:rPr lang="en-US" dirty="0"/>
              <a:t>and inconsistent decision-making. </a:t>
            </a:r>
          </a:p>
          <a:p>
            <a:r>
              <a:rPr lang="en-US" dirty="0"/>
              <a:t>The funnel on the right visually represents this issue.</a:t>
            </a:r>
          </a:p>
          <a:p>
            <a:r>
              <a:rPr lang="en-US" dirty="0"/>
              <a:t>For example:</a:t>
            </a:r>
            <a:br>
              <a:rPr lang="en-US" dirty="0"/>
            </a:br>
            <a:r>
              <a:rPr lang="en-US" dirty="0"/>
              <a:t>out of 10,000 generated leads,</a:t>
            </a:r>
            <a:br>
              <a:rPr lang="en-US" dirty="0"/>
            </a:br>
            <a:r>
              <a:rPr lang="en-US" dirty="0"/>
              <a:t>around:</a:t>
            </a:r>
          </a:p>
          <a:p>
            <a:r>
              <a:rPr lang="en-US" dirty="0"/>
              <a:t>8,000 may never convert,</a:t>
            </a:r>
            <a:br>
              <a:rPr lang="en-US" dirty="0"/>
            </a:br>
            <a:r>
              <a:rPr lang="en-US" dirty="0"/>
              <a:t>while only: </a:t>
            </a:r>
          </a:p>
          <a:p>
            <a:r>
              <a:rPr lang="en-US" dirty="0"/>
              <a:t>2,000 are actually valuable high-intent leads. </a:t>
            </a:r>
          </a:p>
          <a:p>
            <a:r>
              <a:rPr lang="en-US" dirty="0"/>
              <a:t>The objective of this project was to solve this inefficiency by building a machine learning-based Decision Support System that can mathematically predict which leads are most likely to convert.”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YOU SAY DURING THE PRESENTATION</a:t>
            </a:r>
          </a:p>
          <a:p>
            <a:r>
              <a:rPr lang="en-US" dirty="0"/>
              <a:t>“ This slide explains the dataset used for the project and the preprocessing steps performed before training the machine learning models.</a:t>
            </a:r>
          </a:p>
          <a:p>
            <a:r>
              <a:rPr lang="en-US" dirty="0"/>
              <a:t>For this project, I used the:</a:t>
            </a:r>
          </a:p>
          <a:p>
            <a:r>
              <a:rPr lang="en-US" b="1" dirty="0"/>
              <a:t>X Education Lead Scoring Dataset.</a:t>
            </a:r>
          </a:p>
          <a:p>
            <a:r>
              <a:rPr lang="en-US" dirty="0"/>
              <a:t>The dataset contains:</a:t>
            </a:r>
          </a:p>
          <a:p>
            <a:r>
              <a:rPr lang="en-US" dirty="0"/>
              <a:t>9,240 customer lead records </a:t>
            </a:r>
          </a:p>
          <a:p>
            <a:r>
              <a:rPr lang="en-US" dirty="0"/>
              <a:t>and 37 raw features. </a:t>
            </a:r>
          </a:p>
          <a:p>
            <a:r>
              <a:rPr lang="en-US" dirty="0"/>
              <a:t>The overall historical conversion rate in the dataset was:</a:t>
            </a:r>
          </a:p>
          <a:p>
            <a:r>
              <a:rPr lang="en-US" b="1" dirty="0"/>
              <a:t>38.5%.</a:t>
            </a:r>
          </a:p>
          <a:p>
            <a:r>
              <a:rPr lang="en-US" dirty="0"/>
              <a:t>The target variable is binary, meaning:</a:t>
            </a:r>
          </a:p>
          <a:p>
            <a:r>
              <a:rPr lang="en-US" dirty="0"/>
              <a:t>1 represents a converted customer, </a:t>
            </a:r>
          </a:p>
          <a:p>
            <a:r>
              <a:rPr lang="en-US" dirty="0"/>
              <a:t>and 0 represents a non-converted customer. </a:t>
            </a:r>
          </a:p>
          <a:p>
            <a:r>
              <a:rPr lang="en-US" dirty="0"/>
              <a:t>The dataset included different categories of information such as:</a:t>
            </a:r>
          </a:p>
          <a:p>
            <a:r>
              <a:rPr lang="en-US" dirty="0"/>
              <a:t>customer behavior, </a:t>
            </a:r>
          </a:p>
          <a:p>
            <a:r>
              <a:rPr lang="en-US" dirty="0"/>
              <a:t>website activity, </a:t>
            </a:r>
          </a:p>
          <a:p>
            <a:r>
              <a:rPr lang="en-US" dirty="0"/>
              <a:t>interaction history, </a:t>
            </a:r>
          </a:p>
          <a:p>
            <a:r>
              <a:rPr lang="en-US" dirty="0"/>
              <a:t>and demographic information. </a:t>
            </a:r>
          </a:p>
          <a:p>
            <a:r>
              <a:rPr lang="en-US" dirty="0"/>
              <a:t>However, real-world business data is usually incomplete and inconsistent.</a:t>
            </a:r>
          </a:p>
          <a:p>
            <a:r>
              <a:rPr lang="en-US" dirty="0"/>
              <a:t>So, before training the model, extensive preprocessing was required.</a:t>
            </a:r>
          </a:p>
          <a:p>
            <a:r>
              <a:rPr lang="en-US" dirty="0"/>
              <a:t>The preprocessing steps included:</a:t>
            </a:r>
          </a:p>
          <a:p>
            <a:r>
              <a:rPr lang="en-US" dirty="0"/>
              <a:t>handling missing values, </a:t>
            </a:r>
          </a:p>
          <a:p>
            <a:r>
              <a:rPr lang="en-US" dirty="0"/>
              <a:t>removing low-quality columns, </a:t>
            </a:r>
          </a:p>
          <a:p>
            <a:r>
              <a:rPr lang="en-US" dirty="0"/>
              <a:t>treating outliers, </a:t>
            </a:r>
          </a:p>
          <a:p>
            <a:r>
              <a:rPr lang="en-US" dirty="0"/>
              <a:t>and converting categorical variables into numerical form. </a:t>
            </a:r>
          </a:p>
          <a:p>
            <a:r>
              <a:rPr lang="en-US" dirty="0"/>
              <a:t>For example:</a:t>
            </a:r>
            <a:br>
              <a:rPr lang="en-US" dirty="0"/>
            </a:br>
            <a:r>
              <a:rPr lang="en-US" dirty="0"/>
              <a:t>the dataset contained many ‘Select’ placeholder values which do not carry real business meaning, so they were replaced with null values.</a:t>
            </a:r>
          </a:p>
          <a:p>
            <a:r>
              <a:rPr lang="en-US" dirty="0"/>
              <a:t>Missing numerical values were treated using:</a:t>
            </a:r>
          </a:p>
          <a:p>
            <a:r>
              <a:rPr lang="en-US" b="1" dirty="0"/>
              <a:t>median imputation,</a:t>
            </a:r>
          </a:p>
          <a:p>
            <a:r>
              <a:rPr lang="en-US" dirty="0"/>
              <a:t>while categorical variables used:</a:t>
            </a:r>
          </a:p>
          <a:p>
            <a:r>
              <a:rPr lang="en-US" b="1" dirty="0"/>
              <a:t>mode imputation.</a:t>
            </a:r>
          </a:p>
          <a:p>
            <a:r>
              <a:rPr lang="en-US" dirty="0"/>
              <a:t>I also applied:</a:t>
            </a:r>
          </a:p>
          <a:p>
            <a:r>
              <a:rPr lang="en-US" dirty="0"/>
              <a:t>Binary Encoding, </a:t>
            </a:r>
          </a:p>
          <a:p>
            <a:r>
              <a:rPr lang="en-US" dirty="0"/>
              <a:t>One-Hot Encoding, </a:t>
            </a:r>
          </a:p>
          <a:p>
            <a:r>
              <a:rPr lang="en-US" dirty="0"/>
              <a:t>and </a:t>
            </a:r>
            <a:r>
              <a:rPr lang="en-US" dirty="0" err="1"/>
              <a:t>StandardScaler</a:t>
            </a:r>
            <a:r>
              <a:rPr lang="en-US" dirty="0"/>
              <a:t> normalization </a:t>
            </a:r>
          </a:p>
          <a:p>
            <a:r>
              <a:rPr lang="en-US" dirty="0"/>
              <a:t>to prepare the data for machine learning.</a:t>
            </a:r>
          </a:p>
          <a:p>
            <a:r>
              <a:rPr lang="en-US" dirty="0"/>
              <a:t>Additionally, I engineered a custom feature called:</a:t>
            </a:r>
          </a:p>
          <a:p>
            <a:r>
              <a:rPr lang="en-US" b="1" dirty="0"/>
              <a:t>Engagement Score</a:t>
            </a:r>
          </a:p>
          <a:p>
            <a:r>
              <a:rPr lang="en-US" dirty="0"/>
              <a:t>which mathematically combines multiple customer engagement behaviors into one predictive metric.”</a:t>
            </a:r>
          </a:p>
          <a:p>
            <a:br>
              <a:rPr lang="en-US" dirty="0"/>
            </a:br>
            <a:endParaRPr lang="en-US" dirty="0"/>
          </a:p>
          <a:p>
            <a:r>
              <a:rPr lang="en-US" b="1" dirty="0"/>
              <a:t>SHORTER VERSION (IF PRESENTATION TIME IS LIMITED)</a:t>
            </a:r>
          </a:p>
          <a:p>
            <a:r>
              <a:rPr lang="en-US" dirty="0"/>
              <a:t>“ This slide explains the dataset and preprocessing pipeline.</a:t>
            </a:r>
          </a:p>
          <a:p>
            <a:r>
              <a:rPr lang="en-US" dirty="0"/>
              <a:t>The dataset contained:</a:t>
            </a:r>
          </a:p>
          <a:p>
            <a:r>
              <a:rPr lang="en-US" dirty="0"/>
              <a:t>9,240 records </a:t>
            </a:r>
          </a:p>
          <a:p>
            <a:r>
              <a:rPr lang="en-US" dirty="0"/>
              <a:t>and 37 features. </a:t>
            </a:r>
          </a:p>
          <a:p>
            <a:r>
              <a:rPr lang="en-US" dirty="0"/>
              <a:t>Since real-world datasets contain missing and inconsistent values, preprocessing was essential.</a:t>
            </a:r>
          </a:p>
          <a:p>
            <a:r>
              <a:rPr lang="en-US" dirty="0"/>
              <a:t>I handled:</a:t>
            </a:r>
          </a:p>
          <a:p>
            <a:r>
              <a:rPr lang="en-US" dirty="0"/>
              <a:t>missing values, </a:t>
            </a:r>
          </a:p>
          <a:p>
            <a:r>
              <a:rPr lang="en-US" dirty="0"/>
              <a:t>encoding, </a:t>
            </a:r>
          </a:p>
          <a:p>
            <a:r>
              <a:rPr lang="en-US" dirty="0"/>
              <a:t>normalization, </a:t>
            </a:r>
          </a:p>
          <a:p>
            <a:r>
              <a:rPr lang="en-US" dirty="0"/>
              <a:t>and outlier treatment </a:t>
            </a:r>
          </a:p>
          <a:p>
            <a:r>
              <a:rPr lang="en-US" dirty="0"/>
              <a:t>before training the machine learning models.</a:t>
            </a:r>
          </a:p>
          <a:p>
            <a:r>
              <a:rPr lang="en-US" dirty="0"/>
              <a:t>I also created a custom Engagement Score to better capture customer behavior and intent.”</a:t>
            </a:r>
          </a:p>
          <a:p>
            <a:br>
              <a:rPr lang="en-US" dirty="0"/>
            </a:br>
            <a:endParaRPr lang="en-US" dirty="0"/>
          </a:p>
          <a:p>
            <a:r>
              <a:rPr lang="en-US" b="1" dirty="0"/>
              <a:t>EXPLANATION OF EACH SECTION (VERY SIMPLE LANGUAGE)</a:t>
            </a:r>
          </a:p>
          <a:p>
            <a:br>
              <a:rPr lang="en-US" dirty="0"/>
            </a:br>
            <a:endParaRPr lang="en-US" dirty="0"/>
          </a:p>
          <a:p>
            <a:r>
              <a:rPr lang="en-US" b="1" dirty="0"/>
              <a:t>1. RECORDS = 9,240</a:t>
            </a:r>
          </a:p>
          <a:p>
            <a:r>
              <a:rPr lang="en-US" b="1" dirty="0"/>
              <a:t>What You Say</a:t>
            </a:r>
          </a:p>
          <a:p>
            <a:r>
              <a:rPr lang="en-US" dirty="0"/>
              <a:t>“This means the dataset contains information about 9,240 customer leads.”</a:t>
            </a:r>
          </a:p>
          <a:p>
            <a:br>
              <a:rPr lang="en-US" dirty="0"/>
            </a:br>
            <a:endParaRPr lang="en-US" dirty="0"/>
          </a:p>
          <a:p>
            <a:r>
              <a:rPr lang="en-US" b="1" dirty="0"/>
              <a:t>2. RAW FEATURES = 37</a:t>
            </a:r>
          </a:p>
          <a:p>
            <a:r>
              <a:rPr lang="en-US" b="1" dirty="0"/>
              <a:t>What You Say</a:t>
            </a:r>
          </a:p>
          <a:p>
            <a:r>
              <a:rPr lang="en-US" dirty="0"/>
              <a:t>“These are the original variables available in the dataset, such as:</a:t>
            </a:r>
          </a:p>
          <a:p>
            <a:r>
              <a:rPr lang="en-US" dirty="0"/>
              <a:t>website visits, </a:t>
            </a:r>
          </a:p>
          <a:p>
            <a:r>
              <a:rPr lang="en-US" dirty="0"/>
              <a:t>lead source, </a:t>
            </a:r>
          </a:p>
          <a:p>
            <a:r>
              <a:rPr lang="en-US" dirty="0"/>
              <a:t>occupation, </a:t>
            </a:r>
          </a:p>
          <a:p>
            <a:r>
              <a:rPr lang="en-US" dirty="0"/>
              <a:t>and time spent on the website.” </a:t>
            </a:r>
          </a:p>
          <a:p>
            <a:br>
              <a:rPr lang="en-US" dirty="0"/>
            </a:br>
            <a:endParaRPr lang="en-US" dirty="0"/>
          </a:p>
          <a:p>
            <a:r>
              <a:rPr lang="en-US" b="1" dirty="0"/>
              <a:t>3. CONVERSION RATE = 38.5%</a:t>
            </a:r>
          </a:p>
          <a:p>
            <a:r>
              <a:rPr lang="en-US" b="1" dirty="0"/>
              <a:t>What You Say</a:t>
            </a:r>
          </a:p>
          <a:p>
            <a:r>
              <a:rPr lang="en-US" dirty="0"/>
              <a:t>“This means approximately 38.5% of customers in the dataset eventually converted into buyers.”</a:t>
            </a:r>
          </a:p>
          <a:p>
            <a:br>
              <a:rPr lang="en-US" dirty="0"/>
            </a:br>
            <a:endParaRPr lang="en-US" dirty="0"/>
          </a:p>
          <a:p>
            <a:r>
              <a:rPr lang="en-US" b="1" dirty="0"/>
              <a:t>4. TARGET VARIABLE = BINARY</a:t>
            </a:r>
          </a:p>
          <a:p>
            <a:r>
              <a:rPr lang="en-US" b="1" dirty="0"/>
              <a:t>What You Say</a:t>
            </a:r>
          </a:p>
          <a:p>
            <a:r>
              <a:rPr lang="en-US" dirty="0"/>
              <a:t>“The prediction output has only two possible outcomes:</a:t>
            </a:r>
          </a:p>
          <a:p>
            <a:r>
              <a:rPr lang="en-US" dirty="0"/>
              <a:t>converted, </a:t>
            </a:r>
          </a:p>
          <a:p>
            <a:r>
              <a:rPr lang="en-US" dirty="0"/>
              <a:t>or not converted.” </a:t>
            </a:r>
          </a:p>
          <a:p>
            <a:br>
              <a:rPr lang="en-US" dirty="0"/>
            </a:br>
            <a:endParaRPr lang="en-US" dirty="0"/>
          </a:p>
          <a:p>
            <a:r>
              <a:rPr lang="en-US" b="1" dirty="0"/>
              <a:t>5. MISSING VALUE TREATMENT</a:t>
            </a:r>
          </a:p>
          <a:p>
            <a:r>
              <a:rPr lang="en-US" b="1" dirty="0"/>
              <a:t>What You Say</a:t>
            </a:r>
          </a:p>
          <a:p>
            <a:r>
              <a:rPr lang="en-US" dirty="0"/>
              <a:t>“Some customer records had incomplete information.</a:t>
            </a:r>
          </a:p>
          <a:p>
            <a:r>
              <a:rPr lang="en-US" dirty="0"/>
              <a:t>So I used statistical methods to intelligently fill missing values instead of removing all records.”</a:t>
            </a:r>
          </a:p>
          <a:p>
            <a:br>
              <a:rPr lang="en-US" dirty="0"/>
            </a:br>
            <a:endParaRPr lang="en-US" dirty="0"/>
          </a:p>
          <a:p>
            <a:r>
              <a:rPr lang="en-US" b="1" dirty="0"/>
              <a:t>6. MEDIAN IMPUTATION</a:t>
            </a:r>
          </a:p>
          <a:p>
            <a:r>
              <a:rPr lang="en-US" b="1" dirty="0"/>
              <a:t>What You Say</a:t>
            </a:r>
          </a:p>
          <a:p>
            <a:r>
              <a:rPr lang="en-US" dirty="0"/>
              <a:t>“For numerical variables, I used the median value because it is less affected by extreme outliers.”</a:t>
            </a:r>
          </a:p>
          <a:p>
            <a:br>
              <a:rPr lang="en-US" dirty="0"/>
            </a:br>
            <a:endParaRPr lang="en-US" dirty="0"/>
          </a:p>
          <a:p>
            <a:r>
              <a:rPr lang="en-US" b="1" dirty="0"/>
              <a:t>7. MODE IMPUTATION</a:t>
            </a:r>
          </a:p>
          <a:p>
            <a:r>
              <a:rPr lang="en-US" b="1" dirty="0"/>
              <a:t>What You Say</a:t>
            </a:r>
          </a:p>
          <a:p>
            <a:r>
              <a:rPr lang="en-US" dirty="0"/>
              <a:t>“For categorical variables, I replaced missing values using the most frequently occurring category.”</a:t>
            </a:r>
          </a:p>
          <a:p>
            <a:br>
              <a:rPr lang="en-US" dirty="0"/>
            </a:br>
            <a:endParaRPr lang="en-US" dirty="0"/>
          </a:p>
          <a:p>
            <a:r>
              <a:rPr lang="en-US" b="1" dirty="0"/>
              <a:t>8. ONE-HOT ENCODING</a:t>
            </a:r>
          </a:p>
          <a:p>
            <a:r>
              <a:rPr lang="en-US" b="1" dirty="0"/>
              <a:t>What You Say</a:t>
            </a:r>
          </a:p>
          <a:p>
            <a:r>
              <a:rPr lang="en-US" dirty="0"/>
              <a:t>“Machine learning models cannot directly understand text categories.</a:t>
            </a:r>
          </a:p>
          <a:p>
            <a:r>
              <a:rPr lang="en-US" dirty="0"/>
              <a:t>So categories like:</a:t>
            </a:r>
          </a:p>
          <a:p>
            <a:r>
              <a:rPr lang="en-US" dirty="0"/>
              <a:t>Google, </a:t>
            </a:r>
          </a:p>
          <a:p>
            <a:r>
              <a:rPr lang="en-US" dirty="0"/>
              <a:t>Facebook, </a:t>
            </a:r>
          </a:p>
          <a:p>
            <a:r>
              <a:rPr lang="en-US" dirty="0"/>
              <a:t>or Direct Traffic </a:t>
            </a:r>
          </a:p>
          <a:p>
            <a:r>
              <a:rPr lang="en-US" dirty="0"/>
              <a:t>were converted into numerical columns.”</a:t>
            </a:r>
          </a:p>
          <a:p>
            <a:br>
              <a:rPr lang="en-US" dirty="0"/>
            </a:br>
            <a:endParaRPr lang="en-US" dirty="0"/>
          </a:p>
          <a:p>
            <a:r>
              <a:rPr lang="en-US" b="1" dirty="0"/>
              <a:t>9. STANDARDSCALER NORMALIZATION</a:t>
            </a:r>
          </a:p>
          <a:p>
            <a:r>
              <a:rPr lang="en-US" b="1" dirty="0"/>
              <a:t>What You Say</a:t>
            </a:r>
          </a:p>
          <a:p>
            <a:r>
              <a:rPr lang="en-US" dirty="0"/>
              <a:t>“Normalization ensures all numerical variables operate on a similar scale so that no single feature dominates the model unfairly.”</a:t>
            </a:r>
          </a:p>
          <a:p>
            <a:br>
              <a:rPr lang="en-US" dirty="0"/>
            </a:br>
            <a:endParaRPr lang="en-US" dirty="0"/>
          </a:p>
          <a:p>
            <a:r>
              <a:rPr lang="en-US" b="1" dirty="0"/>
              <a:t>10. IQR OUTLIER TREATMENT</a:t>
            </a:r>
          </a:p>
          <a:p>
            <a:r>
              <a:rPr lang="en-US" b="1" dirty="0"/>
              <a:t>What You Say</a:t>
            </a:r>
          </a:p>
          <a:p>
            <a:r>
              <a:rPr lang="en-US" dirty="0"/>
              <a:t>“IQR clipping helps reduce the impact of extremely abnormal values.</a:t>
            </a:r>
          </a:p>
          <a:p>
            <a:r>
              <a:rPr lang="en-US" dirty="0"/>
              <a:t>For example:</a:t>
            </a:r>
            <a:br>
              <a:rPr lang="en-US" dirty="0"/>
            </a:br>
            <a:r>
              <a:rPr lang="en-US" dirty="0"/>
              <a:t>if someone accidentally leaves the website open overnight,</a:t>
            </a:r>
            <a:br>
              <a:rPr lang="en-US" dirty="0"/>
            </a:br>
            <a:r>
              <a:rPr lang="en-US" dirty="0"/>
              <a:t>that unusually large time value should not distort the model.”</a:t>
            </a:r>
          </a:p>
          <a:p>
            <a:br>
              <a:rPr lang="en-US" dirty="0"/>
            </a:br>
            <a:endParaRPr lang="en-US" dirty="0"/>
          </a:p>
          <a:p>
            <a:r>
              <a:rPr lang="en-US" b="1" dirty="0"/>
              <a:t>11. ENGAGEMENT SCORE</a:t>
            </a:r>
          </a:p>
          <a:p>
            <a:r>
              <a:rPr lang="en-US" b="1" dirty="0"/>
              <a:t>What You Say</a:t>
            </a:r>
          </a:p>
          <a:p>
            <a:r>
              <a:rPr lang="en-US" dirty="0"/>
              <a:t>“I created a custom Engagement Score by combining:</a:t>
            </a:r>
          </a:p>
          <a:p>
            <a:r>
              <a:rPr lang="en-US" dirty="0"/>
              <a:t>website time, </a:t>
            </a:r>
          </a:p>
          <a:p>
            <a:r>
              <a:rPr lang="en-US" dirty="0"/>
              <a:t>visits, </a:t>
            </a:r>
          </a:p>
          <a:p>
            <a:r>
              <a:rPr lang="en-US" dirty="0"/>
              <a:t>and page views </a:t>
            </a:r>
          </a:p>
          <a:p>
            <a:r>
              <a:rPr lang="en-US" dirty="0"/>
              <a:t>because customer intent is better captured using combined behavioral activity rather than isolated variables.”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“Project Methodology”</a:t>
            </a:r>
          </a:p>
          <a:p>
            <a:br>
              <a:rPr lang="en-US" dirty="0"/>
            </a:br>
            <a:endParaRPr lang="en-US" dirty="0"/>
          </a:p>
          <a:p>
            <a:r>
              <a:rPr lang="en-US" b="1" dirty="0"/>
              <a:t>WHAT YOU SAY DURING THE PRESENTATION</a:t>
            </a:r>
          </a:p>
          <a:p>
            <a:r>
              <a:rPr lang="en-US" dirty="0"/>
              <a:t>“ This slide explains the overall workflow of the project and how the machine learning pipeline was built.</a:t>
            </a:r>
          </a:p>
          <a:p>
            <a:r>
              <a:rPr lang="en-US" dirty="0"/>
              <a:t>The process starts with:</a:t>
            </a:r>
          </a:p>
          <a:p>
            <a:r>
              <a:rPr lang="en-US" b="1" dirty="0"/>
              <a:t>Data Collection</a:t>
            </a:r>
          </a:p>
          <a:p>
            <a:r>
              <a:rPr lang="en-US" dirty="0"/>
              <a:t>where the raw lead dataset was imported into Python.</a:t>
            </a:r>
          </a:p>
          <a:p>
            <a:r>
              <a:rPr lang="en-US" dirty="0"/>
              <a:t>Next comes:</a:t>
            </a:r>
          </a:p>
          <a:p>
            <a:r>
              <a:rPr lang="en-US" b="1" dirty="0"/>
              <a:t>Cleaning and Imputation</a:t>
            </a:r>
          </a:p>
          <a:p>
            <a:r>
              <a:rPr lang="en-US" dirty="0"/>
              <a:t>where missing values, inconsistent entries, and low-quality data were treated.</a:t>
            </a:r>
          </a:p>
          <a:p>
            <a:r>
              <a:rPr lang="en-US" dirty="0"/>
              <a:t>After cleaning, the data was transformed using:</a:t>
            </a:r>
          </a:p>
          <a:p>
            <a:r>
              <a:rPr lang="en-US" b="1" dirty="0"/>
              <a:t>Encoding and Scaling</a:t>
            </a:r>
          </a:p>
          <a:p>
            <a:r>
              <a:rPr lang="en-US" dirty="0"/>
              <a:t>because machine learning algorithms cannot directly understand text-based categories.</a:t>
            </a:r>
          </a:p>
          <a:p>
            <a:r>
              <a:rPr lang="en-US" dirty="0"/>
              <a:t>Then comes:</a:t>
            </a:r>
          </a:p>
          <a:p>
            <a:r>
              <a:rPr lang="en-US" b="1" dirty="0"/>
              <a:t>Feature Engineering</a:t>
            </a:r>
          </a:p>
          <a:p>
            <a:r>
              <a:rPr lang="en-US" dirty="0"/>
              <a:t>which is one of the most important stages of the project.</a:t>
            </a:r>
          </a:p>
          <a:p>
            <a:r>
              <a:rPr lang="en-US" dirty="0"/>
              <a:t>Here, I created a custom feature called:</a:t>
            </a:r>
          </a:p>
          <a:p>
            <a:r>
              <a:rPr lang="en-US" b="1" dirty="0"/>
              <a:t>Engagement Score.</a:t>
            </a:r>
          </a:p>
          <a:p>
            <a:r>
              <a:rPr lang="en-US" dirty="0"/>
              <a:t>This score mathematically combines:</a:t>
            </a:r>
          </a:p>
          <a:p>
            <a:r>
              <a:rPr lang="en-US" dirty="0"/>
              <a:t>total website time, </a:t>
            </a:r>
          </a:p>
          <a:p>
            <a:r>
              <a:rPr lang="en-US" dirty="0"/>
              <a:t>number of visits, </a:t>
            </a:r>
          </a:p>
          <a:p>
            <a:r>
              <a:rPr lang="en-US" dirty="0"/>
              <a:t>and page views per visit </a:t>
            </a:r>
          </a:p>
          <a:p>
            <a:r>
              <a:rPr lang="en-US" dirty="0"/>
              <a:t>into a single behavioral metric.</a:t>
            </a:r>
          </a:p>
          <a:p>
            <a:r>
              <a:rPr lang="en-US" dirty="0"/>
              <a:t>The reason for creating this score is that customer intent is better captured through combined engagement behavior rather than isolated variables.</a:t>
            </a:r>
          </a:p>
          <a:p>
            <a:r>
              <a:rPr lang="en-US" dirty="0"/>
              <a:t>Higher engagement generally indicates higher purchase intent.</a:t>
            </a:r>
          </a:p>
          <a:p>
            <a:r>
              <a:rPr lang="en-US" dirty="0"/>
              <a:t>After feature engineering, the dataset was divided into:</a:t>
            </a:r>
          </a:p>
          <a:p>
            <a:r>
              <a:rPr lang="en-US" b="1" dirty="0"/>
              <a:t>training data</a:t>
            </a:r>
          </a:p>
          <a:p>
            <a:r>
              <a:rPr lang="en-US" dirty="0"/>
              <a:t>and</a:t>
            </a:r>
          </a:p>
          <a:p>
            <a:r>
              <a:rPr lang="en-US" b="1" dirty="0"/>
              <a:t>testing data.</a:t>
            </a:r>
          </a:p>
          <a:p>
            <a:r>
              <a:rPr lang="en-US" dirty="0"/>
              <a:t>I used:</a:t>
            </a:r>
          </a:p>
          <a:p>
            <a:r>
              <a:rPr lang="en-US" dirty="0"/>
              <a:t>70% training data </a:t>
            </a:r>
          </a:p>
          <a:p>
            <a:r>
              <a:rPr lang="en-US" dirty="0"/>
              <a:t>and 30% testing data. </a:t>
            </a:r>
          </a:p>
          <a:p>
            <a:r>
              <a:rPr lang="en-US" dirty="0"/>
              <a:t>The training dataset was used to teach the model historical customer behavior patterns, while the testing dataset was used to evaluate how well the model performs on completely unseen customer data.</a:t>
            </a:r>
          </a:p>
          <a:p>
            <a:r>
              <a:rPr lang="en-US" dirty="0"/>
              <a:t>I also applied:</a:t>
            </a:r>
          </a:p>
          <a:p>
            <a:r>
              <a:rPr lang="en-US" b="1" dirty="0"/>
              <a:t>Stratified Sampling</a:t>
            </a:r>
          </a:p>
          <a:p>
            <a:r>
              <a:rPr lang="en-US" dirty="0"/>
              <a:t>to ensure both datasets maintained similar conversion ratios.</a:t>
            </a:r>
          </a:p>
          <a:p>
            <a:r>
              <a:rPr lang="en-US" dirty="0"/>
              <a:t>After the Train-Test Split, the processed data was used for:</a:t>
            </a:r>
          </a:p>
          <a:p>
            <a:r>
              <a:rPr lang="en-US" b="1" dirty="0"/>
              <a:t>Random Forest model training.</a:t>
            </a:r>
          </a:p>
          <a:p>
            <a:r>
              <a:rPr lang="en-US" dirty="0"/>
              <a:t>Finally, the trained model generates:</a:t>
            </a:r>
          </a:p>
          <a:p>
            <a:r>
              <a:rPr lang="en-US" b="1" dirty="0"/>
              <a:t>DSS outputs</a:t>
            </a:r>
          </a:p>
          <a:p>
            <a:r>
              <a:rPr lang="en-US" dirty="0"/>
              <a:t>such as:</a:t>
            </a:r>
          </a:p>
          <a:p>
            <a:r>
              <a:rPr lang="en-US" dirty="0"/>
              <a:t>lead scores, </a:t>
            </a:r>
          </a:p>
          <a:p>
            <a:r>
              <a:rPr lang="en-US" dirty="0"/>
              <a:t>lead categories, </a:t>
            </a:r>
          </a:p>
          <a:p>
            <a:r>
              <a:rPr lang="en-US" dirty="0"/>
              <a:t>and business recommendations.” </a:t>
            </a:r>
          </a:p>
          <a:p>
            <a:br>
              <a:rPr lang="en-US" dirty="0"/>
            </a:br>
            <a:endParaRPr lang="en-US" dirty="0"/>
          </a:p>
          <a:p>
            <a:r>
              <a:rPr lang="en-US" b="1" dirty="0"/>
              <a:t>UPDATED PIPELINE FLOW (IMPORTANT)</a:t>
            </a:r>
          </a:p>
          <a:p>
            <a:r>
              <a:rPr lang="en-US" dirty="0"/>
              <a:t>Your framework flow should now be:</a:t>
            </a:r>
          </a:p>
          <a:p>
            <a:pPr rtl="0"/>
            <a:r>
              <a:rPr lang="en-US" sz="1200" kern="1200" dirty="0">
                <a:solidFill>
                  <a:schemeClr val="tx1"/>
                </a:solidFill>
                <a:latin typeface="+mn-lt"/>
                <a:ea typeface="+mn-ea"/>
                <a:cs typeface="+mn-cs"/>
              </a:rPr>
              <a:t>Data Collection</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Cleaning &amp; Imputation</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Encoding &amp; Scaling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Feature Engineering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Train-Test Split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RF Model Training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DSS Output</a:t>
            </a:r>
          </a:p>
          <a:p>
            <a:br>
              <a:rPr lang="en-US" dirty="0"/>
            </a:br>
            <a:endParaRPr lang="en-US" dirty="0"/>
          </a:p>
          <a:p>
            <a:r>
              <a:rPr lang="en-US" b="1" dirty="0"/>
              <a:t>SIMPLE SHORT VERSION (IF TIME IS LIMITED)</a:t>
            </a:r>
          </a:p>
          <a:p>
            <a:r>
              <a:rPr lang="en-US" dirty="0"/>
              <a:t>“This slide explains the complete machine learning workflow.</a:t>
            </a:r>
          </a:p>
          <a:p>
            <a:r>
              <a:rPr lang="en-US" dirty="0"/>
              <a:t>The project follows:</a:t>
            </a:r>
          </a:p>
          <a:p>
            <a:r>
              <a:rPr lang="en-US" dirty="0"/>
              <a:t>data cleaning, </a:t>
            </a:r>
          </a:p>
          <a:p>
            <a:r>
              <a:rPr lang="en-US" dirty="0"/>
              <a:t>preprocessing, </a:t>
            </a:r>
          </a:p>
          <a:p>
            <a:r>
              <a:rPr lang="en-US" dirty="0"/>
              <a:t>feature engineering, </a:t>
            </a:r>
          </a:p>
          <a:p>
            <a:r>
              <a:rPr lang="en-US" dirty="0"/>
              <a:t>Train-Test Split, </a:t>
            </a:r>
          </a:p>
          <a:p>
            <a:r>
              <a:rPr lang="en-US" dirty="0"/>
              <a:t>model training, </a:t>
            </a:r>
          </a:p>
          <a:p>
            <a:r>
              <a:rPr lang="en-US" dirty="0"/>
              <a:t>and DSS generation. </a:t>
            </a:r>
          </a:p>
          <a:p>
            <a:r>
              <a:rPr lang="en-US" dirty="0"/>
              <a:t>The most important engineered feature was the Engagement Score, which combines customer engagement behavior into one predictive metric.”</a:t>
            </a:r>
          </a:p>
          <a:p>
            <a:br>
              <a:rPr lang="en-US" dirty="0"/>
            </a:br>
            <a:endParaRPr lang="en-US" dirty="0"/>
          </a:p>
          <a:p>
            <a:r>
              <a:rPr lang="en-US" b="1" dirty="0"/>
              <a:t>SIMPLE LAYMAN EXPLANATION OF TRAIN-TEST SPLIT</a:t>
            </a:r>
          </a:p>
          <a:p>
            <a:r>
              <a:rPr lang="en-US" dirty="0"/>
              <a:t>“The model first studies historical customer behavior using one portion of the dataset, and then its prediction accuracy is tested on completely new unseen customer data.”</a:t>
            </a:r>
          </a:p>
          <a:p>
            <a:br>
              <a:rPr lang="en-US" dirty="0"/>
            </a:br>
            <a:endParaRPr lang="en-US" dirty="0"/>
          </a:p>
          <a:p>
            <a:r>
              <a:rPr lang="en-US" b="1" dirty="0"/>
              <a:t>WHY TRAIN-TEST SPLIT IS IMPORTANT</a:t>
            </a:r>
          </a:p>
          <a:p>
            <a:r>
              <a:rPr lang="en-US" dirty="0"/>
              <a:t>Without Train-Test Split:</a:t>
            </a:r>
          </a:p>
          <a:p>
            <a:r>
              <a:rPr lang="en-US" dirty="0"/>
              <a:t>the model may memorize the dataset </a:t>
            </a:r>
          </a:p>
          <a:p>
            <a:r>
              <a:rPr lang="en-US" dirty="0"/>
              <a:t>instead of learning generalized customer behavior patterns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Pandas</a:t>
            </a:r>
          </a:p>
          <a:p>
            <a:r>
              <a:rPr lang="en-US" b="1" dirty="0"/>
              <a:t>What to say (Your Presentation Script):</a:t>
            </a:r>
            <a:r>
              <a:rPr lang="en-US" dirty="0"/>
              <a:t> "Pandas is the backbone of our data manipulation. Think of it as a highly advanced, automated version of Excel. I used it to load the raw CSV files, clean the missing values, create new columns like our Engagement Score, and format the data perfectly before feeding it to the AI."</a:t>
            </a:r>
          </a:p>
          <a:p>
            <a:r>
              <a:rPr lang="en-US" b="1" dirty="0"/>
              <a:t>Viva Defense Answer:</a:t>
            </a:r>
            <a:endParaRPr lang="en-US" dirty="0"/>
          </a:p>
          <a:p>
            <a:r>
              <a:rPr lang="en-US" b="1" dirty="0"/>
              <a:t>Q: Why use Pandas instead of just cleaning the data in Excel?</a:t>
            </a:r>
            <a:endParaRPr lang="en-US" dirty="0"/>
          </a:p>
          <a:p>
            <a:r>
              <a:rPr lang="en-US" b="1" dirty="0"/>
              <a:t>A:</a:t>
            </a:r>
            <a:r>
              <a:rPr lang="en-US" dirty="0"/>
              <a:t> "Scalability and automation. If we get a new batch of 50,000 leads tomorrow, doing it in Excel requires manual work and risks human error. With Pandas, the cleaning pipeline is coded; I just run the script and it processes millions of rows instantly and identically every time."</a:t>
            </a:r>
          </a:p>
          <a:p>
            <a:r>
              <a:rPr lang="en-US" b="1" dirty="0"/>
              <a:t>2. NumPy (Numerical Python)</a:t>
            </a:r>
          </a:p>
          <a:p>
            <a:r>
              <a:rPr lang="en-US" b="1" dirty="0"/>
              <a:t>What to say:</a:t>
            </a:r>
            <a:r>
              <a:rPr lang="en-US" dirty="0"/>
              <a:t> "NumPy is the mathematical engine of the project. While Pandas handles the rows and columns, NumPy performs the heavy mathematical calculations behind the scenes, specifically when we needed to apply custom weights to our features to calculate the normalized Engagement Score."</a:t>
            </a:r>
          </a:p>
          <a:p>
            <a:r>
              <a:rPr lang="en-US" b="1" dirty="0"/>
              <a:t>Viva Defense Answer:</a:t>
            </a:r>
            <a:endParaRPr lang="en-US" dirty="0"/>
          </a:p>
          <a:p>
            <a:r>
              <a:rPr lang="en-US" b="1" dirty="0"/>
              <a:t>Q: Where exactly did you use NumPy in your pipeline?</a:t>
            </a:r>
            <a:endParaRPr lang="en-US" dirty="0"/>
          </a:p>
          <a:p>
            <a:r>
              <a:rPr lang="en-US" b="1" dirty="0"/>
              <a:t>A:</a:t>
            </a:r>
            <a:r>
              <a:rPr lang="en-US" dirty="0"/>
              <a:t> "I used NumPy arrays when calculating the Engagement Score. It allowed me to take the user's web time, visits, and page views, mathematically clip them to a maximum threshold, and multiply them by our custom weights (e.g., 0.45 for time, 0.35 for visits) in a fraction of a second."</a:t>
            </a:r>
          </a:p>
          <a:p>
            <a:r>
              <a:rPr lang="en-US" b="1" dirty="0"/>
              <a:t>3. Scikit-Learn (</a:t>
            </a:r>
            <a:r>
              <a:rPr lang="en-US" b="1" dirty="0" err="1"/>
              <a:t>sklearn</a:t>
            </a:r>
            <a:r>
              <a:rPr lang="en-US" b="1" dirty="0"/>
              <a:t>)</a:t>
            </a:r>
          </a:p>
          <a:p>
            <a:r>
              <a:rPr lang="en-US" b="1" dirty="0"/>
              <a:t>What to say:</a:t>
            </a:r>
            <a:r>
              <a:rPr lang="en-US" dirty="0"/>
              <a:t> "Scikit-Learn is the actual Machine Learning brain of the project. I used this library to do three critical things: standardize the data so large numbers didn't overpower small numbers, train the Random Forest and Logistic Regression algorithms, and finally, generate the mathematical scores to prove how accurate the models were."</a:t>
            </a:r>
          </a:p>
          <a:p>
            <a:r>
              <a:rPr lang="en-US" b="1" dirty="0"/>
              <a:t>Viva Defense Answer:</a:t>
            </a:r>
            <a:endParaRPr lang="en-US" dirty="0"/>
          </a:p>
          <a:p>
            <a:r>
              <a:rPr lang="en-US" b="1" dirty="0"/>
              <a:t>Q: Scikit-Learn has many modules. Which specific ones were the most critical for your project?</a:t>
            </a:r>
            <a:endParaRPr lang="en-US" dirty="0"/>
          </a:p>
          <a:p>
            <a:r>
              <a:rPr lang="en-US" b="1" dirty="0"/>
              <a:t>A:</a:t>
            </a:r>
            <a:r>
              <a:rPr lang="en-US" dirty="0"/>
              <a:t> "The most critical were </a:t>
            </a:r>
            <a:r>
              <a:rPr lang="en-US" sz="1200" kern="1200" dirty="0" err="1">
                <a:solidFill>
                  <a:schemeClr val="tx1"/>
                </a:solidFill>
                <a:latin typeface="+mn-lt"/>
                <a:ea typeface="+mn-ea"/>
                <a:cs typeface="+mn-cs"/>
              </a:rPr>
              <a:t>train_test_split</a:t>
            </a:r>
            <a:r>
              <a:rPr lang="en-US" dirty="0"/>
              <a:t> to prevent overfitting by hiding 30% of the data, the </a:t>
            </a:r>
            <a:r>
              <a:rPr lang="en-US" sz="1200" kern="1200" dirty="0" err="1">
                <a:solidFill>
                  <a:schemeClr val="tx1"/>
                </a:solidFill>
                <a:latin typeface="+mn-lt"/>
                <a:ea typeface="+mn-ea"/>
                <a:cs typeface="+mn-cs"/>
              </a:rPr>
              <a:t>RandomForestClassifier</a:t>
            </a:r>
            <a:r>
              <a:rPr lang="en-US" dirty="0"/>
              <a:t> which served as our champion model, and the </a:t>
            </a:r>
            <a:r>
              <a:rPr lang="en-US" sz="1200" kern="1200" dirty="0">
                <a:solidFill>
                  <a:schemeClr val="tx1"/>
                </a:solidFill>
                <a:latin typeface="+mn-lt"/>
                <a:ea typeface="+mn-ea"/>
                <a:cs typeface="+mn-cs"/>
              </a:rPr>
              <a:t>metrics</a:t>
            </a:r>
            <a:r>
              <a:rPr lang="en-US" dirty="0"/>
              <a:t> module which generated our ROC-AUC scores and Confusion Matrix to validate the business ROI."</a:t>
            </a:r>
          </a:p>
          <a:p>
            <a:r>
              <a:rPr lang="en-US" b="1" dirty="0"/>
              <a:t>4. Matplotlib &amp; Seaborn</a:t>
            </a:r>
          </a:p>
          <a:p>
            <a:r>
              <a:rPr lang="en-US" b="1" dirty="0"/>
              <a:t>What to say:</a:t>
            </a:r>
            <a:r>
              <a:rPr lang="en-US" dirty="0"/>
              <a:t> "Data science is only useful if business leaders can understand it. Matplotlib and Seaborn are visual analytics libraries. I used them to translate complex mathematical outputs into the clear, executive-friendly charts you see in the presentation, like the ROC Curve and the colored Confusion Matrix."</a:t>
            </a:r>
          </a:p>
          <a:p>
            <a:r>
              <a:rPr lang="en-US" b="1" dirty="0"/>
              <a:t>Viva Defense Answer:</a:t>
            </a:r>
            <a:endParaRPr lang="en-US" dirty="0"/>
          </a:p>
          <a:p>
            <a:r>
              <a:rPr lang="en-US" b="1" dirty="0"/>
              <a:t>Q: Why use both Matplotlib and Seaborn?</a:t>
            </a:r>
            <a:endParaRPr lang="en-US" dirty="0"/>
          </a:p>
          <a:p>
            <a:r>
              <a:rPr lang="en-US" b="1" dirty="0"/>
              <a:t>A:</a:t>
            </a:r>
            <a:r>
              <a:rPr lang="en-US" dirty="0"/>
              <a:t> "Matplotlib is the foundational plotting library; it builds the basic structure of the charts. Seaborn is built on top of Matplotlib and is specifically designed for statistical graphics. I used Seaborn for the Confusion Matrix because it easily generates color-coded heatmaps, making it immediately obvious to a non-technical user where our True Positives and False Negatives lie."</a:t>
            </a:r>
          </a:p>
          <a:p>
            <a:r>
              <a:rPr lang="en-US" b="1" dirty="0"/>
              <a:t>5. </a:t>
            </a:r>
            <a:r>
              <a:rPr lang="en-US" b="1" dirty="0" err="1"/>
              <a:t>Joblib</a:t>
            </a:r>
            <a:endParaRPr lang="en-US" b="1" dirty="0"/>
          </a:p>
          <a:p>
            <a:r>
              <a:rPr lang="en-US" b="1" dirty="0"/>
              <a:t>What to say:</a:t>
            </a:r>
            <a:r>
              <a:rPr lang="en-US" dirty="0"/>
              <a:t> "</a:t>
            </a:r>
            <a:r>
              <a:rPr lang="en-US" dirty="0" err="1"/>
              <a:t>Joblib</a:t>
            </a:r>
            <a:r>
              <a:rPr lang="en-US" dirty="0"/>
              <a:t> is a serialization library, which is crucial for taking a model out of the lab and into the real world. Training the Random Forest takes significant computing power. Joblib allowed me to save that fully trained 'brain' as a file, so the sales dashboard can load it instantly without having to relearn the data every single time."</a:t>
            </a:r>
          </a:p>
          <a:p>
            <a:r>
              <a:rPr lang="en-US" b="1" dirty="0"/>
              <a:t>Viva Defense Answer:</a:t>
            </a:r>
            <a:endParaRPr lang="en-US" dirty="0"/>
          </a:p>
          <a:p>
            <a:r>
              <a:rPr lang="en-US" b="1" dirty="0"/>
              <a:t>Q: What happens if you don't use </a:t>
            </a:r>
            <a:r>
              <a:rPr lang="en-US" b="1" dirty="0" err="1"/>
              <a:t>Joblib</a:t>
            </a:r>
            <a:r>
              <a:rPr lang="en-US" b="1" dirty="0"/>
              <a:t> or a similar serialization tool?</a:t>
            </a:r>
            <a:endParaRPr lang="en-US" dirty="0"/>
          </a:p>
          <a:p>
            <a:r>
              <a:rPr lang="en-US" b="1" dirty="0"/>
              <a:t>A:</a:t>
            </a:r>
            <a:r>
              <a:rPr lang="en-US" dirty="0"/>
              <a:t> "Without serialization, the Decision Support System would have to re-read the entire 9,240-row CSV and re-train the Random Forest algorithm every time a sales rep opened the dashboard. Joblib compresses the trained model into a lightweight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pkl</a:t>
            </a:r>
            <a:r>
              <a:rPr lang="en-US" dirty="0"/>
              <a:t> file, dropping the scoring time down to milliseconds."</a:t>
            </a:r>
          </a:p>
          <a:p>
            <a:r>
              <a:rPr lang="en-US" b="1" dirty="0"/>
              <a:t>6. </a:t>
            </a:r>
            <a:r>
              <a:rPr lang="en-US" b="1" dirty="0" err="1"/>
              <a:t>IPyWidgets</a:t>
            </a:r>
            <a:endParaRPr lang="en-US" b="1" dirty="0"/>
          </a:p>
          <a:p>
            <a:r>
              <a:rPr lang="en-US" b="1" dirty="0"/>
              <a:t>What to say:</a:t>
            </a:r>
            <a:r>
              <a:rPr lang="en-US" dirty="0"/>
              <a:t> "</a:t>
            </a:r>
            <a:r>
              <a:rPr lang="en-US" dirty="0" err="1"/>
              <a:t>IPyWidgets</a:t>
            </a:r>
            <a:r>
              <a:rPr lang="en-US" dirty="0"/>
              <a:t> is the library I used to build the actual product—the interactive Decision Support System. It allowed me to create sliders, dropdown menus, and color-coded scorecards so that a sales rep with zero coding experience can easily input lead behaviors and get an instant business directive."</a:t>
            </a:r>
          </a:p>
          <a:p>
            <a:r>
              <a:rPr lang="en-US" b="1" dirty="0"/>
              <a:t>Viva Defense Answer:</a:t>
            </a:r>
            <a:endParaRPr lang="en-US" dirty="0"/>
          </a:p>
          <a:p>
            <a:r>
              <a:rPr lang="en-US" b="1" dirty="0"/>
              <a:t>Q: Why build a UI in Python instead of sending the data to a BI tool like Tableau?</a:t>
            </a:r>
            <a:endParaRPr lang="en-US" dirty="0"/>
          </a:p>
          <a:p>
            <a:r>
              <a:rPr lang="en-US" b="1" dirty="0"/>
              <a:t>A:</a:t>
            </a:r>
            <a:r>
              <a:rPr lang="en-US" dirty="0"/>
              <a:t> "BI tools are great for looking at past data, but our sales reps need </a:t>
            </a:r>
            <a:r>
              <a:rPr lang="en-US" i="1" dirty="0"/>
              <a:t>real-time predictive scoring</a:t>
            </a:r>
            <a:r>
              <a:rPr lang="en-US" dirty="0"/>
              <a:t> for new, incoming leads. </a:t>
            </a:r>
            <a:r>
              <a:rPr lang="en-US" dirty="0" err="1"/>
              <a:t>IPyWidgets</a:t>
            </a:r>
            <a:r>
              <a:rPr lang="en-US" dirty="0"/>
              <a:t> allows the user interface to talk directly to the underlying Python machine learning model instantly, creating an active tool rather than just a passive dashboard."</a:t>
            </a:r>
          </a:p>
          <a:p>
            <a:r>
              <a:rPr lang="en-US" b="1" dirty="0"/>
              <a:t>7. Standard Libraries (JSON, OS, Time, Datetime)</a:t>
            </a:r>
          </a:p>
          <a:p>
            <a:r>
              <a:rPr lang="en-US" b="1" dirty="0"/>
              <a:t>What to say:</a:t>
            </a:r>
            <a:r>
              <a:rPr lang="en-US" dirty="0"/>
              <a:t> "Finally, I used a few built-in Python libraries to handle the backend 'plumbing.' These libraries track the timestamps of when a lead was scored, save the session data to a JSON file so reps don't lose their work, and allow the system to export the day's Hot leads into a CSV file ready for CRM upload."</a:t>
            </a:r>
          </a:p>
          <a:p>
            <a:r>
              <a:rPr lang="en-US" b="1" dirty="0"/>
              <a:t>Viva Defense Answer:</a:t>
            </a:r>
            <a:endParaRPr lang="en-US" dirty="0"/>
          </a:p>
          <a:p>
            <a:r>
              <a:rPr lang="en-US" b="1" dirty="0"/>
              <a:t>Q: How is session data managed if the user closes the dashboard?</a:t>
            </a:r>
            <a:endParaRPr lang="en-US" dirty="0"/>
          </a:p>
          <a:p>
            <a:r>
              <a:rPr lang="en-US" b="1" dirty="0"/>
              <a:t>A:</a:t>
            </a:r>
            <a:r>
              <a:rPr lang="en-US" dirty="0"/>
              <a:t> "I used the </a:t>
            </a:r>
            <a:r>
              <a:rPr lang="en-US" sz="1200" kern="1200" dirty="0" err="1">
                <a:solidFill>
                  <a:schemeClr val="tx1"/>
                </a:solidFill>
                <a:latin typeface="+mn-lt"/>
                <a:ea typeface="+mn-ea"/>
                <a:cs typeface="+mn-cs"/>
              </a:rPr>
              <a:t>json</a:t>
            </a:r>
            <a:r>
              <a:rPr lang="en-US" dirty="0"/>
              <a:t> library to actively write every scored lead into a local </a:t>
            </a:r>
            <a:r>
              <a:rPr lang="en-US" sz="1200" kern="1200" dirty="0" err="1">
                <a:solidFill>
                  <a:schemeClr val="tx1"/>
                </a:solidFill>
                <a:latin typeface="+mn-lt"/>
                <a:ea typeface="+mn-ea"/>
                <a:cs typeface="+mn-cs"/>
              </a:rPr>
              <a:t>session_data.json</a:t>
            </a:r>
            <a:r>
              <a:rPr lang="en-US" dirty="0"/>
              <a:t> file. If the system closes, the data persists. When the rep clicks 'Export CRM CSV', the </a:t>
            </a:r>
            <a:r>
              <a:rPr lang="en-US" sz="1200" kern="1200" dirty="0" err="1">
                <a:solidFill>
                  <a:schemeClr val="tx1"/>
                </a:solidFill>
                <a:latin typeface="+mn-lt"/>
                <a:ea typeface="+mn-ea"/>
                <a:cs typeface="+mn-cs"/>
              </a:rPr>
              <a:t>os</a:t>
            </a:r>
            <a:r>
              <a:rPr lang="en-US"/>
              <a:t> and </a:t>
            </a:r>
            <a:r>
              <a:rPr lang="en-US" sz="1200" kern="1200">
                <a:solidFill>
                  <a:schemeClr val="tx1"/>
                </a:solidFill>
                <a:latin typeface="+mn-lt"/>
                <a:ea typeface="+mn-ea"/>
                <a:cs typeface="+mn-cs"/>
              </a:rPr>
              <a:t>time</a:t>
            </a:r>
            <a:r>
              <a:rPr lang="en-US"/>
              <a:t> libraries generate a time-stamped Excel-ready file containing all the saved leads from that JSON state."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112266"/>
          </a:solidFill>
          <a:ln w="12700">
            <a:solidFill>
              <a:srgbClr val="112266"/>
            </a:solidFill>
            <a:prstDash val="solid"/>
          </a:ln>
        </p:spPr>
        <p:txBody>
          <a:bodyPr/>
          <a:lstStyle/>
          <a:p>
            <a:endParaRPr lang="en-IN" dirty="0"/>
          </a:p>
        </p:txBody>
      </p:sp>
      <p:sp>
        <p:nvSpPr>
          <p:cNvPr id="3" name="Shape 1"/>
          <p:cNvSpPr/>
          <p:nvPr/>
        </p:nvSpPr>
        <p:spPr>
          <a:xfrm>
            <a:off x="4206240" y="0"/>
            <a:ext cx="73152" cy="5143500"/>
          </a:xfrm>
          <a:prstGeom prst="rect">
            <a:avLst/>
          </a:prstGeom>
          <a:solidFill>
            <a:srgbClr val="FF7A00"/>
          </a:solidFill>
          <a:ln w="12700">
            <a:solidFill>
              <a:srgbClr val="FF7A00"/>
            </a:solidFill>
            <a:prstDash val="solid"/>
          </a:ln>
        </p:spPr>
      </p:sp>
      <p:sp>
        <p:nvSpPr>
          <p:cNvPr id="4" name="Shape 2"/>
          <p:cNvSpPr/>
          <p:nvPr/>
        </p:nvSpPr>
        <p:spPr>
          <a:xfrm>
            <a:off x="4480560" y="274320"/>
            <a:ext cx="54864" cy="54864"/>
          </a:xfrm>
          <a:prstGeom prst="ellipse">
            <a:avLst/>
          </a:prstGeom>
          <a:solidFill>
            <a:srgbClr val="1A2B6B"/>
          </a:solidFill>
          <a:ln w="12700">
            <a:solidFill>
              <a:srgbClr val="1A2B6B"/>
            </a:solidFill>
            <a:prstDash val="solid"/>
          </a:ln>
        </p:spPr>
      </p:sp>
      <p:sp>
        <p:nvSpPr>
          <p:cNvPr id="5" name="Shape 3"/>
          <p:cNvSpPr/>
          <p:nvPr/>
        </p:nvSpPr>
        <p:spPr>
          <a:xfrm>
            <a:off x="5074920" y="274320"/>
            <a:ext cx="54864" cy="54864"/>
          </a:xfrm>
          <a:prstGeom prst="ellipse">
            <a:avLst/>
          </a:prstGeom>
          <a:solidFill>
            <a:srgbClr val="1A2B6B"/>
          </a:solidFill>
          <a:ln w="12700">
            <a:solidFill>
              <a:srgbClr val="1A2B6B"/>
            </a:solidFill>
            <a:prstDash val="solid"/>
          </a:ln>
        </p:spPr>
      </p:sp>
      <p:sp>
        <p:nvSpPr>
          <p:cNvPr id="6" name="Shape 4"/>
          <p:cNvSpPr/>
          <p:nvPr/>
        </p:nvSpPr>
        <p:spPr>
          <a:xfrm>
            <a:off x="5669280" y="274320"/>
            <a:ext cx="54864" cy="54864"/>
          </a:xfrm>
          <a:prstGeom prst="ellipse">
            <a:avLst/>
          </a:prstGeom>
          <a:solidFill>
            <a:srgbClr val="1A2B6B"/>
          </a:solidFill>
          <a:ln w="12700">
            <a:solidFill>
              <a:srgbClr val="1A2B6B"/>
            </a:solidFill>
            <a:prstDash val="solid"/>
          </a:ln>
        </p:spPr>
      </p:sp>
      <p:sp>
        <p:nvSpPr>
          <p:cNvPr id="7" name="Shape 5"/>
          <p:cNvSpPr/>
          <p:nvPr/>
        </p:nvSpPr>
        <p:spPr>
          <a:xfrm>
            <a:off x="6263640" y="274320"/>
            <a:ext cx="54864" cy="54864"/>
          </a:xfrm>
          <a:prstGeom prst="ellipse">
            <a:avLst/>
          </a:prstGeom>
          <a:solidFill>
            <a:srgbClr val="1A2B6B"/>
          </a:solidFill>
          <a:ln w="12700">
            <a:solidFill>
              <a:srgbClr val="1A2B6B"/>
            </a:solidFill>
            <a:prstDash val="solid"/>
          </a:ln>
        </p:spPr>
      </p:sp>
      <p:sp>
        <p:nvSpPr>
          <p:cNvPr id="8" name="Shape 6"/>
          <p:cNvSpPr/>
          <p:nvPr/>
        </p:nvSpPr>
        <p:spPr>
          <a:xfrm>
            <a:off x="6858000" y="274320"/>
            <a:ext cx="54864" cy="54864"/>
          </a:xfrm>
          <a:prstGeom prst="ellipse">
            <a:avLst/>
          </a:prstGeom>
          <a:solidFill>
            <a:srgbClr val="1A2B6B"/>
          </a:solidFill>
          <a:ln w="12700">
            <a:solidFill>
              <a:srgbClr val="1A2B6B"/>
            </a:solidFill>
            <a:prstDash val="solid"/>
          </a:ln>
        </p:spPr>
      </p:sp>
      <p:sp>
        <p:nvSpPr>
          <p:cNvPr id="9" name="Shape 7"/>
          <p:cNvSpPr/>
          <p:nvPr/>
        </p:nvSpPr>
        <p:spPr>
          <a:xfrm>
            <a:off x="7452360" y="274320"/>
            <a:ext cx="54864" cy="54864"/>
          </a:xfrm>
          <a:prstGeom prst="ellipse">
            <a:avLst/>
          </a:prstGeom>
          <a:solidFill>
            <a:srgbClr val="1A2B6B"/>
          </a:solidFill>
          <a:ln w="12700">
            <a:solidFill>
              <a:srgbClr val="1A2B6B"/>
            </a:solidFill>
            <a:prstDash val="solid"/>
          </a:ln>
        </p:spPr>
      </p:sp>
      <p:sp>
        <p:nvSpPr>
          <p:cNvPr id="10" name="Shape 8"/>
          <p:cNvSpPr/>
          <p:nvPr/>
        </p:nvSpPr>
        <p:spPr>
          <a:xfrm>
            <a:off x="8046720" y="274320"/>
            <a:ext cx="54864" cy="54864"/>
          </a:xfrm>
          <a:prstGeom prst="ellipse">
            <a:avLst/>
          </a:prstGeom>
          <a:solidFill>
            <a:srgbClr val="1A2B6B"/>
          </a:solidFill>
          <a:ln w="12700">
            <a:solidFill>
              <a:srgbClr val="1A2B6B"/>
            </a:solidFill>
            <a:prstDash val="solid"/>
          </a:ln>
        </p:spPr>
      </p:sp>
      <p:sp>
        <p:nvSpPr>
          <p:cNvPr id="11" name="Shape 9"/>
          <p:cNvSpPr/>
          <p:nvPr/>
        </p:nvSpPr>
        <p:spPr>
          <a:xfrm>
            <a:off x="8641080" y="274320"/>
            <a:ext cx="54864" cy="54864"/>
          </a:xfrm>
          <a:prstGeom prst="ellipse">
            <a:avLst/>
          </a:prstGeom>
          <a:solidFill>
            <a:srgbClr val="1A2B6B"/>
          </a:solidFill>
          <a:ln w="12700">
            <a:solidFill>
              <a:srgbClr val="1A2B6B"/>
            </a:solidFill>
            <a:prstDash val="solid"/>
          </a:ln>
        </p:spPr>
      </p:sp>
      <p:sp>
        <p:nvSpPr>
          <p:cNvPr id="12" name="Shape 10"/>
          <p:cNvSpPr/>
          <p:nvPr/>
        </p:nvSpPr>
        <p:spPr>
          <a:xfrm>
            <a:off x="4480560" y="1078992"/>
            <a:ext cx="54864" cy="54864"/>
          </a:xfrm>
          <a:prstGeom prst="ellipse">
            <a:avLst/>
          </a:prstGeom>
          <a:solidFill>
            <a:srgbClr val="1A2B6B"/>
          </a:solidFill>
          <a:ln w="12700">
            <a:solidFill>
              <a:srgbClr val="1A2B6B"/>
            </a:solidFill>
            <a:prstDash val="solid"/>
          </a:ln>
        </p:spPr>
      </p:sp>
      <p:sp>
        <p:nvSpPr>
          <p:cNvPr id="13" name="Shape 11"/>
          <p:cNvSpPr/>
          <p:nvPr/>
        </p:nvSpPr>
        <p:spPr>
          <a:xfrm>
            <a:off x="5074920" y="1078992"/>
            <a:ext cx="54864" cy="54864"/>
          </a:xfrm>
          <a:prstGeom prst="ellipse">
            <a:avLst/>
          </a:prstGeom>
          <a:solidFill>
            <a:srgbClr val="1A2B6B"/>
          </a:solidFill>
          <a:ln w="12700">
            <a:solidFill>
              <a:srgbClr val="1A2B6B"/>
            </a:solidFill>
            <a:prstDash val="solid"/>
          </a:ln>
        </p:spPr>
      </p:sp>
      <p:sp>
        <p:nvSpPr>
          <p:cNvPr id="14" name="Shape 12"/>
          <p:cNvSpPr/>
          <p:nvPr/>
        </p:nvSpPr>
        <p:spPr>
          <a:xfrm>
            <a:off x="5669280" y="1078992"/>
            <a:ext cx="54864" cy="54864"/>
          </a:xfrm>
          <a:prstGeom prst="ellipse">
            <a:avLst/>
          </a:prstGeom>
          <a:solidFill>
            <a:srgbClr val="1A2B6B"/>
          </a:solidFill>
          <a:ln w="12700">
            <a:solidFill>
              <a:srgbClr val="1A2B6B"/>
            </a:solidFill>
            <a:prstDash val="solid"/>
          </a:ln>
        </p:spPr>
      </p:sp>
      <p:sp>
        <p:nvSpPr>
          <p:cNvPr id="15" name="Shape 13"/>
          <p:cNvSpPr/>
          <p:nvPr/>
        </p:nvSpPr>
        <p:spPr>
          <a:xfrm>
            <a:off x="6263640" y="1078992"/>
            <a:ext cx="54864" cy="54864"/>
          </a:xfrm>
          <a:prstGeom prst="ellipse">
            <a:avLst/>
          </a:prstGeom>
          <a:solidFill>
            <a:srgbClr val="1A2B6B"/>
          </a:solidFill>
          <a:ln w="12700">
            <a:solidFill>
              <a:srgbClr val="1A2B6B"/>
            </a:solidFill>
            <a:prstDash val="solid"/>
          </a:ln>
        </p:spPr>
      </p:sp>
      <p:sp>
        <p:nvSpPr>
          <p:cNvPr id="16" name="Shape 14"/>
          <p:cNvSpPr/>
          <p:nvPr/>
        </p:nvSpPr>
        <p:spPr>
          <a:xfrm>
            <a:off x="6858000" y="1078992"/>
            <a:ext cx="54864" cy="54864"/>
          </a:xfrm>
          <a:prstGeom prst="ellipse">
            <a:avLst/>
          </a:prstGeom>
          <a:solidFill>
            <a:srgbClr val="1A2B6B"/>
          </a:solidFill>
          <a:ln w="12700">
            <a:solidFill>
              <a:srgbClr val="1A2B6B"/>
            </a:solidFill>
            <a:prstDash val="solid"/>
          </a:ln>
        </p:spPr>
      </p:sp>
      <p:sp>
        <p:nvSpPr>
          <p:cNvPr id="17" name="Shape 15"/>
          <p:cNvSpPr/>
          <p:nvPr/>
        </p:nvSpPr>
        <p:spPr>
          <a:xfrm>
            <a:off x="7452360" y="1078992"/>
            <a:ext cx="54864" cy="54864"/>
          </a:xfrm>
          <a:prstGeom prst="ellipse">
            <a:avLst/>
          </a:prstGeom>
          <a:solidFill>
            <a:srgbClr val="1A2B6B"/>
          </a:solidFill>
          <a:ln w="12700">
            <a:solidFill>
              <a:srgbClr val="1A2B6B"/>
            </a:solidFill>
            <a:prstDash val="solid"/>
          </a:ln>
        </p:spPr>
      </p:sp>
      <p:sp>
        <p:nvSpPr>
          <p:cNvPr id="18" name="Shape 16"/>
          <p:cNvSpPr/>
          <p:nvPr/>
        </p:nvSpPr>
        <p:spPr>
          <a:xfrm>
            <a:off x="8046720" y="1078992"/>
            <a:ext cx="54864" cy="54864"/>
          </a:xfrm>
          <a:prstGeom prst="ellipse">
            <a:avLst/>
          </a:prstGeom>
          <a:solidFill>
            <a:srgbClr val="1A2B6B"/>
          </a:solidFill>
          <a:ln w="12700">
            <a:solidFill>
              <a:srgbClr val="1A2B6B"/>
            </a:solidFill>
            <a:prstDash val="solid"/>
          </a:ln>
        </p:spPr>
      </p:sp>
      <p:sp>
        <p:nvSpPr>
          <p:cNvPr id="19" name="Shape 17"/>
          <p:cNvSpPr/>
          <p:nvPr/>
        </p:nvSpPr>
        <p:spPr>
          <a:xfrm>
            <a:off x="8641080" y="1078992"/>
            <a:ext cx="54864" cy="54864"/>
          </a:xfrm>
          <a:prstGeom prst="ellipse">
            <a:avLst/>
          </a:prstGeom>
          <a:solidFill>
            <a:srgbClr val="1A2B6B"/>
          </a:solidFill>
          <a:ln w="12700">
            <a:solidFill>
              <a:srgbClr val="1A2B6B"/>
            </a:solidFill>
            <a:prstDash val="solid"/>
          </a:ln>
        </p:spPr>
      </p:sp>
      <p:sp>
        <p:nvSpPr>
          <p:cNvPr id="20" name="Shape 18"/>
          <p:cNvSpPr/>
          <p:nvPr/>
        </p:nvSpPr>
        <p:spPr>
          <a:xfrm>
            <a:off x="4480560" y="1883664"/>
            <a:ext cx="54864" cy="54864"/>
          </a:xfrm>
          <a:prstGeom prst="ellipse">
            <a:avLst/>
          </a:prstGeom>
          <a:solidFill>
            <a:srgbClr val="1A2B6B"/>
          </a:solidFill>
          <a:ln w="12700">
            <a:solidFill>
              <a:srgbClr val="1A2B6B"/>
            </a:solidFill>
            <a:prstDash val="solid"/>
          </a:ln>
        </p:spPr>
      </p:sp>
      <p:sp>
        <p:nvSpPr>
          <p:cNvPr id="21" name="Shape 19"/>
          <p:cNvSpPr/>
          <p:nvPr/>
        </p:nvSpPr>
        <p:spPr>
          <a:xfrm>
            <a:off x="5074920" y="1883664"/>
            <a:ext cx="54864" cy="54864"/>
          </a:xfrm>
          <a:prstGeom prst="ellipse">
            <a:avLst/>
          </a:prstGeom>
          <a:solidFill>
            <a:srgbClr val="1A2B6B"/>
          </a:solidFill>
          <a:ln w="12700">
            <a:solidFill>
              <a:srgbClr val="1A2B6B"/>
            </a:solidFill>
            <a:prstDash val="solid"/>
          </a:ln>
        </p:spPr>
      </p:sp>
      <p:sp>
        <p:nvSpPr>
          <p:cNvPr id="22" name="Shape 20"/>
          <p:cNvSpPr/>
          <p:nvPr/>
        </p:nvSpPr>
        <p:spPr>
          <a:xfrm>
            <a:off x="5669280" y="1883664"/>
            <a:ext cx="54864" cy="54864"/>
          </a:xfrm>
          <a:prstGeom prst="ellipse">
            <a:avLst/>
          </a:prstGeom>
          <a:solidFill>
            <a:srgbClr val="1A2B6B"/>
          </a:solidFill>
          <a:ln w="12700">
            <a:solidFill>
              <a:srgbClr val="1A2B6B"/>
            </a:solidFill>
            <a:prstDash val="solid"/>
          </a:ln>
        </p:spPr>
      </p:sp>
      <p:sp>
        <p:nvSpPr>
          <p:cNvPr id="23" name="Shape 21"/>
          <p:cNvSpPr/>
          <p:nvPr/>
        </p:nvSpPr>
        <p:spPr>
          <a:xfrm>
            <a:off x="6263640" y="1883664"/>
            <a:ext cx="54864" cy="54864"/>
          </a:xfrm>
          <a:prstGeom prst="ellipse">
            <a:avLst/>
          </a:prstGeom>
          <a:solidFill>
            <a:srgbClr val="1A2B6B"/>
          </a:solidFill>
          <a:ln w="12700">
            <a:solidFill>
              <a:srgbClr val="1A2B6B"/>
            </a:solidFill>
            <a:prstDash val="solid"/>
          </a:ln>
        </p:spPr>
      </p:sp>
      <p:sp>
        <p:nvSpPr>
          <p:cNvPr id="24" name="Shape 22"/>
          <p:cNvSpPr/>
          <p:nvPr/>
        </p:nvSpPr>
        <p:spPr>
          <a:xfrm>
            <a:off x="6858000" y="1883664"/>
            <a:ext cx="54864" cy="54864"/>
          </a:xfrm>
          <a:prstGeom prst="ellipse">
            <a:avLst/>
          </a:prstGeom>
          <a:solidFill>
            <a:srgbClr val="1A2B6B"/>
          </a:solidFill>
          <a:ln w="12700">
            <a:solidFill>
              <a:srgbClr val="1A2B6B"/>
            </a:solidFill>
            <a:prstDash val="solid"/>
          </a:ln>
        </p:spPr>
      </p:sp>
      <p:sp>
        <p:nvSpPr>
          <p:cNvPr id="25" name="Shape 23"/>
          <p:cNvSpPr/>
          <p:nvPr/>
        </p:nvSpPr>
        <p:spPr>
          <a:xfrm>
            <a:off x="7452360" y="1883664"/>
            <a:ext cx="54864" cy="54864"/>
          </a:xfrm>
          <a:prstGeom prst="ellipse">
            <a:avLst/>
          </a:prstGeom>
          <a:solidFill>
            <a:srgbClr val="1A2B6B"/>
          </a:solidFill>
          <a:ln w="12700">
            <a:solidFill>
              <a:srgbClr val="1A2B6B"/>
            </a:solidFill>
            <a:prstDash val="solid"/>
          </a:ln>
        </p:spPr>
      </p:sp>
      <p:sp>
        <p:nvSpPr>
          <p:cNvPr id="26" name="Shape 24"/>
          <p:cNvSpPr/>
          <p:nvPr/>
        </p:nvSpPr>
        <p:spPr>
          <a:xfrm>
            <a:off x="8046720" y="1883664"/>
            <a:ext cx="54864" cy="54864"/>
          </a:xfrm>
          <a:prstGeom prst="ellipse">
            <a:avLst/>
          </a:prstGeom>
          <a:solidFill>
            <a:srgbClr val="1A2B6B"/>
          </a:solidFill>
          <a:ln w="12700">
            <a:solidFill>
              <a:srgbClr val="1A2B6B"/>
            </a:solidFill>
            <a:prstDash val="solid"/>
          </a:ln>
        </p:spPr>
      </p:sp>
      <p:sp>
        <p:nvSpPr>
          <p:cNvPr id="27" name="Shape 25"/>
          <p:cNvSpPr/>
          <p:nvPr/>
        </p:nvSpPr>
        <p:spPr>
          <a:xfrm>
            <a:off x="8641080" y="1883664"/>
            <a:ext cx="54864" cy="54864"/>
          </a:xfrm>
          <a:prstGeom prst="ellipse">
            <a:avLst/>
          </a:prstGeom>
          <a:solidFill>
            <a:srgbClr val="1A2B6B"/>
          </a:solidFill>
          <a:ln w="12700">
            <a:solidFill>
              <a:srgbClr val="1A2B6B"/>
            </a:solidFill>
            <a:prstDash val="solid"/>
          </a:ln>
        </p:spPr>
      </p:sp>
      <p:sp>
        <p:nvSpPr>
          <p:cNvPr id="28" name="Shape 26"/>
          <p:cNvSpPr/>
          <p:nvPr/>
        </p:nvSpPr>
        <p:spPr>
          <a:xfrm>
            <a:off x="4480560" y="2688336"/>
            <a:ext cx="54864" cy="54864"/>
          </a:xfrm>
          <a:prstGeom prst="ellipse">
            <a:avLst/>
          </a:prstGeom>
          <a:solidFill>
            <a:srgbClr val="1A2B6B"/>
          </a:solidFill>
          <a:ln w="12700">
            <a:solidFill>
              <a:srgbClr val="1A2B6B"/>
            </a:solidFill>
            <a:prstDash val="solid"/>
          </a:ln>
        </p:spPr>
      </p:sp>
      <p:sp>
        <p:nvSpPr>
          <p:cNvPr id="29" name="Shape 27"/>
          <p:cNvSpPr/>
          <p:nvPr/>
        </p:nvSpPr>
        <p:spPr>
          <a:xfrm>
            <a:off x="5074920" y="2688336"/>
            <a:ext cx="54864" cy="54864"/>
          </a:xfrm>
          <a:prstGeom prst="ellipse">
            <a:avLst/>
          </a:prstGeom>
          <a:solidFill>
            <a:srgbClr val="1A2B6B"/>
          </a:solidFill>
          <a:ln w="12700">
            <a:solidFill>
              <a:srgbClr val="1A2B6B"/>
            </a:solidFill>
            <a:prstDash val="solid"/>
          </a:ln>
        </p:spPr>
      </p:sp>
      <p:sp>
        <p:nvSpPr>
          <p:cNvPr id="30" name="Shape 28"/>
          <p:cNvSpPr/>
          <p:nvPr/>
        </p:nvSpPr>
        <p:spPr>
          <a:xfrm>
            <a:off x="5669280" y="2688336"/>
            <a:ext cx="54864" cy="54864"/>
          </a:xfrm>
          <a:prstGeom prst="ellipse">
            <a:avLst/>
          </a:prstGeom>
          <a:solidFill>
            <a:srgbClr val="1A2B6B"/>
          </a:solidFill>
          <a:ln w="12700">
            <a:solidFill>
              <a:srgbClr val="1A2B6B"/>
            </a:solidFill>
            <a:prstDash val="solid"/>
          </a:ln>
        </p:spPr>
      </p:sp>
      <p:sp>
        <p:nvSpPr>
          <p:cNvPr id="31" name="Shape 29"/>
          <p:cNvSpPr/>
          <p:nvPr/>
        </p:nvSpPr>
        <p:spPr>
          <a:xfrm>
            <a:off x="6263640" y="2688336"/>
            <a:ext cx="54864" cy="54864"/>
          </a:xfrm>
          <a:prstGeom prst="ellipse">
            <a:avLst/>
          </a:prstGeom>
          <a:solidFill>
            <a:srgbClr val="1A2B6B"/>
          </a:solidFill>
          <a:ln w="12700">
            <a:solidFill>
              <a:srgbClr val="1A2B6B"/>
            </a:solidFill>
            <a:prstDash val="solid"/>
          </a:ln>
        </p:spPr>
      </p:sp>
      <p:sp>
        <p:nvSpPr>
          <p:cNvPr id="32" name="Shape 30"/>
          <p:cNvSpPr/>
          <p:nvPr/>
        </p:nvSpPr>
        <p:spPr>
          <a:xfrm>
            <a:off x="6858000" y="2688336"/>
            <a:ext cx="54864" cy="54864"/>
          </a:xfrm>
          <a:prstGeom prst="ellipse">
            <a:avLst/>
          </a:prstGeom>
          <a:solidFill>
            <a:srgbClr val="1A2B6B"/>
          </a:solidFill>
          <a:ln w="12700">
            <a:solidFill>
              <a:srgbClr val="1A2B6B"/>
            </a:solidFill>
            <a:prstDash val="solid"/>
          </a:ln>
        </p:spPr>
      </p:sp>
      <p:sp>
        <p:nvSpPr>
          <p:cNvPr id="33" name="Shape 31"/>
          <p:cNvSpPr/>
          <p:nvPr/>
        </p:nvSpPr>
        <p:spPr>
          <a:xfrm>
            <a:off x="7452360" y="2688336"/>
            <a:ext cx="54864" cy="54864"/>
          </a:xfrm>
          <a:prstGeom prst="ellipse">
            <a:avLst/>
          </a:prstGeom>
          <a:solidFill>
            <a:srgbClr val="1A2B6B"/>
          </a:solidFill>
          <a:ln w="12700">
            <a:solidFill>
              <a:srgbClr val="1A2B6B"/>
            </a:solidFill>
            <a:prstDash val="solid"/>
          </a:ln>
        </p:spPr>
      </p:sp>
      <p:sp>
        <p:nvSpPr>
          <p:cNvPr id="34" name="Shape 32"/>
          <p:cNvSpPr/>
          <p:nvPr/>
        </p:nvSpPr>
        <p:spPr>
          <a:xfrm>
            <a:off x="8046720" y="2688336"/>
            <a:ext cx="54864" cy="54864"/>
          </a:xfrm>
          <a:prstGeom prst="ellipse">
            <a:avLst/>
          </a:prstGeom>
          <a:solidFill>
            <a:srgbClr val="1A2B6B"/>
          </a:solidFill>
          <a:ln w="12700">
            <a:solidFill>
              <a:srgbClr val="1A2B6B"/>
            </a:solidFill>
            <a:prstDash val="solid"/>
          </a:ln>
        </p:spPr>
      </p:sp>
      <p:sp>
        <p:nvSpPr>
          <p:cNvPr id="35" name="Shape 33"/>
          <p:cNvSpPr/>
          <p:nvPr/>
        </p:nvSpPr>
        <p:spPr>
          <a:xfrm>
            <a:off x="8641080" y="2688336"/>
            <a:ext cx="54864" cy="54864"/>
          </a:xfrm>
          <a:prstGeom prst="ellipse">
            <a:avLst/>
          </a:prstGeom>
          <a:solidFill>
            <a:srgbClr val="1A2B6B"/>
          </a:solidFill>
          <a:ln w="12700">
            <a:solidFill>
              <a:srgbClr val="1A2B6B"/>
            </a:solidFill>
            <a:prstDash val="solid"/>
          </a:ln>
        </p:spPr>
      </p:sp>
      <p:sp>
        <p:nvSpPr>
          <p:cNvPr id="36" name="Shape 34"/>
          <p:cNvSpPr/>
          <p:nvPr/>
        </p:nvSpPr>
        <p:spPr>
          <a:xfrm>
            <a:off x="4480560" y="3493008"/>
            <a:ext cx="54864" cy="54864"/>
          </a:xfrm>
          <a:prstGeom prst="ellipse">
            <a:avLst/>
          </a:prstGeom>
          <a:solidFill>
            <a:srgbClr val="1A2B6B"/>
          </a:solidFill>
          <a:ln w="12700">
            <a:solidFill>
              <a:srgbClr val="1A2B6B"/>
            </a:solidFill>
            <a:prstDash val="solid"/>
          </a:ln>
        </p:spPr>
      </p:sp>
      <p:sp>
        <p:nvSpPr>
          <p:cNvPr id="37" name="Shape 35"/>
          <p:cNvSpPr/>
          <p:nvPr/>
        </p:nvSpPr>
        <p:spPr>
          <a:xfrm>
            <a:off x="5074920" y="3493008"/>
            <a:ext cx="54864" cy="54864"/>
          </a:xfrm>
          <a:prstGeom prst="ellipse">
            <a:avLst/>
          </a:prstGeom>
          <a:solidFill>
            <a:srgbClr val="1A2B6B"/>
          </a:solidFill>
          <a:ln w="12700">
            <a:solidFill>
              <a:srgbClr val="1A2B6B"/>
            </a:solidFill>
            <a:prstDash val="solid"/>
          </a:ln>
        </p:spPr>
      </p:sp>
      <p:sp>
        <p:nvSpPr>
          <p:cNvPr id="38" name="Shape 36"/>
          <p:cNvSpPr/>
          <p:nvPr/>
        </p:nvSpPr>
        <p:spPr>
          <a:xfrm>
            <a:off x="5669280" y="3493008"/>
            <a:ext cx="54864" cy="54864"/>
          </a:xfrm>
          <a:prstGeom prst="ellipse">
            <a:avLst/>
          </a:prstGeom>
          <a:solidFill>
            <a:srgbClr val="1A2B6B"/>
          </a:solidFill>
          <a:ln w="12700">
            <a:solidFill>
              <a:srgbClr val="1A2B6B"/>
            </a:solidFill>
            <a:prstDash val="solid"/>
          </a:ln>
        </p:spPr>
      </p:sp>
      <p:sp>
        <p:nvSpPr>
          <p:cNvPr id="39" name="Shape 37"/>
          <p:cNvSpPr/>
          <p:nvPr/>
        </p:nvSpPr>
        <p:spPr>
          <a:xfrm>
            <a:off x="6263640" y="3493008"/>
            <a:ext cx="54864" cy="54864"/>
          </a:xfrm>
          <a:prstGeom prst="ellipse">
            <a:avLst/>
          </a:prstGeom>
          <a:solidFill>
            <a:srgbClr val="1A2B6B"/>
          </a:solidFill>
          <a:ln w="12700">
            <a:solidFill>
              <a:srgbClr val="1A2B6B"/>
            </a:solidFill>
            <a:prstDash val="solid"/>
          </a:ln>
        </p:spPr>
      </p:sp>
      <p:sp>
        <p:nvSpPr>
          <p:cNvPr id="40" name="Shape 38"/>
          <p:cNvSpPr/>
          <p:nvPr/>
        </p:nvSpPr>
        <p:spPr>
          <a:xfrm>
            <a:off x="6858000" y="3493008"/>
            <a:ext cx="54864" cy="54864"/>
          </a:xfrm>
          <a:prstGeom prst="ellipse">
            <a:avLst/>
          </a:prstGeom>
          <a:solidFill>
            <a:srgbClr val="1A2B6B"/>
          </a:solidFill>
          <a:ln w="12700">
            <a:solidFill>
              <a:srgbClr val="1A2B6B"/>
            </a:solidFill>
            <a:prstDash val="solid"/>
          </a:ln>
        </p:spPr>
      </p:sp>
      <p:sp>
        <p:nvSpPr>
          <p:cNvPr id="41" name="Shape 39"/>
          <p:cNvSpPr/>
          <p:nvPr/>
        </p:nvSpPr>
        <p:spPr>
          <a:xfrm>
            <a:off x="7452360" y="3493008"/>
            <a:ext cx="54864" cy="54864"/>
          </a:xfrm>
          <a:prstGeom prst="ellipse">
            <a:avLst/>
          </a:prstGeom>
          <a:solidFill>
            <a:srgbClr val="1A2B6B"/>
          </a:solidFill>
          <a:ln w="12700">
            <a:solidFill>
              <a:srgbClr val="1A2B6B"/>
            </a:solidFill>
            <a:prstDash val="solid"/>
          </a:ln>
        </p:spPr>
      </p:sp>
      <p:sp>
        <p:nvSpPr>
          <p:cNvPr id="42" name="Shape 40"/>
          <p:cNvSpPr/>
          <p:nvPr/>
        </p:nvSpPr>
        <p:spPr>
          <a:xfrm>
            <a:off x="8046720" y="3493008"/>
            <a:ext cx="54864" cy="54864"/>
          </a:xfrm>
          <a:prstGeom prst="ellipse">
            <a:avLst/>
          </a:prstGeom>
          <a:solidFill>
            <a:srgbClr val="1A2B6B"/>
          </a:solidFill>
          <a:ln w="12700">
            <a:solidFill>
              <a:srgbClr val="1A2B6B"/>
            </a:solidFill>
            <a:prstDash val="solid"/>
          </a:ln>
        </p:spPr>
      </p:sp>
      <p:sp>
        <p:nvSpPr>
          <p:cNvPr id="43" name="Shape 41"/>
          <p:cNvSpPr/>
          <p:nvPr/>
        </p:nvSpPr>
        <p:spPr>
          <a:xfrm>
            <a:off x="8641080" y="3493008"/>
            <a:ext cx="54864" cy="54864"/>
          </a:xfrm>
          <a:prstGeom prst="ellipse">
            <a:avLst/>
          </a:prstGeom>
          <a:solidFill>
            <a:srgbClr val="1A2B6B"/>
          </a:solidFill>
          <a:ln w="12700">
            <a:solidFill>
              <a:srgbClr val="1A2B6B"/>
            </a:solidFill>
            <a:prstDash val="solid"/>
          </a:ln>
        </p:spPr>
      </p:sp>
      <p:sp>
        <p:nvSpPr>
          <p:cNvPr id="44" name="Shape 42"/>
          <p:cNvSpPr/>
          <p:nvPr/>
        </p:nvSpPr>
        <p:spPr>
          <a:xfrm>
            <a:off x="4480560" y="4297680"/>
            <a:ext cx="54864" cy="54864"/>
          </a:xfrm>
          <a:prstGeom prst="ellipse">
            <a:avLst/>
          </a:prstGeom>
          <a:solidFill>
            <a:srgbClr val="1A2B6B"/>
          </a:solidFill>
          <a:ln w="12700">
            <a:solidFill>
              <a:srgbClr val="1A2B6B"/>
            </a:solidFill>
            <a:prstDash val="solid"/>
          </a:ln>
        </p:spPr>
      </p:sp>
      <p:sp>
        <p:nvSpPr>
          <p:cNvPr id="45" name="Shape 43"/>
          <p:cNvSpPr/>
          <p:nvPr/>
        </p:nvSpPr>
        <p:spPr>
          <a:xfrm>
            <a:off x="5074920" y="4297680"/>
            <a:ext cx="54864" cy="54864"/>
          </a:xfrm>
          <a:prstGeom prst="ellipse">
            <a:avLst/>
          </a:prstGeom>
          <a:solidFill>
            <a:srgbClr val="1A2B6B"/>
          </a:solidFill>
          <a:ln w="12700">
            <a:solidFill>
              <a:srgbClr val="1A2B6B"/>
            </a:solidFill>
            <a:prstDash val="solid"/>
          </a:ln>
        </p:spPr>
      </p:sp>
      <p:sp>
        <p:nvSpPr>
          <p:cNvPr id="46" name="Shape 44"/>
          <p:cNvSpPr/>
          <p:nvPr/>
        </p:nvSpPr>
        <p:spPr>
          <a:xfrm>
            <a:off x="5669280" y="4297680"/>
            <a:ext cx="54864" cy="54864"/>
          </a:xfrm>
          <a:prstGeom prst="ellipse">
            <a:avLst/>
          </a:prstGeom>
          <a:solidFill>
            <a:srgbClr val="1A2B6B"/>
          </a:solidFill>
          <a:ln w="12700">
            <a:solidFill>
              <a:srgbClr val="1A2B6B"/>
            </a:solidFill>
            <a:prstDash val="solid"/>
          </a:ln>
        </p:spPr>
      </p:sp>
      <p:sp>
        <p:nvSpPr>
          <p:cNvPr id="47" name="Shape 45"/>
          <p:cNvSpPr/>
          <p:nvPr/>
        </p:nvSpPr>
        <p:spPr>
          <a:xfrm>
            <a:off x="6263640" y="4297680"/>
            <a:ext cx="54864" cy="54864"/>
          </a:xfrm>
          <a:prstGeom prst="ellipse">
            <a:avLst/>
          </a:prstGeom>
          <a:solidFill>
            <a:srgbClr val="1A2B6B"/>
          </a:solidFill>
          <a:ln w="12700">
            <a:solidFill>
              <a:srgbClr val="1A2B6B"/>
            </a:solidFill>
            <a:prstDash val="solid"/>
          </a:ln>
        </p:spPr>
      </p:sp>
      <p:sp>
        <p:nvSpPr>
          <p:cNvPr id="48" name="Shape 46"/>
          <p:cNvSpPr/>
          <p:nvPr/>
        </p:nvSpPr>
        <p:spPr>
          <a:xfrm>
            <a:off x="6858000" y="4297680"/>
            <a:ext cx="54864" cy="54864"/>
          </a:xfrm>
          <a:prstGeom prst="ellipse">
            <a:avLst/>
          </a:prstGeom>
          <a:solidFill>
            <a:srgbClr val="1A2B6B"/>
          </a:solidFill>
          <a:ln w="12700">
            <a:solidFill>
              <a:srgbClr val="1A2B6B"/>
            </a:solidFill>
            <a:prstDash val="solid"/>
          </a:ln>
        </p:spPr>
      </p:sp>
      <p:sp>
        <p:nvSpPr>
          <p:cNvPr id="49" name="Shape 47"/>
          <p:cNvSpPr/>
          <p:nvPr/>
        </p:nvSpPr>
        <p:spPr>
          <a:xfrm>
            <a:off x="7452360" y="4297680"/>
            <a:ext cx="54864" cy="54864"/>
          </a:xfrm>
          <a:prstGeom prst="ellipse">
            <a:avLst/>
          </a:prstGeom>
          <a:solidFill>
            <a:srgbClr val="1A2B6B"/>
          </a:solidFill>
          <a:ln w="12700">
            <a:solidFill>
              <a:srgbClr val="1A2B6B"/>
            </a:solidFill>
            <a:prstDash val="solid"/>
          </a:ln>
        </p:spPr>
      </p:sp>
      <p:sp>
        <p:nvSpPr>
          <p:cNvPr id="50" name="Shape 48"/>
          <p:cNvSpPr/>
          <p:nvPr/>
        </p:nvSpPr>
        <p:spPr>
          <a:xfrm>
            <a:off x="8046720" y="4297680"/>
            <a:ext cx="54864" cy="54864"/>
          </a:xfrm>
          <a:prstGeom prst="ellipse">
            <a:avLst/>
          </a:prstGeom>
          <a:solidFill>
            <a:srgbClr val="1A2B6B"/>
          </a:solidFill>
          <a:ln w="12700">
            <a:solidFill>
              <a:srgbClr val="1A2B6B"/>
            </a:solidFill>
            <a:prstDash val="solid"/>
          </a:ln>
        </p:spPr>
      </p:sp>
      <p:sp>
        <p:nvSpPr>
          <p:cNvPr id="51" name="Shape 49"/>
          <p:cNvSpPr/>
          <p:nvPr/>
        </p:nvSpPr>
        <p:spPr>
          <a:xfrm>
            <a:off x="8641080" y="4297680"/>
            <a:ext cx="54864" cy="54864"/>
          </a:xfrm>
          <a:prstGeom prst="ellipse">
            <a:avLst/>
          </a:prstGeom>
          <a:solidFill>
            <a:srgbClr val="1A2B6B"/>
          </a:solidFill>
          <a:ln w="12700">
            <a:solidFill>
              <a:srgbClr val="1A2B6B"/>
            </a:solidFill>
            <a:prstDash val="solid"/>
          </a:ln>
        </p:spPr>
      </p:sp>
      <p:sp>
        <p:nvSpPr>
          <p:cNvPr id="52" name="Text 50"/>
          <p:cNvSpPr/>
          <p:nvPr/>
        </p:nvSpPr>
        <p:spPr>
          <a:xfrm>
            <a:off x="365760" y="502920"/>
            <a:ext cx="3474720" cy="256032"/>
          </a:xfrm>
          <a:prstGeom prst="rect">
            <a:avLst/>
          </a:prstGeom>
          <a:noFill/>
          <a:ln/>
        </p:spPr>
        <p:txBody>
          <a:bodyPr wrap="square" rtlCol="0" anchor="ctr"/>
          <a:lstStyle/>
          <a:p>
            <a:pPr marL="0" indent="0">
              <a:buNone/>
            </a:pPr>
            <a:r>
              <a:rPr lang="en-US" sz="750" b="1" kern="0" spc="300" dirty="0">
                <a:solidFill>
                  <a:srgbClr val="FF7A00"/>
                </a:solidFill>
              </a:rPr>
              <a:t>MBA · BUSINESS ANALYTICS</a:t>
            </a:r>
            <a:endParaRPr lang="en-US" sz="750" dirty="0"/>
          </a:p>
        </p:txBody>
      </p:sp>
      <p:sp>
        <p:nvSpPr>
          <p:cNvPr id="53" name="Text 51"/>
          <p:cNvSpPr/>
          <p:nvPr/>
        </p:nvSpPr>
        <p:spPr>
          <a:xfrm>
            <a:off x="365760" y="841248"/>
            <a:ext cx="3474720" cy="1371600"/>
          </a:xfrm>
          <a:prstGeom prst="rect">
            <a:avLst/>
          </a:prstGeom>
          <a:noFill/>
          <a:ln/>
        </p:spPr>
        <p:txBody>
          <a:bodyPr wrap="square" rtlCol="0" anchor="ctr"/>
          <a:lstStyle/>
          <a:p>
            <a:pPr marL="0" indent="0">
              <a:lnSpc>
                <a:spcPct val="120000"/>
              </a:lnSpc>
              <a:buNone/>
            </a:pPr>
            <a:r>
              <a:rPr lang="en-US" sz="2200" b="1" dirty="0">
                <a:solidFill>
                  <a:srgbClr val="FFFFFF"/>
                </a:solidFill>
                <a:latin typeface="Calibri" pitchFamily="34" charset="0"/>
                <a:ea typeface="Calibri" pitchFamily="34" charset="-122"/>
                <a:cs typeface="Calibri" pitchFamily="34" charset="-120"/>
              </a:rPr>
              <a:t>Predictive Lead Scoring &amp;</a:t>
            </a:r>
            <a:endParaRPr lang="en-US" sz="2200" dirty="0"/>
          </a:p>
          <a:p>
            <a:pPr marL="0" indent="0">
              <a:lnSpc>
                <a:spcPct val="120000"/>
              </a:lnSpc>
              <a:buNone/>
            </a:pPr>
            <a:r>
              <a:rPr lang="en-US" sz="2200" b="1" dirty="0">
                <a:solidFill>
                  <a:srgbClr val="FFFFFF"/>
                </a:solidFill>
                <a:latin typeface="Calibri" pitchFamily="34" charset="0"/>
                <a:ea typeface="Calibri" pitchFamily="34" charset="-122"/>
                <a:cs typeface="Calibri" pitchFamily="34" charset="-120"/>
              </a:rPr>
              <a:t>Decision Support System</a:t>
            </a:r>
            <a:endParaRPr lang="en-US" sz="2200" dirty="0"/>
          </a:p>
        </p:txBody>
      </p:sp>
      <p:sp>
        <p:nvSpPr>
          <p:cNvPr id="54" name="Shape 52"/>
          <p:cNvSpPr/>
          <p:nvPr/>
        </p:nvSpPr>
        <p:spPr>
          <a:xfrm>
            <a:off x="365760" y="2304288"/>
            <a:ext cx="1280160" cy="45720"/>
          </a:xfrm>
          <a:prstGeom prst="rect">
            <a:avLst/>
          </a:prstGeom>
          <a:solidFill>
            <a:srgbClr val="FF7A00"/>
          </a:solidFill>
          <a:ln w="12700">
            <a:solidFill>
              <a:srgbClr val="FF7A00"/>
            </a:solidFill>
            <a:prstDash val="solid"/>
          </a:ln>
        </p:spPr>
      </p:sp>
      <p:sp>
        <p:nvSpPr>
          <p:cNvPr id="55" name="Text 53"/>
          <p:cNvSpPr/>
          <p:nvPr/>
        </p:nvSpPr>
        <p:spPr>
          <a:xfrm>
            <a:off x="365760" y="2441448"/>
            <a:ext cx="3474720" cy="594360"/>
          </a:xfrm>
          <a:prstGeom prst="rect">
            <a:avLst/>
          </a:prstGeom>
          <a:noFill/>
          <a:ln/>
        </p:spPr>
        <p:txBody>
          <a:bodyPr wrap="square" rtlCol="0" anchor="ctr"/>
          <a:lstStyle/>
          <a:p>
            <a:pPr marL="0" indent="0">
              <a:buNone/>
            </a:pPr>
            <a:r>
              <a:rPr lang="en-US" sz="1300" i="1" dirty="0">
                <a:solidFill>
                  <a:srgbClr val="A0EAF5"/>
                </a:solidFill>
              </a:rPr>
              <a:t>B2C Analytics Pipeline</a:t>
            </a:r>
            <a:endParaRPr lang="en-US" sz="1300" dirty="0"/>
          </a:p>
          <a:p>
            <a:pPr marL="0" indent="0">
              <a:buNone/>
            </a:pPr>
            <a:r>
              <a:rPr lang="en-US" sz="1300" i="1" dirty="0">
                <a:solidFill>
                  <a:srgbClr val="A0EAF5"/>
                </a:solidFill>
              </a:rPr>
              <a:t>Using Machine Learning</a:t>
            </a:r>
            <a:endParaRPr lang="en-US" sz="1300" dirty="0"/>
          </a:p>
        </p:txBody>
      </p:sp>
      <p:sp>
        <p:nvSpPr>
          <p:cNvPr id="56" name="Text 54"/>
          <p:cNvSpPr/>
          <p:nvPr/>
        </p:nvSpPr>
        <p:spPr>
          <a:xfrm>
            <a:off x="365760" y="3218688"/>
            <a:ext cx="1371600" cy="256032"/>
          </a:xfrm>
          <a:prstGeom prst="rect">
            <a:avLst/>
          </a:prstGeom>
          <a:noFill/>
          <a:ln/>
        </p:spPr>
        <p:txBody>
          <a:bodyPr wrap="square" rtlCol="0" anchor="ctr"/>
          <a:lstStyle/>
          <a:p>
            <a:pPr marL="0" indent="0">
              <a:buNone/>
            </a:pPr>
            <a:r>
              <a:rPr lang="en-US" sz="800" dirty="0">
                <a:solidFill>
                  <a:srgbClr val="8899BB"/>
                </a:solidFill>
              </a:rPr>
              <a:t>Presented By</a:t>
            </a:r>
            <a:endParaRPr lang="en-US" sz="800" dirty="0"/>
          </a:p>
        </p:txBody>
      </p:sp>
      <p:sp>
        <p:nvSpPr>
          <p:cNvPr id="57" name="Text 55"/>
          <p:cNvSpPr/>
          <p:nvPr/>
        </p:nvSpPr>
        <p:spPr>
          <a:xfrm>
            <a:off x="1737360" y="3218688"/>
            <a:ext cx="2194560" cy="256032"/>
          </a:xfrm>
          <a:prstGeom prst="rect">
            <a:avLst/>
          </a:prstGeom>
          <a:noFill/>
          <a:ln/>
        </p:spPr>
        <p:txBody>
          <a:bodyPr wrap="square" rtlCol="0" anchor="ctr"/>
          <a:lstStyle/>
          <a:p>
            <a:pPr marL="0" indent="0">
              <a:buNone/>
            </a:pPr>
            <a:r>
              <a:rPr lang="en-US" sz="950" b="1" dirty="0">
                <a:solidFill>
                  <a:srgbClr val="FFFFFF"/>
                </a:solidFill>
              </a:rPr>
              <a:t>Alex Abraham -25121007</a:t>
            </a:r>
            <a:endParaRPr lang="en-US" sz="950" dirty="0"/>
          </a:p>
        </p:txBody>
      </p:sp>
      <p:sp>
        <p:nvSpPr>
          <p:cNvPr id="58" name="Text 56"/>
          <p:cNvSpPr/>
          <p:nvPr/>
        </p:nvSpPr>
        <p:spPr>
          <a:xfrm>
            <a:off x="365760" y="3703320"/>
            <a:ext cx="1371600" cy="256032"/>
          </a:xfrm>
          <a:prstGeom prst="rect">
            <a:avLst/>
          </a:prstGeom>
          <a:noFill/>
          <a:ln/>
        </p:spPr>
        <p:txBody>
          <a:bodyPr wrap="square" rtlCol="0" anchor="ctr"/>
          <a:lstStyle/>
          <a:p>
            <a:pPr marL="0" indent="0">
              <a:buNone/>
            </a:pPr>
            <a:r>
              <a:rPr lang="en-US" sz="800" dirty="0">
                <a:solidFill>
                  <a:srgbClr val="8899BB"/>
                </a:solidFill>
              </a:rPr>
              <a:t>Program</a:t>
            </a:r>
            <a:endParaRPr lang="en-US" sz="800" dirty="0"/>
          </a:p>
        </p:txBody>
      </p:sp>
      <p:sp>
        <p:nvSpPr>
          <p:cNvPr id="59" name="Text 57"/>
          <p:cNvSpPr/>
          <p:nvPr/>
        </p:nvSpPr>
        <p:spPr>
          <a:xfrm>
            <a:off x="1737360" y="3703320"/>
            <a:ext cx="2194560" cy="256032"/>
          </a:xfrm>
          <a:prstGeom prst="rect">
            <a:avLst/>
          </a:prstGeom>
          <a:noFill/>
          <a:ln/>
        </p:spPr>
        <p:txBody>
          <a:bodyPr wrap="square" rtlCol="0" anchor="ctr"/>
          <a:lstStyle/>
          <a:p>
            <a:pPr marL="0" indent="0">
              <a:buNone/>
            </a:pPr>
            <a:r>
              <a:rPr lang="en-US" sz="950" b="1" dirty="0">
                <a:solidFill>
                  <a:srgbClr val="FFFFFF"/>
                </a:solidFill>
              </a:rPr>
              <a:t>MBA – Business Analytics</a:t>
            </a:r>
            <a:endParaRPr lang="en-US" sz="950" dirty="0"/>
          </a:p>
        </p:txBody>
      </p:sp>
      <p:sp>
        <p:nvSpPr>
          <p:cNvPr id="62" name="Text 60"/>
          <p:cNvSpPr/>
          <p:nvPr/>
        </p:nvSpPr>
        <p:spPr>
          <a:xfrm>
            <a:off x="4480560" y="914400"/>
            <a:ext cx="4297680" cy="1097280"/>
          </a:xfrm>
          <a:prstGeom prst="rect">
            <a:avLst/>
          </a:prstGeom>
          <a:noFill/>
          <a:ln/>
        </p:spPr>
        <p:txBody>
          <a:bodyPr wrap="square" rtlCol="0" anchor="ctr"/>
          <a:lstStyle/>
          <a:p>
            <a:pPr marL="0" indent="0" algn="ctr">
              <a:buNone/>
            </a:pPr>
            <a:r>
              <a:rPr lang="en-US" sz="8000" b="1" dirty="0">
                <a:solidFill>
                  <a:srgbClr val="FF7A00"/>
                </a:solidFill>
                <a:latin typeface="Calibri" pitchFamily="34" charset="0"/>
                <a:ea typeface="Calibri" pitchFamily="34" charset="-122"/>
                <a:cs typeface="Calibri" pitchFamily="34" charset="-120"/>
              </a:rPr>
              <a:t>0.884</a:t>
            </a:r>
            <a:endParaRPr lang="en-US" sz="8000" dirty="0"/>
          </a:p>
        </p:txBody>
      </p:sp>
      <p:sp>
        <p:nvSpPr>
          <p:cNvPr id="63" name="Text 61"/>
          <p:cNvSpPr/>
          <p:nvPr/>
        </p:nvSpPr>
        <p:spPr>
          <a:xfrm>
            <a:off x="4480560" y="2011680"/>
            <a:ext cx="4297680" cy="274320"/>
          </a:xfrm>
          <a:prstGeom prst="rect">
            <a:avLst/>
          </a:prstGeom>
          <a:noFill/>
          <a:ln/>
        </p:spPr>
        <p:txBody>
          <a:bodyPr wrap="square" rtlCol="0" anchor="ctr"/>
          <a:lstStyle/>
          <a:p>
            <a:pPr marL="0" indent="0" algn="ctr">
              <a:buNone/>
            </a:pPr>
            <a:r>
              <a:rPr lang="en-US" sz="1100" kern="0" spc="300" dirty="0">
                <a:solidFill>
                  <a:srgbClr val="A0EAF5"/>
                </a:solidFill>
              </a:rPr>
              <a:t>ROC-AUC SCORE</a:t>
            </a:r>
            <a:endParaRPr lang="en-US" sz="1100" dirty="0"/>
          </a:p>
        </p:txBody>
      </p:sp>
      <p:sp>
        <p:nvSpPr>
          <p:cNvPr id="64" name="Shape 62"/>
          <p:cNvSpPr/>
          <p:nvPr/>
        </p:nvSpPr>
        <p:spPr>
          <a:xfrm>
            <a:off x="4937760" y="2423160"/>
            <a:ext cx="3291840" cy="4572"/>
          </a:xfrm>
          <a:prstGeom prst="rect">
            <a:avLst/>
          </a:prstGeom>
          <a:solidFill>
            <a:srgbClr val="4A5578"/>
          </a:solidFill>
          <a:ln w="12700">
            <a:solidFill>
              <a:srgbClr val="4A5578"/>
            </a:solidFill>
            <a:prstDash val="solid"/>
          </a:ln>
        </p:spPr>
      </p:sp>
      <p:sp>
        <p:nvSpPr>
          <p:cNvPr id="65" name="Text 63"/>
          <p:cNvSpPr/>
          <p:nvPr/>
        </p:nvSpPr>
        <p:spPr>
          <a:xfrm>
            <a:off x="4480560" y="2606040"/>
            <a:ext cx="4297680" cy="54864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38.5%  →  70%+</a:t>
            </a:r>
            <a:endParaRPr lang="en-US" sz="2400" dirty="0"/>
          </a:p>
        </p:txBody>
      </p:sp>
      <p:sp>
        <p:nvSpPr>
          <p:cNvPr id="66" name="Text 64"/>
          <p:cNvSpPr/>
          <p:nvPr/>
        </p:nvSpPr>
        <p:spPr>
          <a:xfrm>
            <a:off x="4480560" y="3182112"/>
            <a:ext cx="4297680" cy="256032"/>
          </a:xfrm>
          <a:prstGeom prst="rect">
            <a:avLst/>
          </a:prstGeom>
          <a:noFill/>
          <a:ln/>
        </p:spPr>
        <p:txBody>
          <a:bodyPr wrap="square" rtlCol="0" anchor="ctr"/>
          <a:lstStyle/>
          <a:p>
            <a:pPr marL="0" indent="0" algn="ctr">
              <a:buNone/>
            </a:pPr>
            <a:r>
              <a:rPr lang="en-US" sz="900" kern="0" spc="200" dirty="0">
                <a:solidFill>
                  <a:srgbClr val="8899BB"/>
                </a:solidFill>
              </a:rPr>
              <a:t>PROJECTED CONVERSION LIFT</a:t>
            </a:r>
            <a:endParaRPr lang="en-US" sz="900" dirty="0"/>
          </a:p>
        </p:txBody>
      </p:sp>
      <p:sp>
        <p:nvSpPr>
          <p:cNvPr id="67" name="Text 65"/>
          <p:cNvSpPr/>
          <p:nvPr/>
        </p:nvSpPr>
        <p:spPr>
          <a:xfrm>
            <a:off x="4480560" y="4709160"/>
            <a:ext cx="4297680" cy="256032"/>
          </a:xfrm>
          <a:prstGeom prst="rect">
            <a:avLst/>
          </a:prstGeom>
          <a:noFill/>
          <a:ln/>
        </p:spPr>
        <p:txBody>
          <a:bodyPr wrap="square" rtlCol="0" anchor="ctr"/>
          <a:lstStyle/>
          <a:p>
            <a:pPr marL="0" indent="0" algn="ctr">
              <a:buNone/>
            </a:pPr>
            <a:r>
              <a:rPr lang="en-US" sz="900" i="1" dirty="0">
                <a:solidFill>
                  <a:srgbClr val="4A5578"/>
                </a:solidFill>
              </a:rPr>
              <a:t>Champion Model: Random Forest Classifier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PROBLEM STATEMENT</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Business Challenge</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2 / 11</a:t>
            </a:r>
            <a:endParaRPr lang="en-US" sz="800" dirty="0"/>
          </a:p>
        </p:txBody>
      </p:sp>
      <p:sp>
        <p:nvSpPr>
          <p:cNvPr id="6" name="Shape 4"/>
          <p:cNvSpPr/>
          <p:nvPr/>
        </p:nvSpPr>
        <p:spPr>
          <a:xfrm>
            <a:off x="411480" y="1234440"/>
            <a:ext cx="2514600" cy="109728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7" name="Shape 5"/>
          <p:cNvSpPr/>
          <p:nvPr/>
        </p:nvSpPr>
        <p:spPr>
          <a:xfrm>
            <a:off x="411480" y="1234440"/>
            <a:ext cx="64008" cy="1097280"/>
          </a:xfrm>
          <a:prstGeom prst="rect">
            <a:avLst/>
          </a:prstGeom>
          <a:solidFill>
            <a:srgbClr val="FF7A00"/>
          </a:solidFill>
          <a:ln w="12700">
            <a:solidFill>
              <a:srgbClr val="FF7A00"/>
            </a:solidFill>
            <a:prstDash val="solid"/>
          </a:ln>
        </p:spPr>
      </p:sp>
      <p:sp>
        <p:nvSpPr>
          <p:cNvPr id="8" name="Text 6"/>
          <p:cNvSpPr/>
          <p:nvPr/>
        </p:nvSpPr>
        <p:spPr>
          <a:xfrm>
            <a:off x="594360" y="1435608"/>
            <a:ext cx="2240280" cy="731520"/>
          </a:xfrm>
          <a:prstGeom prst="rect">
            <a:avLst/>
          </a:prstGeom>
          <a:noFill/>
          <a:ln/>
        </p:spPr>
        <p:txBody>
          <a:bodyPr wrap="square" rtlCol="0" anchor="ctr"/>
          <a:lstStyle/>
          <a:p>
            <a:pPr marL="0" indent="0">
              <a:buNone/>
            </a:pPr>
            <a:r>
              <a:rPr lang="en-US" sz="1100" dirty="0">
                <a:solidFill>
                  <a:srgbClr val="E8EDF7"/>
                </a:solidFill>
                <a:latin typeface="Calibri" pitchFamily="34" charset="0"/>
                <a:ea typeface="Calibri" pitchFamily="34" charset="-122"/>
                <a:cs typeface="Calibri" pitchFamily="34" charset="-120"/>
              </a:rPr>
              <a:t>Organizations generate thousands of leads daily with no systematic qualification.</a:t>
            </a:r>
            <a:endParaRPr lang="en-US" sz="1100" dirty="0"/>
          </a:p>
        </p:txBody>
      </p:sp>
      <p:sp>
        <p:nvSpPr>
          <p:cNvPr id="9" name="Shape 7"/>
          <p:cNvSpPr/>
          <p:nvPr/>
        </p:nvSpPr>
        <p:spPr>
          <a:xfrm>
            <a:off x="3108960" y="1234440"/>
            <a:ext cx="2514600" cy="109728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0" name="Shape 8"/>
          <p:cNvSpPr/>
          <p:nvPr/>
        </p:nvSpPr>
        <p:spPr>
          <a:xfrm>
            <a:off x="3108960" y="1234440"/>
            <a:ext cx="64008" cy="1097280"/>
          </a:xfrm>
          <a:prstGeom prst="rect">
            <a:avLst/>
          </a:prstGeom>
          <a:solidFill>
            <a:srgbClr val="FF7A00"/>
          </a:solidFill>
          <a:ln w="12700">
            <a:solidFill>
              <a:srgbClr val="FF7A00"/>
            </a:solidFill>
            <a:prstDash val="solid"/>
          </a:ln>
        </p:spPr>
      </p:sp>
      <p:sp>
        <p:nvSpPr>
          <p:cNvPr id="11" name="Text 9"/>
          <p:cNvSpPr/>
          <p:nvPr/>
        </p:nvSpPr>
        <p:spPr>
          <a:xfrm>
            <a:off x="3291840" y="1435608"/>
            <a:ext cx="2240280" cy="731520"/>
          </a:xfrm>
          <a:prstGeom prst="rect">
            <a:avLst/>
          </a:prstGeom>
          <a:noFill/>
          <a:ln/>
        </p:spPr>
        <p:txBody>
          <a:bodyPr wrap="square" rtlCol="0" anchor="ctr"/>
          <a:lstStyle/>
          <a:p>
            <a:pPr marL="0" indent="0">
              <a:buNone/>
            </a:pPr>
            <a:r>
              <a:rPr lang="en-US" sz="1100" dirty="0">
                <a:solidFill>
                  <a:srgbClr val="E8EDF7"/>
                </a:solidFill>
                <a:latin typeface="Calibri" pitchFamily="34" charset="0"/>
                <a:ea typeface="Calibri" pitchFamily="34" charset="-122"/>
                <a:cs typeface="Calibri" pitchFamily="34" charset="-120"/>
              </a:rPr>
              <a:t>Sales teams waste ~60% of effort on leads that will never convert.</a:t>
            </a:r>
            <a:endParaRPr lang="en-US" sz="1100" dirty="0"/>
          </a:p>
        </p:txBody>
      </p:sp>
      <p:sp>
        <p:nvSpPr>
          <p:cNvPr id="12" name="Shape 10"/>
          <p:cNvSpPr/>
          <p:nvPr/>
        </p:nvSpPr>
        <p:spPr>
          <a:xfrm>
            <a:off x="411480" y="2560320"/>
            <a:ext cx="2514600" cy="109728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3" name="Shape 11"/>
          <p:cNvSpPr/>
          <p:nvPr/>
        </p:nvSpPr>
        <p:spPr>
          <a:xfrm>
            <a:off x="411480" y="2560320"/>
            <a:ext cx="64008" cy="1097280"/>
          </a:xfrm>
          <a:prstGeom prst="rect">
            <a:avLst/>
          </a:prstGeom>
          <a:solidFill>
            <a:srgbClr val="FF7A00"/>
          </a:solidFill>
          <a:ln w="12700">
            <a:solidFill>
              <a:srgbClr val="FF7A00"/>
            </a:solidFill>
            <a:prstDash val="solid"/>
          </a:ln>
        </p:spPr>
      </p:sp>
      <p:sp>
        <p:nvSpPr>
          <p:cNvPr id="14" name="Text 12"/>
          <p:cNvSpPr/>
          <p:nvPr/>
        </p:nvSpPr>
        <p:spPr>
          <a:xfrm>
            <a:off x="594360" y="2761488"/>
            <a:ext cx="2240280" cy="731520"/>
          </a:xfrm>
          <a:prstGeom prst="rect">
            <a:avLst/>
          </a:prstGeom>
          <a:noFill/>
          <a:ln/>
        </p:spPr>
        <p:txBody>
          <a:bodyPr wrap="square" rtlCol="0" anchor="ctr"/>
          <a:lstStyle/>
          <a:p>
            <a:pPr marL="0" indent="0">
              <a:buNone/>
            </a:pPr>
            <a:r>
              <a:rPr lang="en-US" sz="1100" dirty="0">
                <a:solidFill>
                  <a:srgbClr val="E8EDF7"/>
                </a:solidFill>
                <a:latin typeface="Calibri" pitchFamily="34" charset="0"/>
                <a:ea typeface="Calibri" pitchFamily="34" charset="-122"/>
                <a:cs typeface="Calibri" pitchFamily="34" charset="-120"/>
              </a:rPr>
              <a:t>Lead prioritization relies on intuition, not predictive analytics.</a:t>
            </a:r>
            <a:endParaRPr lang="en-US" sz="1100" dirty="0"/>
          </a:p>
        </p:txBody>
      </p:sp>
      <p:sp>
        <p:nvSpPr>
          <p:cNvPr id="15" name="Shape 13"/>
          <p:cNvSpPr/>
          <p:nvPr/>
        </p:nvSpPr>
        <p:spPr>
          <a:xfrm>
            <a:off x="3108960" y="2560320"/>
            <a:ext cx="2514600" cy="109728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6" name="Shape 14"/>
          <p:cNvSpPr/>
          <p:nvPr/>
        </p:nvSpPr>
        <p:spPr>
          <a:xfrm>
            <a:off x="3108960" y="2560320"/>
            <a:ext cx="64008" cy="1097280"/>
          </a:xfrm>
          <a:prstGeom prst="rect">
            <a:avLst/>
          </a:prstGeom>
          <a:solidFill>
            <a:srgbClr val="FF7A00"/>
          </a:solidFill>
          <a:ln w="12700">
            <a:solidFill>
              <a:srgbClr val="FF7A00"/>
            </a:solidFill>
            <a:prstDash val="solid"/>
          </a:ln>
        </p:spPr>
      </p:sp>
      <p:sp>
        <p:nvSpPr>
          <p:cNvPr id="17" name="Text 15"/>
          <p:cNvSpPr/>
          <p:nvPr/>
        </p:nvSpPr>
        <p:spPr>
          <a:xfrm>
            <a:off x="3291840" y="2761488"/>
            <a:ext cx="2240280" cy="731520"/>
          </a:xfrm>
          <a:prstGeom prst="rect">
            <a:avLst/>
          </a:prstGeom>
          <a:noFill/>
          <a:ln/>
        </p:spPr>
        <p:txBody>
          <a:bodyPr wrap="square" rtlCol="0" anchor="ctr"/>
          <a:lstStyle/>
          <a:p>
            <a:pPr marL="0" indent="0">
              <a:buNone/>
            </a:pPr>
            <a:r>
              <a:rPr lang="en-US" sz="1100" dirty="0">
                <a:solidFill>
                  <a:srgbClr val="E8EDF7"/>
                </a:solidFill>
                <a:latin typeface="Calibri" pitchFamily="34" charset="0"/>
                <a:ea typeface="Calibri" pitchFamily="34" charset="-122"/>
                <a:cs typeface="Calibri" pitchFamily="34" charset="-120"/>
              </a:rPr>
              <a:t>Manual qualification is inefficient and unscalable.</a:t>
            </a:r>
            <a:endParaRPr lang="en-US" sz="1100" dirty="0"/>
          </a:p>
        </p:txBody>
      </p:sp>
      <p:sp>
        <p:nvSpPr>
          <p:cNvPr id="18" name="Text 16"/>
          <p:cNvSpPr/>
          <p:nvPr/>
        </p:nvSpPr>
        <p:spPr>
          <a:xfrm>
            <a:off x="5760720" y="1143000"/>
            <a:ext cx="3017520" cy="256032"/>
          </a:xfrm>
          <a:prstGeom prst="rect">
            <a:avLst/>
          </a:prstGeom>
          <a:noFill/>
          <a:ln/>
        </p:spPr>
        <p:txBody>
          <a:bodyPr wrap="square" rtlCol="0" anchor="ctr"/>
          <a:lstStyle/>
          <a:p>
            <a:pPr marL="0" indent="0" algn="ctr">
              <a:buNone/>
            </a:pPr>
            <a:r>
              <a:rPr lang="en-US" sz="850" b="1" kern="0" spc="100" dirty="0">
                <a:solidFill>
                  <a:srgbClr val="FF7A00"/>
                </a:solidFill>
              </a:rPr>
              <a:t>SALES FUNNEL WITHOUT DSS</a:t>
            </a:r>
            <a:endParaRPr lang="en-US" sz="850" dirty="0"/>
          </a:p>
        </p:txBody>
      </p:sp>
      <p:sp>
        <p:nvSpPr>
          <p:cNvPr id="19" name="Shape 17"/>
          <p:cNvSpPr/>
          <p:nvPr/>
        </p:nvSpPr>
        <p:spPr>
          <a:xfrm>
            <a:off x="5760720" y="1490472"/>
            <a:ext cx="2743200" cy="621792"/>
          </a:xfrm>
          <a:prstGeom prst="rect">
            <a:avLst/>
          </a:prstGeom>
          <a:solidFill>
            <a:srgbClr val="0D1B45"/>
          </a:solidFill>
          <a:ln w="19050">
            <a:solidFill>
              <a:srgbClr val="00C8E0"/>
            </a:solidFill>
            <a:prstDash val="solid"/>
          </a:ln>
          <a:effectLst>
            <a:outerShdw blurRad="101600" dist="38100" dir="8100000" algn="bl" rotWithShape="0">
              <a:srgbClr val="000000">
                <a:alpha val="20000"/>
              </a:srgbClr>
            </a:outerShdw>
          </a:effectLst>
        </p:spPr>
      </p:sp>
      <p:sp>
        <p:nvSpPr>
          <p:cNvPr id="20" name="Text 18"/>
          <p:cNvSpPr/>
          <p:nvPr/>
        </p:nvSpPr>
        <p:spPr>
          <a:xfrm>
            <a:off x="5760720" y="1527048"/>
            <a:ext cx="2743200" cy="274320"/>
          </a:xfrm>
          <a:prstGeom prst="rect">
            <a:avLst/>
          </a:prstGeom>
          <a:noFill/>
          <a:ln/>
        </p:spPr>
        <p:txBody>
          <a:bodyPr wrap="square" rtlCol="0" anchor="ctr"/>
          <a:lstStyle/>
          <a:p>
            <a:pPr marL="0" indent="0" algn="ctr">
              <a:buNone/>
            </a:pPr>
            <a:r>
              <a:rPr lang="en-US" sz="1400" b="1" dirty="0">
                <a:solidFill>
                  <a:srgbClr val="00C8E0"/>
                </a:solidFill>
              </a:rPr>
              <a:t>10,000</a:t>
            </a:r>
            <a:endParaRPr lang="en-US" sz="1400" dirty="0"/>
          </a:p>
        </p:txBody>
      </p:sp>
      <p:sp>
        <p:nvSpPr>
          <p:cNvPr id="21" name="Text 19"/>
          <p:cNvSpPr/>
          <p:nvPr/>
        </p:nvSpPr>
        <p:spPr>
          <a:xfrm>
            <a:off x="5760720" y="1819656"/>
            <a:ext cx="2743200" cy="237744"/>
          </a:xfrm>
          <a:prstGeom prst="rect">
            <a:avLst/>
          </a:prstGeom>
          <a:noFill/>
          <a:ln/>
        </p:spPr>
        <p:txBody>
          <a:bodyPr wrap="square" rtlCol="0" anchor="ctr"/>
          <a:lstStyle/>
          <a:p>
            <a:pPr marL="0" indent="0" algn="ctr">
              <a:buNone/>
            </a:pPr>
            <a:r>
              <a:rPr lang="en-US" sz="900" dirty="0">
                <a:solidFill>
                  <a:srgbClr val="E8EDF7"/>
                </a:solidFill>
              </a:rPr>
              <a:t>Total Leads Generated</a:t>
            </a:r>
            <a:endParaRPr lang="en-US" sz="900" dirty="0"/>
          </a:p>
        </p:txBody>
      </p:sp>
      <p:sp>
        <p:nvSpPr>
          <p:cNvPr id="22" name="Shape 20"/>
          <p:cNvSpPr/>
          <p:nvPr/>
        </p:nvSpPr>
        <p:spPr>
          <a:xfrm>
            <a:off x="7095744" y="2112264"/>
            <a:ext cx="73152" cy="256032"/>
          </a:xfrm>
          <a:prstGeom prst="rect">
            <a:avLst/>
          </a:prstGeom>
          <a:solidFill>
            <a:srgbClr val="00C8E0"/>
          </a:solidFill>
          <a:ln w="12700">
            <a:solidFill>
              <a:srgbClr val="00C8E0"/>
            </a:solidFill>
            <a:prstDash val="solid"/>
          </a:ln>
        </p:spPr>
      </p:sp>
      <p:sp>
        <p:nvSpPr>
          <p:cNvPr id="23" name="Shape 21"/>
          <p:cNvSpPr/>
          <p:nvPr/>
        </p:nvSpPr>
        <p:spPr>
          <a:xfrm>
            <a:off x="5943600" y="2386584"/>
            <a:ext cx="2377440" cy="621792"/>
          </a:xfrm>
          <a:prstGeom prst="rect">
            <a:avLst/>
          </a:prstGeom>
          <a:solidFill>
            <a:srgbClr val="0D1B45"/>
          </a:solidFill>
          <a:ln w="19050">
            <a:solidFill>
              <a:srgbClr val="FF7A00"/>
            </a:solidFill>
            <a:prstDash val="solid"/>
          </a:ln>
          <a:effectLst>
            <a:outerShdw blurRad="101600" dist="38100" dir="8100000" algn="bl" rotWithShape="0">
              <a:srgbClr val="000000">
                <a:alpha val="20000"/>
              </a:srgbClr>
            </a:outerShdw>
          </a:effectLst>
        </p:spPr>
      </p:sp>
      <p:sp>
        <p:nvSpPr>
          <p:cNvPr id="24" name="Text 22"/>
          <p:cNvSpPr/>
          <p:nvPr/>
        </p:nvSpPr>
        <p:spPr>
          <a:xfrm>
            <a:off x="5943600" y="2423160"/>
            <a:ext cx="2377440" cy="274320"/>
          </a:xfrm>
          <a:prstGeom prst="rect">
            <a:avLst/>
          </a:prstGeom>
          <a:noFill/>
          <a:ln/>
        </p:spPr>
        <p:txBody>
          <a:bodyPr wrap="square" rtlCol="0" anchor="ctr"/>
          <a:lstStyle/>
          <a:p>
            <a:pPr marL="0" indent="0" algn="ctr">
              <a:buNone/>
            </a:pPr>
            <a:r>
              <a:rPr lang="en-US" sz="1400" b="1" dirty="0">
                <a:solidFill>
                  <a:srgbClr val="FF7A00"/>
                </a:solidFill>
              </a:rPr>
              <a:t> 8,000</a:t>
            </a:r>
            <a:endParaRPr lang="en-US" sz="1400" dirty="0"/>
          </a:p>
        </p:txBody>
      </p:sp>
      <p:sp>
        <p:nvSpPr>
          <p:cNvPr id="25" name="Text 23"/>
          <p:cNvSpPr/>
          <p:nvPr/>
        </p:nvSpPr>
        <p:spPr>
          <a:xfrm>
            <a:off x="5943600" y="2715768"/>
            <a:ext cx="2377440" cy="237744"/>
          </a:xfrm>
          <a:prstGeom prst="rect">
            <a:avLst/>
          </a:prstGeom>
          <a:noFill/>
          <a:ln/>
        </p:spPr>
        <p:txBody>
          <a:bodyPr wrap="square" rtlCol="0" anchor="ctr"/>
          <a:lstStyle/>
          <a:p>
            <a:pPr marL="0" indent="0" algn="ctr">
              <a:buNone/>
            </a:pPr>
            <a:r>
              <a:rPr lang="en-US" sz="900" dirty="0">
                <a:solidFill>
                  <a:srgbClr val="E8EDF7"/>
                </a:solidFill>
              </a:rPr>
              <a:t>Non-Converting (~80%)</a:t>
            </a:r>
            <a:endParaRPr lang="en-US" sz="900" dirty="0"/>
          </a:p>
        </p:txBody>
      </p:sp>
      <p:sp>
        <p:nvSpPr>
          <p:cNvPr id="26" name="Shape 24"/>
          <p:cNvSpPr/>
          <p:nvPr/>
        </p:nvSpPr>
        <p:spPr>
          <a:xfrm>
            <a:off x="7095744" y="3008376"/>
            <a:ext cx="73152" cy="256032"/>
          </a:xfrm>
          <a:prstGeom prst="rect">
            <a:avLst/>
          </a:prstGeom>
          <a:solidFill>
            <a:srgbClr val="FF7A00"/>
          </a:solidFill>
          <a:ln w="12700">
            <a:solidFill>
              <a:srgbClr val="FF7A00"/>
            </a:solidFill>
            <a:prstDash val="solid"/>
          </a:ln>
        </p:spPr>
      </p:sp>
      <p:sp>
        <p:nvSpPr>
          <p:cNvPr id="27" name="Shape 25"/>
          <p:cNvSpPr/>
          <p:nvPr/>
        </p:nvSpPr>
        <p:spPr>
          <a:xfrm>
            <a:off x="6126480" y="3282696"/>
            <a:ext cx="2011680" cy="621792"/>
          </a:xfrm>
          <a:prstGeom prst="rect">
            <a:avLst/>
          </a:prstGeom>
          <a:solidFill>
            <a:srgbClr val="0D1B45"/>
          </a:solidFill>
          <a:ln w="19050">
            <a:solidFill>
              <a:srgbClr val="00C48C"/>
            </a:solidFill>
            <a:prstDash val="solid"/>
          </a:ln>
          <a:effectLst>
            <a:outerShdw blurRad="101600" dist="38100" dir="8100000" algn="bl" rotWithShape="0">
              <a:srgbClr val="000000">
                <a:alpha val="20000"/>
              </a:srgbClr>
            </a:outerShdw>
          </a:effectLst>
        </p:spPr>
      </p:sp>
      <p:sp>
        <p:nvSpPr>
          <p:cNvPr id="28" name="Text 26"/>
          <p:cNvSpPr/>
          <p:nvPr/>
        </p:nvSpPr>
        <p:spPr>
          <a:xfrm>
            <a:off x="6126480" y="3319272"/>
            <a:ext cx="2011680" cy="274320"/>
          </a:xfrm>
          <a:prstGeom prst="rect">
            <a:avLst/>
          </a:prstGeom>
          <a:noFill/>
          <a:ln/>
        </p:spPr>
        <p:txBody>
          <a:bodyPr wrap="square" rtlCol="0" anchor="ctr"/>
          <a:lstStyle/>
          <a:p>
            <a:pPr marL="0" indent="0" algn="ctr">
              <a:buNone/>
            </a:pPr>
            <a:r>
              <a:rPr lang="en-US" sz="1400" b="1" dirty="0">
                <a:solidFill>
                  <a:srgbClr val="00C48C"/>
                </a:solidFill>
              </a:rPr>
              <a:t> 2,000</a:t>
            </a:r>
            <a:endParaRPr lang="en-US" sz="1400" dirty="0"/>
          </a:p>
        </p:txBody>
      </p:sp>
      <p:sp>
        <p:nvSpPr>
          <p:cNvPr id="29" name="Text 27"/>
          <p:cNvSpPr/>
          <p:nvPr/>
        </p:nvSpPr>
        <p:spPr>
          <a:xfrm>
            <a:off x="6126480" y="3611880"/>
            <a:ext cx="2011680" cy="237744"/>
          </a:xfrm>
          <a:prstGeom prst="rect">
            <a:avLst/>
          </a:prstGeom>
          <a:noFill/>
          <a:ln/>
        </p:spPr>
        <p:txBody>
          <a:bodyPr wrap="square" rtlCol="0" anchor="ctr"/>
          <a:lstStyle/>
          <a:p>
            <a:pPr marL="0" indent="0" algn="ctr">
              <a:buNone/>
            </a:pPr>
            <a:r>
              <a:rPr lang="en-US" sz="900" dirty="0">
                <a:solidFill>
                  <a:srgbClr val="E8EDF7"/>
                </a:solidFill>
              </a:rPr>
              <a:t>Valuable HOT Leads</a:t>
            </a:r>
            <a:endParaRPr lang="en-US" sz="900" dirty="0"/>
          </a:p>
        </p:txBody>
      </p:sp>
      <p:sp>
        <p:nvSpPr>
          <p:cNvPr id="30" name="Shape 28"/>
          <p:cNvSpPr/>
          <p:nvPr/>
        </p:nvSpPr>
        <p:spPr>
          <a:xfrm>
            <a:off x="411480" y="3931920"/>
            <a:ext cx="8321040" cy="914400"/>
          </a:xfrm>
          <a:prstGeom prst="rect">
            <a:avLst/>
          </a:prstGeom>
          <a:solidFill>
            <a:srgbClr val="0D1B3E"/>
          </a:solidFill>
          <a:ln w="19050">
            <a:solidFill>
              <a:srgbClr val="FF7A00"/>
            </a:solidFill>
            <a:prstDash val="solid"/>
          </a:ln>
          <a:effectLst>
            <a:outerShdw blurRad="101600" dist="38100" dir="8100000" algn="bl" rotWithShape="0">
              <a:srgbClr val="000000">
                <a:alpha val="20000"/>
              </a:srgbClr>
            </a:outerShdw>
          </a:effectLst>
        </p:spPr>
      </p:sp>
      <p:sp>
        <p:nvSpPr>
          <p:cNvPr id="31" name="Text 29"/>
          <p:cNvSpPr/>
          <p:nvPr/>
        </p:nvSpPr>
        <p:spPr>
          <a:xfrm>
            <a:off x="594360" y="4023360"/>
            <a:ext cx="1188720" cy="256032"/>
          </a:xfrm>
          <a:prstGeom prst="rect">
            <a:avLst/>
          </a:prstGeom>
          <a:noFill/>
          <a:ln/>
        </p:spPr>
        <p:txBody>
          <a:bodyPr wrap="square" rtlCol="0" anchor="ctr"/>
          <a:lstStyle/>
          <a:p>
            <a:pPr marL="0" indent="0">
              <a:buNone/>
            </a:pPr>
            <a:r>
              <a:rPr lang="en-US" sz="1000" b="1" dirty="0">
                <a:solidFill>
                  <a:srgbClr val="FF7A00"/>
                </a:solidFill>
              </a:rPr>
              <a:t>Objective:</a:t>
            </a:r>
            <a:endParaRPr lang="en-US" sz="1000" dirty="0"/>
          </a:p>
        </p:txBody>
      </p:sp>
      <p:sp>
        <p:nvSpPr>
          <p:cNvPr id="32" name="Text 30"/>
          <p:cNvSpPr/>
          <p:nvPr/>
        </p:nvSpPr>
        <p:spPr>
          <a:xfrm>
            <a:off x="1783080" y="4023360"/>
            <a:ext cx="6766560" cy="685800"/>
          </a:xfrm>
          <a:prstGeom prst="rect">
            <a:avLst/>
          </a:prstGeom>
          <a:noFill/>
          <a:ln/>
        </p:spPr>
        <p:txBody>
          <a:bodyPr wrap="square" rtlCol="0" anchor="ctr"/>
          <a:lstStyle/>
          <a:p>
            <a:pPr marL="0" indent="0">
              <a:buNone/>
            </a:pPr>
            <a:r>
              <a:rPr lang="en-US" sz="1150" dirty="0">
                <a:solidFill>
                  <a:srgbClr val="A0EAF5"/>
                </a:solidFill>
                <a:latin typeface="Calibri" pitchFamily="34" charset="0"/>
                <a:ea typeface="Calibri" pitchFamily="34" charset="-122"/>
                <a:cs typeface="Calibri" pitchFamily="34" charset="-120"/>
              </a:rPr>
              <a:t>Develop an ML-based DSS that predicts conversion probability, prioritizes leads mathematically, and reduces sales waste.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DATA FOUNDATION</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Overview &amp; Data Quality</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3 / 11</a:t>
            </a:r>
            <a:endParaRPr lang="en-US" sz="800" dirty="0"/>
          </a:p>
        </p:txBody>
      </p:sp>
      <p:sp>
        <p:nvSpPr>
          <p:cNvPr id="6" name="Shape 4"/>
          <p:cNvSpPr/>
          <p:nvPr/>
        </p:nvSpPr>
        <p:spPr>
          <a:xfrm>
            <a:off x="411480" y="1207008"/>
            <a:ext cx="1965960" cy="96012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7" name="Shape 5"/>
          <p:cNvSpPr/>
          <p:nvPr/>
        </p:nvSpPr>
        <p:spPr>
          <a:xfrm>
            <a:off x="411480" y="1207008"/>
            <a:ext cx="1965960" cy="54864"/>
          </a:xfrm>
          <a:prstGeom prst="rect">
            <a:avLst/>
          </a:prstGeom>
          <a:solidFill>
            <a:srgbClr val="FF7A00"/>
          </a:solidFill>
          <a:ln w="12700">
            <a:solidFill>
              <a:srgbClr val="FF7A00"/>
            </a:solidFill>
            <a:prstDash val="solid"/>
          </a:ln>
        </p:spPr>
      </p:sp>
      <p:sp>
        <p:nvSpPr>
          <p:cNvPr id="8" name="Text 6"/>
          <p:cNvSpPr/>
          <p:nvPr/>
        </p:nvSpPr>
        <p:spPr>
          <a:xfrm>
            <a:off x="411480" y="1344168"/>
            <a:ext cx="1965960" cy="457200"/>
          </a:xfrm>
          <a:prstGeom prst="rect">
            <a:avLst/>
          </a:prstGeom>
          <a:noFill/>
          <a:ln/>
        </p:spPr>
        <p:txBody>
          <a:bodyPr wrap="square" rtlCol="0" anchor="ctr"/>
          <a:lstStyle/>
          <a:p>
            <a:pPr marL="0" indent="0" algn="ctr">
              <a:buNone/>
            </a:pPr>
            <a:r>
              <a:rPr lang="en-US" sz="2400" b="1" dirty="0">
                <a:solidFill>
                  <a:srgbClr val="FF7A00"/>
                </a:solidFill>
                <a:latin typeface="Calibri" pitchFamily="34" charset="0"/>
                <a:ea typeface="Calibri" pitchFamily="34" charset="-122"/>
                <a:cs typeface="Calibri" pitchFamily="34" charset="-120"/>
              </a:rPr>
              <a:t>9,240</a:t>
            </a:r>
            <a:endParaRPr lang="en-US" sz="2400" dirty="0"/>
          </a:p>
        </p:txBody>
      </p:sp>
      <p:sp>
        <p:nvSpPr>
          <p:cNvPr id="9" name="Text 7"/>
          <p:cNvSpPr/>
          <p:nvPr/>
        </p:nvSpPr>
        <p:spPr>
          <a:xfrm>
            <a:off x="411480" y="1801368"/>
            <a:ext cx="1965960" cy="274320"/>
          </a:xfrm>
          <a:prstGeom prst="rect">
            <a:avLst/>
          </a:prstGeom>
          <a:noFill/>
          <a:ln/>
        </p:spPr>
        <p:txBody>
          <a:bodyPr wrap="square" rtlCol="0" anchor="ctr"/>
          <a:lstStyle/>
          <a:p>
            <a:pPr marL="0" indent="0" algn="ctr">
              <a:buNone/>
            </a:pPr>
            <a:r>
              <a:rPr lang="en-US" sz="900" dirty="0">
                <a:solidFill>
                  <a:srgbClr val="8899BB"/>
                </a:solidFill>
              </a:rPr>
              <a:t>Records</a:t>
            </a:r>
            <a:endParaRPr lang="en-US" sz="900" dirty="0"/>
          </a:p>
        </p:txBody>
      </p:sp>
      <p:sp>
        <p:nvSpPr>
          <p:cNvPr id="10" name="Shape 8"/>
          <p:cNvSpPr/>
          <p:nvPr/>
        </p:nvSpPr>
        <p:spPr>
          <a:xfrm>
            <a:off x="2560320" y="1207008"/>
            <a:ext cx="1965960" cy="96012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1" name="Shape 9"/>
          <p:cNvSpPr/>
          <p:nvPr/>
        </p:nvSpPr>
        <p:spPr>
          <a:xfrm>
            <a:off x="2560320" y="1207008"/>
            <a:ext cx="1965960" cy="54864"/>
          </a:xfrm>
          <a:prstGeom prst="rect">
            <a:avLst/>
          </a:prstGeom>
          <a:solidFill>
            <a:srgbClr val="00C8E0"/>
          </a:solidFill>
          <a:ln w="12700">
            <a:solidFill>
              <a:srgbClr val="00C8E0"/>
            </a:solidFill>
            <a:prstDash val="solid"/>
          </a:ln>
        </p:spPr>
      </p:sp>
      <p:sp>
        <p:nvSpPr>
          <p:cNvPr id="12" name="Text 10"/>
          <p:cNvSpPr/>
          <p:nvPr/>
        </p:nvSpPr>
        <p:spPr>
          <a:xfrm>
            <a:off x="2560320" y="1344168"/>
            <a:ext cx="1965960" cy="457200"/>
          </a:xfrm>
          <a:prstGeom prst="rect">
            <a:avLst/>
          </a:prstGeom>
          <a:noFill/>
          <a:ln/>
        </p:spPr>
        <p:txBody>
          <a:bodyPr wrap="square" rtlCol="0" anchor="ctr"/>
          <a:lstStyle/>
          <a:p>
            <a:pPr marL="0" indent="0" algn="ctr">
              <a:buNone/>
            </a:pPr>
            <a:r>
              <a:rPr lang="en-US" sz="2400" b="1" dirty="0">
                <a:solidFill>
                  <a:srgbClr val="00C8E0"/>
                </a:solidFill>
                <a:latin typeface="Calibri" pitchFamily="34" charset="0"/>
                <a:ea typeface="Calibri" pitchFamily="34" charset="-122"/>
                <a:cs typeface="Calibri" pitchFamily="34" charset="-120"/>
              </a:rPr>
              <a:t>37</a:t>
            </a:r>
            <a:endParaRPr lang="en-US" sz="2400" dirty="0"/>
          </a:p>
        </p:txBody>
      </p:sp>
      <p:sp>
        <p:nvSpPr>
          <p:cNvPr id="13" name="Text 11"/>
          <p:cNvSpPr/>
          <p:nvPr/>
        </p:nvSpPr>
        <p:spPr>
          <a:xfrm>
            <a:off x="2560320" y="1801368"/>
            <a:ext cx="1965960" cy="274320"/>
          </a:xfrm>
          <a:prstGeom prst="rect">
            <a:avLst/>
          </a:prstGeom>
          <a:noFill/>
          <a:ln/>
        </p:spPr>
        <p:txBody>
          <a:bodyPr wrap="square" rtlCol="0" anchor="ctr"/>
          <a:lstStyle/>
          <a:p>
            <a:pPr marL="0" indent="0" algn="ctr">
              <a:buNone/>
            </a:pPr>
            <a:r>
              <a:rPr lang="en-US" sz="900" dirty="0">
                <a:solidFill>
                  <a:srgbClr val="8899BB"/>
                </a:solidFill>
              </a:rPr>
              <a:t>Raw Features</a:t>
            </a:r>
            <a:endParaRPr lang="en-US" sz="900" dirty="0"/>
          </a:p>
        </p:txBody>
      </p:sp>
      <p:sp>
        <p:nvSpPr>
          <p:cNvPr id="14" name="Shape 12"/>
          <p:cNvSpPr/>
          <p:nvPr/>
        </p:nvSpPr>
        <p:spPr>
          <a:xfrm>
            <a:off x="4709160" y="1207008"/>
            <a:ext cx="1965960" cy="96012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5" name="Shape 13"/>
          <p:cNvSpPr/>
          <p:nvPr/>
        </p:nvSpPr>
        <p:spPr>
          <a:xfrm>
            <a:off x="4709160" y="1207008"/>
            <a:ext cx="1965960" cy="54864"/>
          </a:xfrm>
          <a:prstGeom prst="rect">
            <a:avLst/>
          </a:prstGeom>
          <a:solidFill>
            <a:srgbClr val="00C48C"/>
          </a:solidFill>
          <a:ln w="12700">
            <a:solidFill>
              <a:srgbClr val="00C48C"/>
            </a:solidFill>
            <a:prstDash val="solid"/>
          </a:ln>
        </p:spPr>
      </p:sp>
      <p:sp>
        <p:nvSpPr>
          <p:cNvPr id="16" name="Text 14"/>
          <p:cNvSpPr/>
          <p:nvPr/>
        </p:nvSpPr>
        <p:spPr>
          <a:xfrm>
            <a:off x="4709160" y="1344168"/>
            <a:ext cx="1965960" cy="457200"/>
          </a:xfrm>
          <a:prstGeom prst="rect">
            <a:avLst/>
          </a:prstGeom>
          <a:noFill/>
          <a:ln/>
        </p:spPr>
        <p:txBody>
          <a:bodyPr wrap="square" rtlCol="0" anchor="ctr"/>
          <a:lstStyle/>
          <a:p>
            <a:pPr marL="0" indent="0" algn="ctr">
              <a:buNone/>
            </a:pPr>
            <a:r>
              <a:rPr lang="en-US" sz="2400" b="1" dirty="0">
                <a:solidFill>
                  <a:srgbClr val="00C48C"/>
                </a:solidFill>
                <a:latin typeface="Calibri" pitchFamily="34" charset="0"/>
                <a:ea typeface="Calibri" pitchFamily="34" charset="-122"/>
                <a:cs typeface="Calibri" pitchFamily="34" charset="-120"/>
              </a:rPr>
              <a:t>38.5%</a:t>
            </a:r>
            <a:endParaRPr lang="en-US" sz="2400" dirty="0"/>
          </a:p>
        </p:txBody>
      </p:sp>
      <p:sp>
        <p:nvSpPr>
          <p:cNvPr id="17" name="Text 15"/>
          <p:cNvSpPr/>
          <p:nvPr/>
        </p:nvSpPr>
        <p:spPr>
          <a:xfrm>
            <a:off x="4709160" y="1801368"/>
            <a:ext cx="1965960" cy="274320"/>
          </a:xfrm>
          <a:prstGeom prst="rect">
            <a:avLst/>
          </a:prstGeom>
          <a:noFill/>
          <a:ln/>
        </p:spPr>
        <p:txBody>
          <a:bodyPr wrap="square" rtlCol="0" anchor="ctr"/>
          <a:lstStyle/>
          <a:p>
            <a:pPr marL="0" indent="0" algn="ctr">
              <a:buNone/>
            </a:pPr>
            <a:r>
              <a:rPr lang="en-US" sz="900" dirty="0">
                <a:solidFill>
                  <a:srgbClr val="8899BB"/>
                </a:solidFill>
              </a:rPr>
              <a:t>Conv. Rate</a:t>
            </a:r>
            <a:endParaRPr lang="en-US" sz="900" dirty="0"/>
          </a:p>
        </p:txBody>
      </p:sp>
      <p:sp>
        <p:nvSpPr>
          <p:cNvPr id="18" name="Shape 16"/>
          <p:cNvSpPr/>
          <p:nvPr/>
        </p:nvSpPr>
        <p:spPr>
          <a:xfrm>
            <a:off x="6858000" y="1207008"/>
            <a:ext cx="1965960" cy="96012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9" name="Shape 17"/>
          <p:cNvSpPr/>
          <p:nvPr/>
        </p:nvSpPr>
        <p:spPr>
          <a:xfrm>
            <a:off x="6858000" y="1207008"/>
            <a:ext cx="1965960" cy="54864"/>
          </a:xfrm>
          <a:prstGeom prst="rect">
            <a:avLst/>
          </a:prstGeom>
          <a:solidFill>
            <a:srgbClr val="FFD166"/>
          </a:solidFill>
          <a:ln w="12700">
            <a:solidFill>
              <a:srgbClr val="FFD166"/>
            </a:solidFill>
            <a:prstDash val="solid"/>
          </a:ln>
        </p:spPr>
      </p:sp>
      <p:sp>
        <p:nvSpPr>
          <p:cNvPr id="20" name="Text 18"/>
          <p:cNvSpPr/>
          <p:nvPr/>
        </p:nvSpPr>
        <p:spPr>
          <a:xfrm>
            <a:off x="6858000" y="1344168"/>
            <a:ext cx="1965960" cy="457200"/>
          </a:xfrm>
          <a:prstGeom prst="rect">
            <a:avLst/>
          </a:prstGeom>
          <a:noFill/>
          <a:ln/>
        </p:spPr>
        <p:txBody>
          <a:bodyPr wrap="square" rtlCol="0" anchor="ctr"/>
          <a:lstStyle/>
          <a:p>
            <a:pPr marL="0" indent="0" algn="ctr">
              <a:buNone/>
            </a:pPr>
            <a:r>
              <a:rPr lang="en-US" sz="2400" b="1" dirty="0">
                <a:solidFill>
                  <a:srgbClr val="FFD166"/>
                </a:solidFill>
                <a:latin typeface="Calibri" pitchFamily="34" charset="0"/>
                <a:ea typeface="Calibri" pitchFamily="34" charset="-122"/>
                <a:cs typeface="Calibri" pitchFamily="34" charset="-120"/>
              </a:rPr>
              <a:t>Binary</a:t>
            </a:r>
            <a:endParaRPr lang="en-US" sz="2400" dirty="0"/>
          </a:p>
        </p:txBody>
      </p:sp>
      <p:sp>
        <p:nvSpPr>
          <p:cNvPr id="21" name="Text 19"/>
          <p:cNvSpPr/>
          <p:nvPr/>
        </p:nvSpPr>
        <p:spPr>
          <a:xfrm>
            <a:off x="6858000" y="1801368"/>
            <a:ext cx="1965960" cy="274320"/>
          </a:xfrm>
          <a:prstGeom prst="rect">
            <a:avLst/>
          </a:prstGeom>
          <a:noFill/>
          <a:ln/>
        </p:spPr>
        <p:txBody>
          <a:bodyPr wrap="square" rtlCol="0" anchor="ctr"/>
          <a:lstStyle/>
          <a:p>
            <a:pPr marL="0" indent="0" algn="ctr">
              <a:buNone/>
            </a:pPr>
            <a:r>
              <a:rPr lang="en-US" sz="900" dirty="0">
                <a:solidFill>
                  <a:srgbClr val="8899BB"/>
                </a:solidFill>
              </a:rPr>
              <a:t>Target Var.</a:t>
            </a:r>
            <a:endParaRPr lang="en-US" sz="900" dirty="0"/>
          </a:p>
        </p:txBody>
      </p:sp>
      <p:sp>
        <p:nvSpPr>
          <p:cNvPr id="22" name="Shape 20"/>
          <p:cNvSpPr/>
          <p:nvPr/>
        </p:nvSpPr>
        <p:spPr>
          <a:xfrm>
            <a:off x="411480" y="2377440"/>
            <a:ext cx="3977640" cy="1325880"/>
          </a:xfrm>
          <a:prstGeom prst="rect">
            <a:avLst/>
          </a:prstGeom>
          <a:solidFill>
            <a:srgbClr val="0D1B45"/>
          </a:solidFill>
          <a:ln w="12700">
            <a:solidFill>
              <a:srgbClr val="FF7A00"/>
            </a:solidFill>
            <a:prstDash val="solid"/>
          </a:ln>
          <a:effectLst>
            <a:outerShdw blurRad="101600" dist="38100" dir="8100000" algn="bl" rotWithShape="0">
              <a:srgbClr val="000000">
                <a:alpha val="20000"/>
              </a:srgbClr>
            </a:outerShdw>
          </a:effectLst>
        </p:spPr>
      </p:sp>
      <p:sp>
        <p:nvSpPr>
          <p:cNvPr id="23" name="Shape 21"/>
          <p:cNvSpPr/>
          <p:nvPr/>
        </p:nvSpPr>
        <p:spPr>
          <a:xfrm>
            <a:off x="411480" y="2377440"/>
            <a:ext cx="3977640" cy="54864"/>
          </a:xfrm>
          <a:prstGeom prst="rect">
            <a:avLst/>
          </a:prstGeom>
          <a:solidFill>
            <a:srgbClr val="FF7A00"/>
          </a:solidFill>
          <a:ln w="12700">
            <a:solidFill>
              <a:srgbClr val="FF7A00"/>
            </a:solidFill>
            <a:prstDash val="solid"/>
          </a:ln>
        </p:spPr>
      </p:sp>
      <p:sp>
        <p:nvSpPr>
          <p:cNvPr id="24" name="Text 22"/>
          <p:cNvSpPr/>
          <p:nvPr/>
        </p:nvSpPr>
        <p:spPr>
          <a:xfrm>
            <a:off x="548640" y="2403570"/>
            <a:ext cx="3657600" cy="274320"/>
          </a:xfrm>
          <a:prstGeom prst="rect">
            <a:avLst/>
          </a:prstGeom>
          <a:noFill/>
          <a:ln/>
        </p:spPr>
        <p:txBody>
          <a:bodyPr wrap="square" rtlCol="0" anchor="ctr"/>
          <a:lstStyle/>
          <a:p>
            <a:pPr marL="0" indent="0">
              <a:buNone/>
            </a:pPr>
            <a:r>
              <a:rPr lang="en-US" sz="1200" b="1" dirty="0">
                <a:solidFill>
                  <a:srgbClr val="FF7A00"/>
                </a:solidFill>
              </a:rPr>
              <a:t>Data Quality Assessment</a:t>
            </a:r>
            <a:endParaRPr lang="en-US" sz="1200" dirty="0"/>
          </a:p>
        </p:txBody>
      </p:sp>
      <p:sp>
        <p:nvSpPr>
          <p:cNvPr id="25" name="Text 23"/>
          <p:cNvSpPr/>
          <p:nvPr/>
        </p:nvSpPr>
        <p:spPr>
          <a:xfrm>
            <a:off x="373932" y="2834639"/>
            <a:ext cx="3977639" cy="744585"/>
          </a:xfrm>
          <a:prstGeom prst="rect">
            <a:avLst/>
          </a:prstGeom>
          <a:noFill/>
          <a:ln/>
        </p:spPr>
        <p:txBody>
          <a:bodyPr wrap="square" rtlCol="0" anchor="ctr"/>
          <a:lstStyle/>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Missing Values Treated: ~41% of columns had &gt;5% nulls</a:t>
            </a:r>
            <a:endParaRPr lang="en-US" sz="1000" dirty="0"/>
          </a:p>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High-Missing Columns Removed: 7 columns dropped (&gt;40% null)</a:t>
            </a:r>
            <a:endParaRPr lang="en-US" sz="1000" dirty="0"/>
          </a:p>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Features Engineered: 1 custom (Engagement Score)</a:t>
            </a:r>
            <a:endParaRPr lang="en-US" sz="1000" dirty="0"/>
          </a:p>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Outlier Treatment: IQR clipping on 3 numeric features</a:t>
            </a:r>
            <a:endParaRPr lang="en-US" sz="1000" dirty="0"/>
          </a:p>
        </p:txBody>
      </p:sp>
      <p:sp>
        <p:nvSpPr>
          <p:cNvPr id="26" name="Shape 24"/>
          <p:cNvSpPr/>
          <p:nvPr/>
        </p:nvSpPr>
        <p:spPr>
          <a:xfrm>
            <a:off x="4572000" y="2377440"/>
            <a:ext cx="4160520" cy="1325880"/>
          </a:xfrm>
          <a:prstGeom prst="rect">
            <a:avLst/>
          </a:prstGeom>
          <a:solidFill>
            <a:srgbClr val="0D1B45"/>
          </a:solidFill>
          <a:ln w="12700">
            <a:solidFill>
              <a:srgbClr val="00C8E0"/>
            </a:solidFill>
            <a:prstDash val="solid"/>
          </a:ln>
          <a:effectLst>
            <a:outerShdw blurRad="101600" dist="38100" dir="8100000" algn="bl" rotWithShape="0">
              <a:srgbClr val="000000">
                <a:alpha val="20000"/>
              </a:srgbClr>
            </a:outerShdw>
          </a:effectLst>
        </p:spPr>
        <p:txBody>
          <a:bodyPr/>
          <a:lstStyle/>
          <a:p>
            <a:endParaRPr lang="en-IN" dirty="0"/>
          </a:p>
        </p:txBody>
      </p:sp>
      <p:sp>
        <p:nvSpPr>
          <p:cNvPr id="27" name="Shape 25"/>
          <p:cNvSpPr/>
          <p:nvPr/>
        </p:nvSpPr>
        <p:spPr>
          <a:xfrm>
            <a:off x="4572000" y="2377440"/>
            <a:ext cx="4160520" cy="54864"/>
          </a:xfrm>
          <a:prstGeom prst="rect">
            <a:avLst/>
          </a:prstGeom>
          <a:solidFill>
            <a:srgbClr val="00C8E0"/>
          </a:solidFill>
          <a:ln w="12700">
            <a:solidFill>
              <a:srgbClr val="00C8E0"/>
            </a:solidFill>
            <a:prstDash val="solid"/>
          </a:ln>
        </p:spPr>
      </p:sp>
      <p:sp>
        <p:nvSpPr>
          <p:cNvPr id="28" name="Text 26"/>
          <p:cNvSpPr/>
          <p:nvPr/>
        </p:nvSpPr>
        <p:spPr>
          <a:xfrm>
            <a:off x="4709160" y="2398128"/>
            <a:ext cx="3840480" cy="274320"/>
          </a:xfrm>
          <a:prstGeom prst="rect">
            <a:avLst/>
          </a:prstGeom>
          <a:noFill/>
          <a:ln/>
        </p:spPr>
        <p:txBody>
          <a:bodyPr wrap="square" rtlCol="0" anchor="ctr"/>
          <a:lstStyle/>
          <a:p>
            <a:pPr marL="0" indent="0">
              <a:buNone/>
            </a:pPr>
            <a:r>
              <a:rPr lang="en-US" sz="1200" b="1" dirty="0">
                <a:solidFill>
                  <a:srgbClr val="00C8E0"/>
                </a:solidFill>
              </a:rPr>
              <a:t>Preprocessing Pipeline</a:t>
            </a:r>
            <a:endParaRPr lang="en-US" sz="1200" dirty="0"/>
          </a:p>
        </p:txBody>
      </p:sp>
      <p:sp>
        <p:nvSpPr>
          <p:cNvPr id="29" name="Text 27"/>
          <p:cNvSpPr/>
          <p:nvPr/>
        </p:nvSpPr>
        <p:spPr>
          <a:xfrm>
            <a:off x="4568189" y="2922270"/>
            <a:ext cx="3977641" cy="502920"/>
          </a:xfrm>
          <a:prstGeom prst="rect">
            <a:avLst/>
          </a:prstGeom>
          <a:noFill/>
          <a:ln/>
        </p:spPr>
        <p:txBody>
          <a:bodyPr wrap="square" rtlCol="0" anchor="ctr"/>
          <a:lstStyle/>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Replaced 'Select' placeholders → </a:t>
            </a:r>
            <a:r>
              <a:rPr lang="en-US" sz="1000" dirty="0" err="1">
                <a:solidFill>
                  <a:srgbClr val="E8EDF7"/>
                </a:solidFill>
                <a:latin typeface="Calibri" pitchFamily="34" charset="0"/>
                <a:ea typeface="Calibri" pitchFamily="34" charset="-122"/>
                <a:cs typeface="Calibri" pitchFamily="34" charset="-120"/>
              </a:rPr>
              <a:t>NaN</a:t>
            </a:r>
            <a:endParaRPr lang="en-US" sz="1000" dirty="0"/>
          </a:p>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Median imputation: numeric features</a:t>
            </a:r>
            <a:endParaRPr lang="en-US" sz="1000" dirty="0"/>
          </a:p>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Mode imputation: categorical features</a:t>
            </a:r>
            <a:endParaRPr lang="en-US" sz="1000" dirty="0"/>
          </a:p>
          <a:p>
            <a:pPr marL="342900" indent="-342900">
              <a:spcAft>
                <a:spcPts val="400"/>
              </a:spcAft>
              <a:buSzPct val="100000"/>
              <a:buChar char="•"/>
            </a:pPr>
            <a:r>
              <a:rPr lang="en-US" sz="1000" dirty="0">
                <a:solidFill>
                  <a:srgbClr val="E8EDF7"/>
                </a:solidFill>
                <a:latin typeface="Calibri" pitchFamily="34" charset="0"/>
                <a:ea typeface="Calibri" pitchFamily="34" charset="-122"/>
                <a:cs typeface="Calibri" pitchFamily="34" charset="-120"/>
              </a:rPr>
              <a:t>Binary + One-Hot Encoding applied</a:t>
            </a:r>
            <a:endParaRPr lang="en-US" sz="1000" dirty="0"/>
          </a:p>
          <a:p>
            <a:pPr marL="342900" indent="-342900">
              <a:spcAft>
                <a:spcPts val="400"/>
              </a:spcAft>
              <a:buSzPct val="100000"/>
              <a:buChar char="•"/>
            </a:pPr>
            <a:r>
              <a:rPr lang="en-US" sz="1000" dirty="0" err="1">
                <a:solidFill>
                  <a:srgbClr val="E8EDF7"/>
                </a:solidFill>
                <a:latin typeface="Calibri" pitchFamily="34" charset="0"/>
                <a:ea typeface="Calibri" pitchFamily="34" charset="-122"/>
                <a:cs typeface="Calibri" pitchFamily="34" charset="-120"/>
              </a:rPr>
              <a:t>StandardScaler</a:t>
            </a:r>
            <a:r>
              <a:rPr lang="en-US" sz="1000" dirty="0">
                <a:solidFill>
                  <a:srgbClr val="E8EDF7"/>
                </a:solidFill>
                <a:latin typeface="Calibri" pitchFamily="34" charset="0"/>
                <a:ea typeface="Calibri" pitchFamily="34" charset="-122"/>
                <a:cs typeface="Calibri" pitchFamily="34" charset="-120"/>
              </a:rPr>
              <a:t> Z-score normalization</a:t>
            </a:r>
            <a:endParaRPr lang="en-US" sz="1000" dirty="0"/>
          </a:p>
        </p:txBody>
      </p:sp>
      <p:sp>
        <p:nvSpPr>
          <p:cNvPr id="30" name="Shape 28"/>
          <p:cNvSpPr/>
          <p:nvPr/>
        </p:nvSpPr>
        <p:spPr>
          <a:xfrm>
            <a:off x="411480" y="3822192"/>
            <a:ext cx="8321040" cy="105156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31" name="Shape 29"/>
          <p:cNvSpPr/>
          <p:nvPr/>
        </p:nvSpPr>
        <p:spPr>
          <a:xfrm>
            <a:off x="411480" y="3822192"/>
            <a:ext cx="8321040" cy="54864"/>
          </a:xfrm>
          <a:prstGeom prst="rect">
            <a:avLst/>
          </a:prstGeom>
          <a:solidFill>
            <a:srgbClr val="112266"/>
          </a:solidFill>
          <a:ln w="12700">
            <a:solidFill>
              <a:srgbClr val="112266"/>
            </a:solidFill>
            <a:prstDash val="solid"/>
          </a:ln>
        </p:spPr>
      </p:sp>
      <p:sp>
        <p:nvSpPr>
          <p:cNvPr id="32" name="Text 30"/>
          <p:cNvSpPr/>
          <p:nvPr/>
        </p:nvSpPr>
        <p:spPr>
          <a:xfrm>
            <a:off x="594360" y="3913632"/>
            <a:ext cx="2011680" cy="256032"/>
          </a:xfrm>
          <a:prstGeom prst="rect">
            <a:avLst/>
          </a:prstGeom>
          <a:noFill/>
          <a:ln/>
        </p:spPr>
        <p:txBody>
          <a:bodyPr wrap="square" rtlCol="0" anchor="ctr"/>
          <a:lstStyle/>
          <a:p>
            <a:pPr marL="0" indent="0">
              <a:buNone/>
            </a:pPr>
            <a:r>
              <a:rPr lang="en-US" sz="1000" b="1" dirty="0">
                <a:solidFill>
                  <a:srgbClr val="A0EAF5"/>
                </a:solidFill>
              </a:rPr>
              <a:t>Key Feature Groups:</a:t>
            </a:r>
            <a:endParaRPr lang="en-US" sz="1000" dirty="0"/>
          </a:p>
        </p:txBody>
      </p:sp>
      <p:sp>
        <p:nvSpPr>
          <p:cNvPr id="33" name="Shape 31"/>
          <p:cNvSpPr/>
          <p:nvPr/>
        </p:nvSpPr>
        <p:spPr>
          <a:xfrm>
            <a:off x="502920" y="4224528"/>
            <a:ext cx="2011680" cy="502920"/>
          </a:xfrm>
          <a:prstGeom prst="rect">
            <a:avLst/>
          </a:prstGeom>
          <a:solidFill>
            <a:srgbClr val="0D1B45"/>
          </a:solidFill>
          <a:ln w="12700">
            <a:solidFill>
              <a:srgbClr val="112266"/>
            </a:solidFill>
            <a:prstDash val="solid"/>
          </a:ln>
        </p:spPr>
      </p:sp>
      <p:sp>
        <p:nvSpPr>
          <p:cNvPr id="34" name="Text 32"/>
          <p:cNvSpPr/>
          <p:nvPr/>
        </p:nvSpPr>
        <p:spPr>
          <a:xfrm>
            <a:off x="548640" y="4251960"/>
            <a:ext cx="1920240" cy="411480"/>
          </a:xfrm>
          <a:prstGeom prst="rect">
            <a:avLst/>
          </a:prstGeom>
          <a:noFill/>
          <a:ln/>
        </p:spPr>
        <p:txBody>
          <a:bodyPr wrap="square" rtlCol="0" anchor="ctr"/>
          <a:lstStyle/>
          <a:p>
            <a:pPr marL="0" indent="0" algn="ctr">
              <a:buNone/>
            </a:pPr>
            <a:r>
              <a:rPr lang="en-US" sz="950" dirty="0">
                <a:solidFill>
                  <a:srgbClr val="E8EDF7"/>
                </a:solidFill>
              </a:rPr>
              <a:t>Behavioral (time, visits, pages)</a:t>
            </a:r>
            <a:endParaRPr lang="en-US" sz="950" dirty="0"/>
          </a:p>
        </p:txBody>
      </p:sp>
      <p:sp>
        <p:nvSpPr>
          <p:cNvPr id="35" name="Shape 33"/>
          <p:cNvSpPr/>
          <p:nvPr/>
        </p:nvSpPr>
        <p:spPr>
          <a:xfrm>
            <a:off x="2651760" y="4224528"/>
            <a:ext cx="2011680" cy="502920"/>
          </a:xfrm>
          <a:prstGeom prst="rect">
            <a:avLst/>
          </a:prstGeom>
          <a:solidFill>
            <a:srgbClr val="0D1B45"/>
          </a:solidFill>
          <a:ln w="12700">
            <a:solidFill>
              <a:srgbClr val="112266"/>
            </a:solidFill>
            <a:prstDash val="solid"/>
          </a:ln>
        </p:spPr>
      </p:sp>
      <p:sp>
        <p:nvSpPr>
          <p:cNvPr id="36" name="Text 34"/>
          <p:cNvSpPr/>
          <p:nvPr/>
        </p:nvSpPr>
        <p:spPr>
          <a:xfrm>
            <a:off x="2697480" y="4251960"/>
            <a:ext cx="1920240" cy="411480"/>
          </a:xfrm>
          <a:prstGeom prst="rect">
            <a:avLst/>
          </a:prstGeom>
          <a:noFill/>
          <a:ln/>
        </p:spPr>
        <p:txBody>
          <a:bodyPr wrap="square" rtlCol="0" anchor="ctr"/>
          <a:lstStyle/>
          <a:p>
            <a:pPr marL="0" indent="0" algn="ctr">
              <a:buNone/>
            </a:pPr>
            <a:r>
              <a:rPr lang="en-US" sz="950" dirty="0">
                <a:solidFill>
                  <a:srgbClr val="E8EDF7"/>
                </a:solidFill>
              </a:rPr>
              <a:t>Demographic (occupation, origin)</a:t>
            </a:r>
            <a:endParaRPr lang="en-US" sz="950" dirty="0"/>
          </a:p>
        </p:txBody>
      </p:sp>
      <p:sp>
        <p:nvSpPr>
          <p:cNvPr id="37" name="Shape 35"/>
          <p:cNvSpPr/>
          <p:nvPr/>
        </p:nvSpPr>
        <p:spPr>
          <a:xfrm>
            <a:off x="4800600" y="4224528"/>
            <a:ext cx="2011680" cy="502920"/>
          </a:xfrm>
          <a:prstGeom prst="rect">
            <a:avLst/>
          </a:prstGeom>
          <a:solidFill>
            <a:srgbClr val="0D1B45"/>
          </a:solidFill>
          <a:ln w="12700">
            <a:solidFill>
              <a:srgbClr val="112266"/>
            </a:solidFill>
            <a:prstDash val="solid"/>
          </a:ln>
        </p:spPr>
      </p:sp>
      <p:sp>
        <p:nvSpPr>
          <p:cNvPr id="38" name="Text 36"/>
          <p:cNvSpPr/>
          <p:nvPr/>
        </p:nvSpPr>
        <p:spPr>
          <a:xfrm>
            <a:off x="4846320" y="4251960"/>
            <a:ext cx="1920240" cy="411480"/>
          </a:xfrm>
          <a:prstGeom prst="rect">
            <a:avLst/>
          </a:prstGeom>
          <a:noFill/>
          <a:ln/>
        </p:spPr>
        <p:txBody>
          <a:bodyPr wrap="square" rtlCol="0" anchor="ctr"/>
          <a:lstStyle/>
          <a:p>
            <a:pPr marL="0" indent="0" algn="ctr">
              <a:buNone/>
            </a:pPr>
            <a:r>
              <a:rPr lang="en-US" sz="950" dirty="0">
                <a:solidFill>
                  <a:srgbClr val="E8EDF7"/>
                </a:solidFill>
              </a:rPr>
              <a:t>Interaction History (source, last activity)</a:t>
            </a:r>
            <a:endParaRPr lang="en-US" sz="950" dirty="0"/>
          </a:p>
        </p:txBody>
      </p:sp>
      <p:sp>
        <p:nvSpPr>
          <p:cNvPr id="39" name="Shape 37"/>
          <p:cNvSpPr/>
          <p:nvPr/>
        </p:nvSpPr>
        <p:spPr>
          <a:xfrm>
            <a:off x="6949440" y="4224528"/>
            <a:ext cx="2011680" cy="502920"/>
          </a:xfrm>
          <a:prstGeom prst="rect">
            <a:avLst/>
          </a:prstGeom>
          <a:solidFill>
            <a:srgbClr val="0D1B45"/>
          </a:solidFill>
          <a:ln w="12700">
            <a:solidFill>
              <a:srgbClr val="112266"/>
            </a:solidFill>
            <a:prstDash val="solid"/>
          </a:ln>
        </p:spPr>
      </p:sp>
      <p:sp>
        <p:nvSpPr>
          <p:cNvPr id="40" name="Text 38"/>
          <p:cNvSpPr/>
          <p:nvPr/>
        </p:nvSpPr>
        <p:spPr>
          <a:xfrm>
            <a:off x="6995160" y="4251960"/>
            <a:ext cx="1920240" cy="411480"/>
          </a:xfrm>
          <a:prstGeom prst="rect">
            <a:avLst/>
          </a:prstGeom>
          <a:noFill/>
          <a:ln/>
        </p:spPr>
        <p:txBody>
          <a:bodyPr wrap="square" rtlCol="0" anchor="ctr"/>
          <a:lstStyle/>
          <a:p>
            <a:pPr marL="0" indent="0" algn="ctr">
              <a:buNone/>
            </a:pPr>
            <a:r>
              <a:rPr lang="en-US" sz="950" dirty="0">
                <a:solidFill>
                  <a:srgbClr val="E8EDF7"/>
                </a:solidFill>
              </a:rPr>
              <a:t>Engineered (Engagement Score)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METHODOLOGY</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Framework &amp; Feature Engineering</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4 / 11</a:t>
            </a:r>
            <a:endParaRPr lang="en-US" sz="800" dirty="0"/>
          </a:p>
        </p:txBody>
      </p:sp>
      <p:sp>
        <p:nvSpPr>
          <p:cNvPr id="6" name="Shape 4"/>
          <p:cNvSpPr/>
          <p:nvPr/>
        </p:nvSpPr>
        <p:spPr>
          <a:xfrm>
            <a:off x="411480" y="1207008"/>
            <a:ext cx="1261872"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7" name="Text 5"/>
          <p:cNvSpPr/>
          <p:nvPr/>
        </p:nvSpPr>
        <p:spPr>
          <a:xfrm>
            <a:off x="411480" y="1261872"/>
            <a:ext cx="12618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8" name="Text 6"/>
          <p:cNvSpPr/>
          <p:nvPr/>
        </p:nvSpPr>
        <p:spPr>
          <a:xfrm>
            <a:off x="411480" y="1645920"/>
            <a:ext cx="1261872" cy="420624"/>
          </a:xfrm>
          <a:prstGeom prst="rect">
            <a:avLst/>
          </a:prstGeom>
          <a:noFill/>
          <a:ln/>
        </p:spPr>
        <p:txBody>
          <a:bodyPr wrap="square" rtlCol="0" anchor="ctr"/>
          <a:lstStyle/>
          <a:p>
            <a:pPr marL="0" indent="0" algn="ctr">
              <a:buNone/>
            </a:pPr>
            <a:r>
              <a:rPr lang="en-US" sz="900" dirty="0">
                <a:solidFill>
                  <a:srgbClr val="E8EDF7"/>
                </a:solidFill>
              </a:rPr>
              <a:t>Data</a:t>
            </a:r>
            <a:endParaRPr lang="en-US" sz="900" dirty="0"/>
          </a:p>
          <a:p>
            <a:pPr marL="0" indent="0" algn="ctr">
              <a:buNone/>
            </a:pPr>
            <a:r>
              <a:rPr lang="en-US" sz="900" dirty="0">
                <a:solidFill>
                  <a:srgbClr val="E8EDF7"/>
                </a:solidFill>
              </a:rPr>
              <a:t>Collection</a:t>
            </a:r>
            <a:endParaRPr lang="en-US" sz="900" dirty="0"/>
          </a:p>
        </p:txBody>
      </p:sp>
      <p:sp>
        <p:nvSpPr>
          <p:cNvPr id="9" name="Shape 7"/>
          <p:cNvSpPr/>
          <p:nvPr/>
        </p:nvSpPr>
        <p:spPr>
          <a:xfrm>
            <a:off x="1673352" y="1600200"/>
            <a:ext cx="201168" cy="54864"/>
          </a:xfrm>
          <a:prstGeom prst="rect">
            <a:avLst/>
          </a:prstGeom>
          <a:solidFill>
            <a:srgbClr val="FF7A00"/>
          </a:solidFill>
          <a:ln w="12700">
            <a:solidFill>
              <a:srgbClr val="FF7A00"/>
            </a:solidFill>
            <a:prstDash val="solid"/>
          </a:ln>
        </p:spPr>
      </p:sp>
      <p:sp>
        <p:nvSpPr>
          <p:cNvPr id="10" name="Shape 8"/>
          <p:cNvSpPr/>
          <p:nvPr/>
        </p:nvSpPr>
        <p:spPr>
          <a:xfrm>
            <a:off x="1874520" y="1207008"/>
            <a:ext cx="1261872"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1" name="Text 9"/>
          <p:cNvSpPr/>
          <p:nvPr/>
        </p:nvSpPr>
        <p:spPr>
          <a:xfrm>
            <a:off x="1874520" y="1261872"/>
            <a:ext cx="12618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2" name="Text 10"/>
          <p:cNvSpPr/>
          <p:nvPr/>
        </p:nvSpPr>
        <p:spPr>
          <a:xfrm>
            <a:off x="1874520" y="1645920"/>
            <a:ext cx="1261872" cy="420624"/>
          </a:xfrm>
          <a:prstGeom prst="rect">
            <a:avLst/>
          </a:prstGeom>
          <a:noFill/>
          <a:ln/>
        </p:spPr>
        <p:txBody>
          <a:bodyPr wrap="square" rtlCol="0" anchor="ctr"/>
          <a:lstStyle/>
          <a:p>
            <a:pPr marL="0" indent="0" algn="ctr">
              <a:buNone/>
            </a:pPr>
            <a:r>
              <a:rPr lang="en-US" sz="900" dirty="0">
                <a:solidFill>
                  <a:srgbClr val="E8EDF7"/>
                </a:solidFill>
              </a:rPr>
              <a:t>Cleaning &amp;</a:t>
            </a:r>
            <a:endParaRPr lang="en-US" sz="900" dirty="0"/>
          </a:p>
          <a:p>
            <a:pPr marL="0" indent="0" algn="ctr">
              <a:buNone/>
            </a:pPr>
            <a:r>
              <a:rPr lang="en-US" sz="900" dirty="0">
                <a:solidFill>
                  <a:srgbClr val="E8EDF7"/>
                </a:solidFill>
              </a:rPr>
              <a:t>Imputation</a:t>
            </a:r>
            <a:endParaRPr lang="en-US" sz="900" dirty="0"/>
          </a:p>
        </p:txBody>
      </p:sp>
      <p:sp>
        <p:nvSpPr>
          <p:cNvPr id="13" name="Shape 11"/>
          <p:cNvSpPr/>
          <p:nvPr/>
        </p:nvSpPr>
        <p:spPr>
          <a:xfrm>
            <a:off x="3136392" y="1600200"/>
            <a:ext cx="201168" cy="54864"/>
          </a:xfrm>
          <a:prstGeom prst="rect">
            <a:avLst/>
          </a:prstGeom>
          <a:solidFill>
            <a:srgbClr val="FF7A00"/>
          </a:solidFill>
          <a:ln w="12700">
            <a:solidFill>
              <a:srgbClr val="FF7A00"/>
            </a:solidFill>
            <a:prstDash val="solid"/>
          </a:ln>
        </p:spPr>
      </p:sp>
      <p:sp>
        <p:nvSpPr>
          <p:cNvPr id="14" name="Shape 12"/>
          <p:cNvSpPr/>
          <p:nvPr/>
        </p:nvSpPr>
        <p:spPr>
          <a:xfrm>
            <a:off x="3337560" y="1207008"/>
            <a:ext cx="1261872"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5" name="Text 13"/>
          <p:cNvSpPr/>
          <p:nvPr/>
        </p:nvSpPr>
        <p:spPr>
          <a:xfrm>
            <a:off x="3337560" y="1261872"/>
            <a:ext cx="12618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6" name="Text 14"/>
          <p:cNvSpPr/>
          <p:nvPr/>
        </p:nvSpPr>
        <p:spPr>
          <a:xfrm>
            <a:off x="3337560" y="1645920"/>
            <a:ext cx="1261872" cy="420624"/>
          </a:xfrm>
          <a:prstGeom prst="rect">
            <a:avLst/>
          </a:prstGeom>
          <a:noFill/>
          <a:ln/>
        </p:spPr>
        <p:txBody>
          <a:bodyPr wrap="square" rtlCol="0" anchor="ctr"/>
          <a:lstStyle/>
          <a:p>
            <a:pPr marL="0" indent="0" algn="ctr">
              <a:buNone/>
            </a:pPr>
            <a:r>
              <a:rPr lang="en-US" sz="900" dirty="0">
                <a:solidFill>
                  <a:srgbClr val="E8EDF7"/>
                </a:solidFill>
              </a:rPr>
              <a:t>Encoding &amp;</a:t>
            </a:r>
            <a:endParaRPr lang="en-US" sz="900" dirty="0"/>
          </a:p>
          <a:p>
            <a:pPr marL="0" indent="0" algn="ctr">
              <a:buNone/>
            </a:pPr>
            <a:r>
              <a:rPr lang="en-US" sz="900" dirty="0">
                <a:solidFill>
                  <a:srgbClr val="E8EDF7"/>
                </a:solidFill>
              </a:rPr>
              <a:t>Scaling</a:t>
            </a:r>
            <a:endParaRPr lang="en-US" sz="900" dirty="0"/>
          </a:p>
        </p:txBody>
      </p:sp>
      <p:sp>
        <p:nvSpPr>
          <p:cNvPr id="17" name="Shape 15"/>
          <p:cNvSpPr/>
          <p:nvPr/>
        </p:nvSpPr>
        <p:spPr>
          <a:xfrm>
            <a:off x="4599432" y="1600200"/>
            <a:ext cx="201168" cy="54864"/>
          </a:xfrm>
          <a:prstGeom prst="rect">
            <a:avLst/>
          </a:prstGeom>
          <a:solidFill>
            <a:srgbClr val="FF7A00"/>
          </a:solidFill>
          <a:ln w="12700">
            <a:solidFill>
              <a:srgbClr val="FF7A00"/>
            </a:solidFill>
            <a:prstDash val="solid"/>
          </a:ln>
        </p:spPr>
      </p:sp>
      <p:sp>
        <p:nvSpPr>
          <p:cNvPr id="18" name="Shape 16"/>
          <p:cNvSpPr/>
          <p:nvPr/>
        </p:nvSpPr>
        <p:spPr>
          <a:xfrm>
            <a:off x="4800600" y="1207008"/>
            <a:ext cx="1261872"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9" name="Text 17"/>
          <p:cNvSpPr/>
          <p:nvPr/>
        </p:nvSpPr>
        <p:spPr>
          <a:xfrm>
            <a:off x="4800600" y="1261872"/>
            <a:ext cx="12618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4800600" y="1645920"/>
            <a:ext cx="1261872" cy="420624"/>
          </a:xfrm>
          <a:prstGeom prst="rect">
            <a:avLst/>
          </a:prstGeom>
          <a:noFill/>
          <a:ln/>
        </p:spPr>
        <p:txBody>
          <a:bodyPr wrap="square" rtlCol="0" anchor="ctr"/>
          <a:lstStyle/>
          <a:p>
            <a:pPr marL="0" indent="0" algn="ctr">
              <a:buNone/>
            </a:pPr>
            <a:r>
              <a:rPr lang="en-US" sz="900" dirty="0">
                <a:solidFill>
                  <a:srgbClr val="E8EDF7"/>
                </a:solidFill>
              </a:rPr>
              <a:t>Feature</a:t>
            </a:r>
            <a:endParaRPr lang="en-US" sz="900" dirty="0"/>
          </a:p>
          <a:p>
            <a:pPr marL="0" indent="0" algn="ctr">
              <a:buNone/>
            </a:pPr>
            <a:r>
              <a:rPr lang="en-US" sz="900" dirty="0">
                <a:solidFill>
                  <a:srgbClr val="E8EDF7"/>
                </a:solidFill>
              </a:rPr>
              <a:t>Engineering</a:t>
            </a:r>
            <a:endParaRPr lang="en-US" sz="900" dirty="0"/>
          </a:p>
        </p:txBody>
      </p:sp>
      <p:sp>
        <p:nvSpPr>
          <p:cNvPr id="21" name="Shape 19"/>
          <p:cNvSpPr/>
          <p:nvPr/>
        </p:nvSpPr>
        <p:spPr>
          <a:xfrm>
            <a:off x="6062472" y="1600200"/>
            <a:ext cx="201168" cy="54864"/>
          </a:xfrm>
          <a:prstGeom prst="rect">
            <a:avLst/>
          </a:prstGeom>
          <a:solidFill>
            <a:srgbClr val="FF7A00"/>
          </a:solidFill>
          <a:ln w="12700">
            <a:solidFill>
              <a:srgbClr val="FF7A00"/>
            </a:solidFill>
            <a:prstDash val="solid"/>
          </a:ln>
        </p:spPr>
      </p:sp>
      <p:sp>
        <p:nvSpPr>
          <p:cNvPr id="22" name="Shape 20"/>
          <p:cNvSpPr/>
          <p:nvPr/>
        </p:nvSpPr>
        <p:spPr>
          <a:xfrm>
            <a:off x="6263640" y="1207008"/>
            <a:ext cx="1261872" cy="914400"/>
          </a:xfrm>
          <a:prstGeom prst="rect">
            <a:avLst/>
          </a:prstGeom>
          <a:solidFill>
            <a:srgbClr val="112266"/>
          </a:solidFill>
          <a:ln w="25400">
            <a:solidFill>
              <a:srgbClr val="FF7A00"/>
            </a:solidFill>
            <a:prstDash val="solid"/>
          </a:ln>
          <a:effectLst>
            <a:outerShdw blurRad="101600" dist="38100" dir="8100000" algn="bl" rotWithShape="0">
              <a:srgbClr val="000000">
                <a:alpha val="20000"/>
              </a:srgbClr>
            </a:outerShdw>
          </a:effectLst>
        </p:spPr>
      </p:sp>
      <p:sp>
        <p:nvSpPr>
          <p:cNvPr id="23" name="Text 21"/>
          <p:cNvSpPr/>
          <p:nvPr/>
        </p:nvSpPr>
        <p:spPr>
          <a:xfrm>
            <a:off x="6263640" y="1261872"/>
            <a:ext cx="12618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4" name="Text 22"/>
          <p:cNvSpPr/>
          <p:nvPr/>
        </p:nvSpPr>
        <p:spPr>
          <a:xfrm>
            <a:off x="6263640" y="1645920"/>
            <a:ext cx="1261872" cy="420624"/>
          </a:xfrm>
          <a:prstGeom prst="rect">
            <a:avLst/>
          </a:prstGeom>
          <a:noFill/>
          <a:ln/>
        </p:spPr>
        <p:txBody>
          <a:bodyPr wrap="square" rtlCol="0" anchor="ctr"/>
          <a:lstStyle/>
          <a:p>
            <a:pPr marL="0" indent="0" algn="ctr">
              <a:buNone/>
            </a:pPr>
            <a:r>
              <a:rPr lang="en-US" sz="900" dirty="0">
                <a:solidFill>
                  <a:srgbClr val="E8EDF7"/>
                </a:solidFill>
              </a:rPr>
              <a:t>RF Model</a:t>
            </a:r>
            <a:endParaRPr lang="en-US" sz="900" dirty="0"/>
          </a:p>
          <a:p>
            <a:pPr marL="0" indent="0" algn="ctr">
              <a:buNone/>
            </a:pPr>
            <a:r>
              <a:rPr lang="en-US" sz="900" dirty="0">
                <a:solidFill>
                  <a:srgbClr val="E8EDF7"/>
                </a:solidFill>
              </a:rPr>
              <a:t>Training</a:t>
            </a:r>
            <a:endParaRPr lang="en-US" sz="900" dirty="0"/>
          </a:p>
        </p:txBody>
      </p:sp>
      <p:sp>
        <p:nvSpPr>
          <p:cNvPr id="25" name="Shape 23"/>
          <p:cNvSpPr/>
          <p:nvPr/>
        </p:nvSpPr>
        <p:spPr>
          <a:xfrm>
            <a:off x="7525512" y="1600200"/>
            <a:ext cx="201168" cy="54864"/>
          </a:xfrm>
          <a:prstGeom prst="rect">
            <a:avLst/>
          </a:prstGeom>
          <a:solidFill>
            <a:srgbClr val="FF7A00"/>
          </a:solidFill>
          <a:ln w="12700">
            <a:solidFill>
              <a:srgbClr val="FF7A00"/>
            </a:solidFill>
            <a:prstDash val="solid"/>
          </a:ln>
        </p:spPr>
      </p:sp>
      <p:sp>
        <p:nvSpPr>
          <p:cNvPr id="26" name="Shape 24"/>
          <p:cNvSpPr/>
          <p:nvPr/>
        </p:nvSpPr>
        <p:spPr>
          <a:xfrm>
            <a:off x="7726680" y="1207008"/>
            <a:ext cx="1261872"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7" name="Text 25"/>
          <p:cNvSpPr/>
          <p:nvPr/>
        </p:nvSpPr>
        <p:spPr>
          <a:xfrm>
            <a:off x="7726680" y="1261872"/>
            <a:ext cx="12618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8" name="Text 26"/>
          <p:cNvSpPr/>
          <p:nvPr/>
        </p:nvSpPr>
        <p:spPr>
          <a:xfrm>
            <a:off x="7726680" y="1645920"/>
            <a:ext cx="1261872" cy="420624"/>
          </a:xfrm>
          <a:prstGeom prst="rect">
            <a:avLst/>
          </a:prstGeom>
          <a:noFill/>
          <a:ln/>
        </p:spPr>
        <p:txBody>
          <a:bodyPr wrap="square" rtlCol="0" anchor="ctr"/>
          <a:lstStyle/>
          <a:p>
            <a:pPr marL="0" indent="0" algn="ctr">
              <a:buNone/>
            </a:pPr>
            <a:r>
              <a:rPr lang="en-US" sz="900" dirty="0">
                <a:solidFill>
                  <a:srgbClr val="E8EDF7"/>
                </a:solidFill>
              </a:rPr>
              <a:t>DSS</a:t>
            </a:r>
            <a:endParaRPr lang="en-US" sz="900" dirty="0"/>
          </a:p>
          <a:p>
            <a:pPr marL="0" indent="0" algn="ctr">
              <a:buNone/>
            </a:pPr>
            <a:r>
              <a:rPr lang="en-US" sz="900" dirty="0">
                <a:solidFill>
                  <a:srgbClr val="E8EDF7"/>
                </a:solidFill>
              </a:rPr>
              <a:t>Output</a:t>
            </a:r>
            <a:endParaRPr lang="en-US" sz="900" dirty="0"/>
          </a:p>
        </p:txBody>
      </p:sp>
      <p:sp>
        <p:nvSpPr>
          <p:cNvPr id="29" name="Shape 27"/>
          <p:cNvSpPr/>
          <p:nvPr/>
        </p:nvSpPr>
        <p:spPr>
          <a:xfrm>
            <a:off x="411480" y="2331720"/>
            <a:ext cx="5120640" cy="2514600"/>
          </a:xfrm>
          <a:prstGeom prst="rect">
            <a:avLst/>
          </a:prstGeom>
          <a:solidFill>
            <a:srgbClr val="0D1B45"/>
          </a:solidFill>
          <a:ln w="12700">
            <a:solidFill>
              <a:srgbClr val="FF7A00"/>
            </a:solidFill>
            <a:prstDash val="solid"/>
          </a:ln>
          <a:effectLst>
            <a:outerShdw blurRad="101600" dist="38100" dir="8100000" algn="bl" rotWithShape="0">
              <a:srgbClr val="000000">
                <a:alpha val="20000"/>
              </a:srgbClr>
            </a:outerShdw>
          </a:effectLst>
        </p:spPr>
      </p:sp>
      <p:sp>
        <p:nvSpPr>
          <p:cNvPr id="30" name="Shape 28"/>
          <p:cNvSpPr/>
          <p:nvPr/>
        </p:nvSpPr>
        <p:spPr>
          <a:xfrm>
            <a:off x="411480" y="2331720"/>
            <a:ext cx="5120640" cy="54864"/>
          </a:xfrm>
          <a:prstGeom prst="rect">
            <a:avLst/>
          </a:prstGeom>
          <a:solidFill>
            <a:srgbClr val="FF7A00"/>
          </a:solidFill>
          <a:ln w="12700">
            <a:solidFill>
              <a:srgbClr val="FF7A00"/>
            </a:solidFill>
            <a:prstDash val="solid"/>
          </a:ln>
        </p:spPr>
      </p:sp>
      <p:sp>
        <p:nvSpPr>
          <p:cNvPr id="31" name="Shape 29"/>
          <p:cNvSpPr/>
          <p:nvPr/>
        </p:nvSpPr>
        <p:spPr>
          <a:xfrm>
            <a:off x="411480" y="2331720"/>
            <a:ext cx="5120640" cy="54864"/>
          </a:xfrm>
          <a:prstGeom prst="rect">
            <a:avLst/>
          </a:prstGeom>
          <a:solidFill>
            <a:srgbClr val="FF7A00"/>
          </a:solidFill>
          <a:ln w="12700">
            <a:solidFill>
              <a:srgbClr val="FF7A00"/>
            </a:solidFill>
            <a:prstDash val="solid"/>
          </a:ln>
        </p:spPr>
      </p:sp>
      <p:sp>
        <p:nvSpPr>
          <p:cNvPr id="32" name="Text 30"/>
          <p:cNvSpPr/>
          <p:nvPr/>
        </p:nvSpPr>
        <p:spPr>
          <a:xfrm>
            <a:off x="548640" y="2423160"/>
            <a:ext cx="4846320" cy="274320"/>
          </a:xfrm>
          <a:prstGeom prst="rect">
            <a:avLst/>
          </a:prstGeom>
          <a:noFill/>
          <a:ln/>
        </p:spPr>
        <p:txBody>
          <a:bodyPr wrap="square" rtlCol="0" anchor="ctr"/>
          <a:lstStyle/>
          <a:p>
            <a:pPr marL="0" indent="0">
              <a:buNone/>
            </a:pPr>
            <a:r>
              <a:rPr lang="en-US" sz="1200" b="1" dirty="0">
                <a:solidFill>
                  <a:srgbClr val="FF7A00"/>
                </a:solidFill>
              </a:rPr>
              <a:t>Custom Feature: Engagement Score</a:t>
            </a:r>
            <a:endParaRPr lang="en-US" sz="1200" dirty="0"/>
          </a:p>
        </p:txBody>
      </p:sp>
      <p:sp>
        <p:nvSpPr>
          <p:cNvPr id="33" name="Shape 31"/>
          <p:cNvSpPr/>
          <p:nvPr/>
        </p:nvSpPr>
        <p:spPr>
          <a:xfrm>
            <a:off x="548640" y="2788920"/>
            <a:ext cx="4846320" cy="594360"/>
          </a:xfrm>
          <a:prstGeom prst="rect">
            <a:avLst/>
          </a:prstGeom>
          <a:solidFill>
            <a:srgbClr val="060D20"/>
          </a:solidFill>
          <a:ln w="12700">
            <a:solidFill>
              <a:srgbClr val="FF7A00"/>
            </a:solidFill>
            <a:prstDash val="solid"/>
          </a:ln>
        </p:spPr>
      </p:sp>
      <p:sp>
        <p:nvSpPr>
          <p:cNvPr id="34" name="Text 32"/>
          <p:cNvSpPr/>
          <p:nvPr/>
        </p:nvSpPr>
        <p:spPr>
          <a:xfrm>
            <a:off x="594360" y="2834640"/>
            <a:ext cx="4754880" cy="502920"/>
          </a:xfrm>
          <a:prstGeom prst="rect">
            <a:avLst/>
          </a:prstGeom>
          <a:noFill/>
          <a:ln/>
        </p:spPr>
        <p:txBody>
          <a:bodyPr wrap="square" rtlCol="0" anchor="ctr"/>
          <a:lstStyle/>
          <a:p>
            <a:pPr marL="0" indent="0" algn="ctr">
              <a:buNone/>
            </a:pPr>
            <a:r>
              <a:rPr lang="en-US" sz="1400" b="1" dirty="0">
                <a:solidFill>
                  <a:srgbClr val="FF7A00"/>
                </a:solidFill>
                <a:latin typeface="Courier New" pitchFamily="34" charset="0"/>
                <a:ea typeface="Courier New" pitchFamily="34" charset="-122"/>
                <a:cs typeface="Courier New" pitchFamily="34" charset="-120"/>
              </a:rPr>
              <a:t>EngagementScore = 0.45(T₀) + 0.35(V₀) + 0.20(P₀)</a:t>
            </a:r>
            <a:endParaRPr lang="en-US" sz="1400" dirty="0"/>
          </a:p>
        </p:txBody>
      </p:sp>
      <p:sp>
        <p:nvSpPr>
          <p:cNvPr id="35" name="Text 33"/>
          <p:cNvSpPr/>
          <p:nvPr/>
        </p:nvSpPr>
        <p:spPr>
          <a:xfrm>
            <a:off x="548640" y="3456432"/>
            <a:ext cx="4846320" cy="1188720"/>
          </a:xfrm>
          <a:prstGeom prst="rect">
            <a:avLst/>
          </a:prstGeom>
          <a:noFill/>
          <a:ln/>
        </p:spPr>
        <p:txBody>
          <a:bodyPr wrap="square" rtlCol="0" anchor="ctr"/>
          <a:lstStyle/>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T₀ = Normalised Total Time Spent on Website  [Weight: 45%]</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V₀ = Normalised Total Visits  [Weight: 35%]</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P₀ = Normalised Page Views per Visit  [Weight: 20%]</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MinMaxScaler applied before aggregation → score ∈ [0, 1]</a:t>
            </a:r>
            <a:endParaRPr lang="en-US" sz="1200" dirty="0"/>
          </a:p>
        </p:txBody>
      </p:sp>
      <p:sp>
        <p:nvSpPr>
          <p:cNvPr id="36" name="Shape 34"/>
          <p:cNvSpPr/>
          <p:nvPr/>
        </p:nvSpPr>
        <p:spPr>
          <a:xfrm>
            <a:off x="5715000" y="2331720"/>
            <a:ext cx="3017520" cy="2514600"/>
          </a:xfrm>
          <a:prstGeom prst="rect">
            <a:avLst/>
          </a:prstGeom>
          <a:solidFill>
            <a:srgbClr val="0D1B45"/>
          </a:solidFill>
          <a:ln w="12700">
            <a:solidFill>
              <a:srgbClr val="00C8E0"/>
            </a:solidFill>
            <a:prstDash val="solid"/>
          </a:ln>
          <a:effectLst>
            <a:outerShdw blurRad="101600" dist="38100" dir="8100000" algn="bl" rotWithShape="0">
              <a:srgbClr val="000000">
                <a:alpha val="20000"/>
              </a:srgbClr>
            </a:outerShdw>
          </a:effectLst>
        </p:spPr>
      </p:sp>
      <p:sp>
        <p:nvSpPr>
          <p:cNvPr id="37" name="Shape 35"/>
          <p:cNvSpPr/>
          <p:nvPr/>
        </p:nvSpPr>
        <p:spPr>
          <a:xfrm>
            <a:off x="5715000" y="2331720"/>
            <a:ext cx="3017520" cy="54864"/>
          </a:xfrm>
          <a:prstGeom prst="rect">
            <a:avLst/>
          </a:prstGeom>
          <a:solidFill>
            <a:srgbClr val="00C8E0"/>
          </a:solidFill>
          <a:ln w="12700">
            <a:solidFill>
              <a:srgbClr val="00C8E0"/>
            </a:solidFill>
            <a:prstDash val="solid"/>
          </a:ln>
        </p:spPr>
      </p:sp>
      <p:sp>
        <p:nvSpPr>
          <p:cNvPr id="38" name="Text 36"/>
          <p:cNvSpPr/>
          <p:nvPr/>
        </p:nvSpPr>
        <p:spPr>
          <a:xfrm>
            <a:off x="5852160" y="2423160"/>
            <a:ext cx="2743200" cy="274320"/>
          </a:xfrm>
          <a:prstGeom prst="rect">
            <a:avLst/>
          </a:prstGeom>
          <a:noFill/>
          <a:ln/>
        </p:spPr>
        <p:txBody>
          <a:bodyPr wrap="square" rtlCol="0" anchor="ctr"/>
          <a:lstStyle/>
          <a:p>
            <a:pPr marL="0" indent="0">
              <a:buNone/>
            </a:pPr>
            <a:r>
              <a:rPr lang="en-US" sz="1200" b="1" dirty="0">
                <a:solidFill>
                  <a:srgbClr val="00C8E0"/>
                </a:solidFill>
              </a:rPr>
              <a:t>Technical Methods</a:t>
            </a:r>
            <a:endParaRPr lang="en-US" sz="1200" dirty="0"/>
          </a:p>
        </p:txBody>
      </p:sp>
      <p:sp>
        <p:nvSpPr>
          <p:cNvPr id="39" name="Text 37"/>
          <p:cNvSpPr/>
          <p:nvPr/>
        </p:nvSpPr>
        <p:spPr>
          <a:xfrm>
            <a:off x="5852160" y="2834640"/>
            <a:ext cx="2743200" cy="1737360"/>
          </a:xfrm>
          <a:prstGeom prst="rect">
            <a:avLst/>
          </a:prstGeom>
          <a:noFill/>
          <a:ln/>
        </p:spPr>
        <p:txBody>
          <a:bodyPr wrap="square" rtlCol="0" anchor="ctr"/>
          <a:lstStyle/>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Binary Encoding</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One-Hot Encoding</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StandardScaler</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MinMaxScaler</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70/30 Stratified Split</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Class Weight Balancing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TECHNOLOGY STACK</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Libraries, Tools &amp; ML Framework</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5 / 11</a:t>
            </a:r>
            <a:endParaRPr lang="en-US" sz="800" dirty="0"/>
          </a:p>
        </p:txBody>
      </p:sp>
      <p:sp>
        <p:nvSpPr>
          <p:cNvPr id="6" name="Shape 4"/>
          <p:cNvSpPr/>
          <p:nvPr/>
        </p:nvSpPr>
        <p:spPr>
          <a:xfrm>
            <a:off x="411480" y="1234440"/>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7" name="Shape 5"/>
          <p:cNvSpPr/>
          <p:nvPr/>
        </p:nvSpPr>
        <p:spPr>
          <a:xfrm>
            <a:off x="411480" y="1234440"/>
            <a:ext cx="64008" cy="704088"/>
          </a:xfrm>
          <a:prstGeom prst="rect">
            <a:avLst/>
          </a:prstGeom>
          <a:solidFill>
            <a:srgbClr val="FF7A00"/>
          </a:solidFill>
          <a:ln w="12700">
            <a:solidFill>
              <a:srgbClr val="FF7A00"/>
            </a:solidFill>
            <a:prstDash val="solid"/>
          </a:ln>
        </p:spPr>
      </p:sp>
      <p:sp>
        <p:nvSpPr>
          <p:cNvPr id="8" name="Text 6"/>
          <p:cNvSpPr/>
          <p:nvPr/>
        </p:nvSpPr>
        <p:spPr>
          <a:xfrm>
            <a:off x="612648" y="1325880"/>
            <a:ext cx="1371600" cy="256032"/>
          </a:xfrm>
          <a:prstGeom prst="rect">
            <a:avLst/>
          </a:prstGeom>
          <a:noFill/>
          <a:ln/>
        </p:spPr>
        <p:txBody>
          <a:bodyPr wrap="square" rtlCol="0" anchor="ctr"/>
          <a:lstStyle/>
          <a:p>
            <a:pPr marL="0" indent="0">
              <a:buNone/>
            </a:pPr>
            <a:r>
              <a:rPr lang="en-US" sz="1200" b="1" dirty="0">
                <a:solidFill>
                  <a:srgbClr val="FF7A00"/>
                </a:solidFill>
              </a:rPr>
              <a:t>pandas</a:t>
            </a:r>
            <a:endParaRPr lang="en-US" sz="1200" dirty="0"/>
          </a:p>
        </p:txBody>
      </p:sp>
      <p:sp>
        <p:nvSpPr>
          <p:cNvPr id="9" name="Text 7"/>
          <p:cNvSpPr/>
          <p:nvPr/>
        </p:nvSpPr>
        <p:spPr>
          <a:xfrm>
            <a:off x="612648" y="1600200"/>
            <a:ext cx="3749040" cy="256032"/>
          </a:xfrm>
          <a:prstGeom prst="rect">
            <a:avLst/>
          </a:prstGeom>
          <a:noFill/>
          <a:ln/>
        </p:spPr>
        <p:txBody>
          <a:bodyPr wrap="square" rtlCol="0" anchor="ctr"/>
          <a:lstStyle/>
          <a:p>
            <a:pPr marL="0" indent="0">
              <a:buNone/>
            </a:pPr>
            <a:r>
              <a:rPr lang="en-US" sz="1000" dirty="0">
                <a:solidFill>
                  <a:srgbClr val="8899BB"/>
                </a:solidFill>
              </a:rPr>
              <a:t>Preprocessing &amp; cleansing large customer lead datasets</a:t>
            </a:r>
            <a:endParaRPr lang="en-US" sz="1000" dirty="0"/>
          </a:p>
        </p:txBody>
      </p:sp>
      <p:sp>
        <p:nvSpPr>
          <p:cNvPr id="10" name="Shape 8"/>
          <p:cNvSpPr/>
          <p:nvPr/>
        </p:nvSpPr>
        <p:spPr>
          <a:xfrm>
            <a:off x="411480" y="2121408"/>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1" name="Shape 9"/>
          <p:cNvSpPr/>
          <p:nvPr/>
        </p:nvSpPr>
        <p:spPr>
          <a:xfrm>
            <a:off x="411480" y="2121408"/>
            <a:ext cx="64008" cy="704088"/>
          </a:xfrm>
          <a:prstGeom prst="rect">
            <a:avLst/>
          </a:prstGeom>
          <a:solidFill>
            <a:srgbClr val="FF7A00"/>
          </a:solidFill>
          <a:ln w="12700">
            <a:solidFill>
              <a:srgbClr val="FF7A00"/>
            </a:solidFill>
            <a:prstDash val="solid"/>
          </a:ln>
        </p:spPr>
      </p:sp>
      <p:sp>
        <p:nvSpPr>
          <p:cNvPr id="12" name="Text 10"/>
          <p:cNvSpPr/>
          <p:nvPr/>
        </p:nvSpPr>
        <p:spPr>
          <a:xfrm>
            <a:off x="612648" y="2212848"/>
            <a:ext cx="1371600" cy="256032"/>
          </a:xfrm>
          <a:prstGeom prst="rect">
            <a:avLst/>
          </a:prstGeom>
          <a:noFill/>
          <a:ln/>
        </p:spPr>
        <p:txBody>
          <a:bodyPr wrap="square" rtlCol="0" anchor="ctr"/>
          <a:lstStyle/>
          <a:p>
            <a:pPr marL="0" indent="0">
              <a:buNone/>
            </a:pPr>
            <a:r>
              <a:rPr lang="en-US" sz="1200" b="1" dirty="0">
                <a:solidFill>
                  <a:srgbClr val="FF7A00"/>
                </a:solidFill>
              </a:rPr>
              <a:t>numpy</a:t>
            </a:r>
            <a:endParaRPr lang="en-US" sz="1200" dirty="0"/>
          </a:p>
        </p:txBody>
      </p:sp>
      <p:sp>
        <p:nvSpPr>
          <p:cNvPr id="13" name="Text 11"/>
          <p:cNvSpPr/>
          <p:nvPr/>
        </p:nvSpPr>
        <p:spPr>
          <a:xfrm>
            <a:off x="612648" y="2487168"/>
            <a:ext cx="3749040" cy="256032"/>
          </a:xfrm>
          <a:prstGeom prst="rect">
            <a:avLst/>
          </a:prstGeom>
          <a:noFill/>
          <a:ln/>
        </p:spPr>
        <p:txBody>
          <a:bodyPr wrap="square" rtlCol="0" anchor="ctr"/>
          <a:lstStyle/>
          <a:p>
            <a:pPr marL="0" indent="0">
              <a:buNone/>
            </a:pPr>
            <a:r>
              <a:rPr lang="en-US" sz="1000" dirty="0">
                <a:solidFill>
                  <a:srgbClr val="8899BB"/>
                </a:solidFill>
              </a:rPr>
              <a:t>Numerical computation for feature engineering &amp; scoring</a:t>
            </a:r>
            <a:endParaRPr lang="en-US" sz="1000" dirty="0"/>
          </a:p>
        </p:txBody>
      </p:sp>
      <p:sp>
        <p:nvSpPr>
          <p:cNvPr id="14" name="Shape 12"/>
          <p:cNvSpPr/>
          <p:nvPr/>
        </p:nvSpPr>
        <p:spPr>
          <a:xfrm>
            <a:off x="411480" y="3008376"/>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5" name="Shape 13"/>
          <p:cNvSpPr/>
          <p:nvPr/>
        </p:nvSpPr>
        <p:spPr>
          <a:xfrm>
            <a:off x="411480" y="3008376"/>
            <a:ext cx="64008" cy="704088"/>
          </a:xfrm>
          <a:prstGeom prst="rect">
            <a:avLst/>
          </a:prstGeom>
          <a:solidFill>
            <a:srgbClr val="00C8E0"/>
          </a:solidFill>
          <a:ln w="12700">
            <a:solidFill>
              <a:srgbClr val="00C8E0"/>
            </a:solidFill>
            <a:prstDash val="solid"/>
          </a:ln>
        </p:spPr>
      </p:sp>
      <p:sp>
        <p:nvSpPr>
          <p:cNvPr id="16" name="Text 14"/>
          <p:cNvSpPr/>
          <p:nvPr/>
        </p:nvSpPr>
        <p:spPr>
          <a:xfrm>
            <a:off x="612648" y="3099816"/>
            <a:ext cx="1371600" cy="256032"/>
          </a:xfrm>
          <a:prstGeom prst="rect">
            <a:avLst/>
          </a:prstGeom>
          <a:noFill/>
          <a:ln/>
        </p:spPr>
        <p:txBody>
          <a:bodyPr wrap="square" rtlCol="0" anchor="ctr"/>
          <a:lstStyle/>
          <a:p>
            <a:pPr marL="0" indent="0">
              <a:buNone/>
            </a:pPr>
            <a:r>
              <a:rPr lang="en-US" sz="1200" b="1" dirty="0">
                <a:solidFill>
                  <a:srgbClr val="00C8E0"/>
                </a:solidFill>
              </a:rPr>
              <a:t>scikit-learn</a:t>
            </a:r>
            <a:endParaRPr lang="en-US" sz="1200" dirty="0"/>
          </a:p>
        </p:txBody>
      </p:sp>
      <p:sp>
        <p:nvSpPr>
          <p:cNvPr id="17" name="Text 15"/>
          <p:cNvSpPr/>
          <p:nvPr/>
        </p:nvSpPr>
        <p:spPr>
          <a:xfrm>
            <a:off x="612648" y="3374136"/>
            <a:ext cx="3749040" cy="256032"/>
          </a:xfrm>
          <a:prstGeom prst="rect">
            <a:avLst/>
          </a:prstGeom>
          <a:noFill/>
          <a:ln/>
        </p:spPr>
        <p:txBody>
          <a:bodyPr wrap="square" rtlCol="0" anchor="ctr"/>
          <a:lstStyle/>
          <a:p>
            <a:pPr marL="0" indent="0">
              <a:buNone/>
            </a:pPr>
            <a:r>
              <a:rPr lang="en-US" sz="1000" dirty="0">
                <a:solidFill>
                  <a:srgbClr val="8899BB"/>
                </a:solidFill>
              </a:rPr>
              <a:t>Predictive lead conversion modeling &amp; evaluation</a:t>
            </a:r>
            <a:endParaRPr lang="en-US" sz="1000" dirty="0"/>
          </a:p>
        </p:txBody>
      </p:sp>
      <p:sp>
        <p:nvSpPr>
          <p:cNvPr id="18" name="Shape 16"/>
          <p:cNvSpPr/>
          <p:nvPr/>
        </p:nvSpPr>
        <p:spPr>
          <a:xfrm>
            <a:off x="411480" y="3895344"/>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9" name="Shape 17"/>
          <p:cNvSpPr/>
          <p:nvPr/>
        </p:nvSpPr>
        <p:spPr>
          <a:xfrm>
            <a:off x="411480" y="3895344"/>
            <a:ext cx="64008" cy="704088"/>
          </a:xfrm>
          <a:prstGeom prst="rect">
            <a:avLst/>
          </a:prstGeom>
          <a:solidFill>
            <a:srgbClr val="00C8E0"/>
          </a:solidFill>
          <a:ln w="12700">
            <a:solidFill>
              <a:srgbClr val="00C8E0"/>
            </a:solidFill>
            <a:prstDash val="solid"/>
          </a:ln>
        </p:spPr>
      </p:sp>
      <p:sp>
        <p:nvSpPr>
          <p:cNvPr id="20" name="Text 18"/>
          <p:cNvSpPr/>
          <p:nvPr/>
        </p:nvSpPr>
        <p:spPr>
          <a:xfrm>
            <a:off x="612648" y="3986784"/>
            <a:ext cx="1371600" cy="256032"/>
          </a:xfrm>
          <a:prstGeom prst="rect">
            <a:avLst/>
          </a:prstGeom>
          <a:noFill/>
          <a:ln/>
        </p:spPr>
        <p:txBody>
          <a:bodyPr wrap="square" rtlCol="0" anchor="ctr"/>
          <a:lstStyle/>
          <a:p>
            <a:pPr marL="0" indent="0">
              <a:buNone/>
            </a:pPr>
            <a:r>
              <a:rPr lang="en-US" sz="1200" b="1" dirty="0">
                <a:solidFill>
                  <a:srgbClr val="00C8E0"/>
                </a:solidFill>
              </a:rPr>
              <a:t>matplotlib</a:t>
            </a:r>
            <a:endParaRPr lang="en-US" sz="1200" dirty="0"/>
          </a:p>
        </p:txBody>
      </p:sp>
      <p:sp>
        <p:nvSpPr>
          <p:cNvPr id="21" name="Text 19"/>
          <p:cNvSpPr/>
          <p:nvPr/>
        </p:nvSpPr>
        <p:spPr>
          <a:xfrm>
            <a:off x="612648" y="4261104"/>
            <a:ext cx="3749040" cy="256032"/>
          </a:xfrm>
          <a:prstGeom prst="rect">
            <a:avLst/>
          </a:prstGeom>
          <a:noFill/>
          <a:ln/>
        </p:spPr>
        <p:txBody>
          <a:bodyPr wrap="square" rtlCol="0" anchor="ctr"/>
          <a:lstStyle/>
          <a:p>
            <a:pPr marL="0" indent="0">
              <a:buNone/>
            </a:pPr>
            <a:r>
              <a:rPr lang="en-US" sz="1000" dirty="0">
                <a:solidFill>
                  <a:srgbClr val="8899BB"/>
                </a:solidFill>
              </a:rPr>
              <a:t>Business performance visualization (ROC, importance charts)</a:t>
            </a:r>
            <a:endParaRPr lang="en-US" sz="1000" dirty="0"/>
          </a:p>
        </p:txBody>
      </p:sp>
      <p:sp>
        <p:nvSpPr>
          <p:cNvPr id="22" name="Shape 20"/>
          <p:cNvSpPr/>
          <p:nvPr/>
        </p:nvSpPr>
        <p:spPr>
          <a:xfrm>
            <a:off x="4663440" y="1234440"/>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3" name="Shape 21"/>
          <p:cNvSpPr/>
          <p:nvPr/>
        </p:nvSpPr>
        <p:spPr>
          <a:xfrm>
            <a:off x="4663440" y="1234440"/>
            <a:ext cx="64008" cy="704088"/>
          </a:xfrm>
          <a:prstGeom prst="rect">
            <a:avLst/>
          </a:prstGeom>
          <a:solidFill>
            <a:srgbClr val="00C8E0"/>
          </a:solidFill>
          <a:ln w="12700">
            <a:solidFill>
              <a:srgbClr val="00C8E0"/>
            </a:solidFill>
            <a:prstDash val="solid"/>
          </a:ln>
        </p:spPr>
      </p:sp>
      <p:sp>
        <p:nvSpPr>
          <p:cNvPr id="24" name="Text 22"/>
          <p:cNvSpPr/>
          <p:nvPr/>
        </p:nvSpPr>
        <p:spPr>
          <a:xfrm>
            <a:off x="4864608" y="1325880"/>
            <a:ext cx="1371600" cy="256032"/>
          </a:xfrm>
          <a:prstGeom prst="rect">
            <a:avLst/>
          </a:prstGeom>
          <a:noFill/>
          <a:ln/>
        </p:spPr>
        <p:txBody>
          <a:bodyPr wrap="square" rtlCol="0" anchor="ctr"/>
          <a:lstStyle/>
          <a:p>
            <a:pPr marL="0" indent="0">
              <a:buNone/>
            </a:pPr>
            <a:r>
              <a:rPr lang="en-US" sz="1200" b="1" dirty="0">
                <a:solidFill>
                  <a:srgbClr val="00C8E0"/>
                </a:solidFill>
              </a:rPr>
              <a:t>seaborn</a:t>
            </a:r>
            <a:endParaRPr lang="en-US" sz="1200" dirty="0"/>
          </a:p>
        </p:txBody>
      </p:sp>
      <p:sp>
        <p:nvSpPr>
          <p:cNvPr id="25" name="Text 23"/>
          <p:cNvSpPr/>
          <p:nvPr/>
        </p:nvSpPr>
        <p:spPr>
          <a:xfrm>
            <a:off x="4864608" y="1600200"/>
            <a:ext cx="3749040" cy="256032"/>
          </a:xfrm>
          <a:prstGeom prst="rect">
            <a:avLst/>
          </a:prstGeom>
          <a:noFill/>
          <a:ln/>
        </p:spPr>
        <p:txBody>
          <a:bodyPr wrap="square" rtlCol="0" anchor="ctr"/>
          <a:lstStyle/>
          <a:p>
            <a:pPr marL="0" indent="0">
              <a:buNone/>
            </a:pPr>
            <a:r>
              <a:rPr lang="en-US" sz="1000" dirty="0">
                <a:solidFill>
                  <a:srgbClr val="8899BB"/>
                </a:solidFill>
              </a:rPr>
              <a:t>Statistical visualization of conversion patterns</a:t>
            </a:r>
            <a:endParaRPr lang="en-US" sz="1000" dirty="0"/>
          </a:p>
        </p:txBody>
      </p:sp>
      <p:sp>
        <p:nvSpPr>
          <p:cNvPr id="26" name="Shape 24"/>
          <p:cNvSpPr/>
          <p:nvPr/>
        </p:nvSpPr>
        <p:spPr>
          <a:xfrm>
            <a:off x="4663440" y="2121408"/>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7" name="Shape 25"/>
          <p:cNvSpPr/>
          <p:nvPr/>
        </p:nvSpPr>
        <p:spPr>
          <a:xfrm>
            <a:off x="4663440" y="2121408"/>
            <a:ext cx="64008" cy="704088"/>
          </a:xfrm>
          <a:prstGeom prst="rect">
            <a:avLst/>
          </a:prstGeom>
          <a:solidFill>
            <a:srgbClr val="00C48C"/>
          </a:solidFill>
          <a:ln w="12700">
            <a:solidFill>
              <a:srgbClr val="00C48C"/>
            </a:solidFill>
            <a:prstDash val="solid"/>
          </a:ln>
        </p:spPr>
      </p:sp>
      <p:sp>
        <p:nvSpPr>
          <p:cNvPr id="28" name="Text 26"/>
          <p:cNvSpPr/>
          <p:nvPr/>
        </p:nvSpPr>
        <p:spPr>
          <a:xfrm>
            <a:off x="4864608" y="2212848"/>
            <a:ext cx="1371600" cy="256032"/>
          </a:xfrm>
          <a:prstGeom prst="rect">
            <a:avLst/>
          </a:prstGeom>
          <a:noFill/>
          <a:ln/>
        </p:spPr>
        <p:txBody>
          <a:bodyPr wrap="square" rtlCol="0" anchor="ctr"/>
          <a:lstStyle/>
          <a:p>
            <a:pPr marL="0" indent="0">
              <a:buNone/>
            </a:pPr>
            <a:r>
              <a:rPr lang="en-US" sz="1200" b="1" dirty="0">
                <a:solidFill>
                  <a:srgbClr val="00C48C"/>
                </a:solidFill>
              </a:rPr>
              <a:t>joblib</a:t>
            </a:r>
            <a:endParaRPr lang="en-US" sz="1200" dirty="0"/>
          </a:p>
        </p:txBody>
      </p:sp>
      <p:sp>
        <p:nvSpPr>
          <p:cNvPr id="29" name="Text 27"/>
          <p:cNvSpPr/>
          <p:nvPr/>
        </p:nvSpPr>
        <p:spPr>
          <a:xfrm>
            <a:off x="4864608" y="2487168"/>
            <a:ext cx="3749040" cy="256032"/>
          </a:xfrm>
          <a:prstGeom prst="rect">
            <a:avLst/>
          </a:prstGeom>
          <a:noFill/>
          <a:ln/>
        </p:spPr>
        <p:txBody>
          <a:bodyPr wrap="square" rtlCol="0" anchor="ctr"/>
          <a:lstStyle/>
          <a:p>
            <a:pPr marL="0" indent="0">
              <a:buNone/>
            </a:pPr>
            <a:r>
              <a:rPr lang="en-US" sz="1000" dirty="0">
                <a:solidFill>
                  <a:srgbClr val="8899BB"/>
                </a:solidFill>
              </a:rPr>
              <a:t>Production model serialization &amp; deployment pipeline</a:t>
            </a:r>
            <a:endParaRPr lang="en-US" sz="1000" dirty="0"/>
          </a:p>
        </p:txBody>
      </p:sp>
      <p:sp>
        <p:nvSpPr>
          <p:cNvPr id="30" name="Shape 28"/>
          <p:cNvSpPr/>
          <p:nvPr/>
        </p:nvSpPr>
        <p:spPr>
          <a:xfrm>
            <a:off x="4663440" y="3008376"/>
            <a:ext cx="4069080" cy="70408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31" name="Shape 29"/>
          <p:cNvSpPr/>
          <p:nvPr/>
        </p:nvSpPr>
        <p:spPr>
          <a:xfrm>
            <a:off x="4663440" y="3008376"/>
            <a:ext cx="64008" cy="704088"/>
          </a:xfrm>
          <a:prstGeom prst="rect">
            <a:avLst/>
          </a:prstGeom>
          <a:solidFill>
            <a:srgbClr val="FFD166"/>
          </a:solidFill>
          <a:ln w="12700">
            <a:solidFill>
              <a:srgbClr val="FFD166"/>
            </a:solidFill>
            <a:prstDash val="solid"/>
          </a:ln>
        </p:spPr>
      </p:sp>
      <p:sp>
        <p:nvSpPr>
          <p:cNvPr id="32" name="Text 30"/>
          <p:cNvSpPr/>
          <p:nvPr/>
        </p:nvSpPr>
        <p:spPr>
          <a:xfrm>
            <a:off x="4864608" y="3099816"/>
            <a:ext cx="1371600" cy="256032"/>
          </a:xfrm>
          <a:prstGeom prst="rect">
            <a:avLst/>
          </a:prstGeom>
          <a:noFill/>
          <a:ln/>
        </p:spPr>
        <p:txBody>
          <a:bodyPr wrap="square" rtlCol="0" anchor="ctr"/>
          <a:lstStyle/>
          <a:p>
            <a:pPr marL="0" indent="0">
              <a:buNone/>
            </a:pPr>
            <a:r>
              <a:rPr lang="en-US" sz="1200" b="1" dirty="0">
                <a:solidFill>
                  <a:srgbClr val="FFD166"/>
                </a:solidFill>
              </a:rPr>
              <a:t>ipywidgets</a:t>
            </a:r>
            <a:endParaRPr lang="en-US" sz="1200" dirty="0"/>
          </a:p>
        </p:txBody>
      </p:sp>
      <p:sp>
        <p:nvSpPr>
          <p:cNvPr id="33" name="Text 31"/>
          <p:cNvSpPr/>
          <p:nvPr/>
        </p:nvSpPr>
        <p:spPr>
          <a:xfrm>
            <a:off x="4864608" y="3374136"/>
            <a:ext cx="3749040" cy="256032"/>
          </a:xfrm>
          <a:prstGeom prst="rect">
            <a:avLst/>
          </a:prstGeom>
          <a:noFill/>
          <a:ln/>
        </p:spPr>
        <p:txBody>
          <a:bodyPr wrap="square" rtlCol="0" anchor="ctr"/>
          <a:lstStyle/>
          <a:p>
            <a:pPr marL="0" indent="0">
              <a:buNone/>
            </a:pPr>
            <a:r>
              <a:rPr lang="en-US" sz="1000" dirty="0">
                <a:solidFill>
                  <a:srgbClr val="8899BB"/>
                </a:solidFill>
              </a:rPr>
              <a:t>Real-time interactive DSS dashboard for sales teams</a:t>
            </a:r>
            <a:endParaRPr lang="en-US" sz="1000" dirty="0"/>
          </a:p>
        </p:txBody>
      </p:sp>
      <p:sp>
        <p:nvSpPr>
          <p:cNvPr id="34" name="Shape 32"/>
          <p:cNvSpPr/>
          <p:nvPr/>
        </p:nvSpPr>
        <p:spPr>
          <a:xfrm>
            <a:off x="4846320" y="1234440"/>
            <a:ext cx="3886200" cy="3502152"/>
          </a:xfrm>
          <a:prstGeom prst="rect">
            <a:avLst/>
          </a:prstGeom>
          <a:solidFill>
            <a:srgbClr val="081525"/>
          </a:solidFill>
          <a:ln w="12700">
            <a:solidFill>
              <a:srgbClr val="112266"/>
            </a:solidFill>
            <a:prstDash val="solid"/>
          </a:ln>
          <a:effectLst>
            <a:outerShdw blurRad="101600" dist="38100" dir="8100000" algn="bl" rotWithShape="0">
              <a:srgbClr val="000000">
                <a:alpha val="20000"/>
              </a:srgbClr>
            </a:outerShdw>
          </a:effectLst>
        </p:spPr>
      </p:sp>
      <p:sp>
        <p:nvSpPr>
          <p:cNvPr id="35" name="Text 33"/>
          <p:cNvSpPr/>
          <p:nvPr/>
        </p:nvSpPr>
        <p:spPr>
          <a:xfrm>
            <a:off x="5029200" y="1325880"/>
            <a:ext cx="3566160" cy="292608"/>
          </a:xfrm>
          <a:prstGeom prst="rect">
            <a:avLst/>
          </a:prstGeom>
          <a:noFill/>
          <a:ln/>
        </p:spPr>
        <p:txBody>
          <a:bodyPr wrap="square" rtlCol="0" anchor="ctr"/>
          <a:lstStyle/>
          <a:p>
            <a:pPr marL="0" indent="0">
              <a:buNone/>
            </a:pPr>
            <a:r>
              <a:rPr lang="en-US" sz="1200" b="1" dirty="0">
                <a:solidFill>
                  <a:srgbClr val="FFFFFF"/>
                </a:solidFill>
              </a:rPr>
              <a:t>ML Models &amp; Outputs</a:t>
            </a:r>
            <a:endParaRPr lang="en-US" sz="1200" dirty="0"/>
          </a:p>
        </p:txBody>
      </p:sp>
      <p:sp>
        <p:nvSpPr>
          <p:cNvPr id="36" name="Text 34"/>
          <p:cNvSpPr/>
          <p:nvPr/>
        </p:nvSpPr>
        <p:spPr>
          <a:xfrm>
            <a:off x="5029200" y="1719072"/>
            <a:ext cx="3566160" cy="2743200"/>
          </a:xfrm>
          <a:prstGeom prst="rect">
            <a:avLst/>
          </a:prstGeom>
          <a:noFill/>
          <a:ln/>
        </p:spPr>
        <p:txBody>
          <a:bodyPr wrap="square" rtlCol="0" anchor="ctr"/>
          <a:lstStyle/>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Logistic Regression (Baseline)</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Random Forest Classifier (Champion, 300 trees)</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ROC Curves &amp; AUC Comparison</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Confusion Matrix + Classification Report</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Feature Importance Rankings</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Model Serialization via Joblib</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Interactive DSS Dashboard (ipywidgets)</a:t>
            </a:r>
            <a:endParaRPr lang="en-US" sz="1200" dirty="0"/>
          </a:p>
        </p:txBody>
      </p:sp>
      <p:sp>
        <p:nvSpPr>
          <p:cNvPr id="37" name="Shape 35"/>
          <p:cNvSpPr/>
          <p:nvPr/>
        </p:nvSpPr>
        <p:spPr>
          <a:xfrm>
            <a:off x="411480" y="4645152"/>
            <a:ext cx="2011680" cy="320040"/>
          </a:xfrm>
          <a:prstGeom prst="rect">
            <a:avLst/>
          </a:prstGeom>
          <a:solidFill>
            <a:srgbClr val="112266"/>
          </a:solidFill>
          <a:ln w="12700">
            <a:solidFill>
              <a:srgbClr val="FF7A00"/>
            </a:solidFill>
            <a:prstDash val="solid"/>
          </a:ln>
        </p:spPr>
      </p:sp>
      <p:sp>
        <p:nvSpPr>
          <p:cNvPr id="38" name="Text 36"/>
          <p:cNvSpPr/>
          <p:nvPr/>
        </p:nvSpPr>
        <p:spPr>
          <a:xfrm>
            <a:off x="411480" y="4645152"/>
            <a:ext cx="2011680" cy="320040"/>
          </a:xfrm>
          <a:prstGeom prst="rect">
            <a:avLst/>
          </a:prstGeom>
          <a:noFill/>
          <a:ln/>
        </p:spPr>
        <p:txBody>
          <a:bodyPr wrap="square" rtlCol="0" anchor="ctr"/>
          <a:lstStyle/>
          <a:p>
            <a:pPr marL="0" indent="0" algn="ctr">
              <a:buNone/>
            </a:pPr>
            <a:r>
              <a:rPr lang="en-US" sz="900" dirty="0">
                <a:solidFill>
                  <a:srgbClr val="FF7A00"/>
                </a:solidFill>
              </a:rPr>
              <a:t>Ensemble Learning</a:t>
            </a:r>
            <a:endParaRPr lang="en-US" sz="900" dirty="0"/>
          </a:p>
        </p:txBody>
      </p:sp>
      <p:sp>
        <p:nvSpPr>
          <p:cNvPr id="39" name="Shape 37"/>
          <p:cNvSpPr/>
          <p:nvPr/>
        </p:nvSpPr>
        <p:spPr>
          <a:xfrm>
            <a:off x="2560320" y="4645152"/>
            <a:ext cx="2011680" cy="320040"/>
          </a:xfrm>
          <a:prstGeom prst="rect">
            <a:avLst/>
          </a:prstGeom>
          <a:solidFill>
            <a:srgbClr val="112266"/>
          </a:solidFill>
          <a:ln w="12700">
            <a:solidFill>
              <a:srgbClr val="FF7A00"/>
            </a:solidFill>
            <a:prstDash val="solid"/>
          </a:ln>
        </p:spPr>
      </p:sp>
      <p:sp>
        <p:nvSpPr>
          <p:cNvPr id="40" name="Text 38"/>
          <p:cNvSpPr/>
          <p:nvPr/>
        </p:nvSpPr>
        <p:spPr>
          <a:xfrm>
            <a:off x="2560320" y="4645152"/>
            <a:ext cx="2011680" cy="320040"/>
          </a:xfrm>
          <a:prstGeom prst="rect">
            <a:avLst/>
          </a:prstGeom>
          <a:noFill/>
          <a:ln/>
        </p:spPr>
        <p:txBody>
          <a:bodyPr wrap="square" rtlCol="0" anchor="ctr"/>
          <a:lstStyle/>
          <a:p>
            <a:pPr marL="0" indent="0" algn="ctr">
              <a:buNone/>
            </a:pPr>
            <a:r>
              <a:rPr lang="en-US" sz="900" dirty="0">
                <a:solidFill>
                  <a:srgbClr val="FF7A00"/>
                </a:solidFill>
              </a:rPr>
              <a:t>Stratified Sampling</a:t>
            </a:r>
            <a:endParaRPr lang="en-US" sz="900" dirty="0"/>
          </a:p>
        </p:txBody>
      </p:sp>
      <p:sp>
        <p:nvSpPr>
          <p:cNvPr id="41" name="Shape 39"/>
          <p:cNvSpPr/>
          <p:nvPr/>
        </p:nvSpPr>
        <p:spPr>
          <a:xfrm>
            <a:off x="4709160" y="4645152"/>
            <a:ext cx="2011680" cy="320040"/>
          </a:xfrm>
          <a:prstGeom prst="rect">
            <a:avLst/>
          </a:prstGeom>
          <a:solidFill>
            <a:srgbClr val="112266"/>
          </a:solidFill>
          <a:ln w="12700">
            <a:solidFill>
              <a:srgbClr val="FF7A00"/>
            </a:solidFill>
            <a:prstDash val="solid"/>
          </a:ln>
        </p:spPr>
      </p:sp>
      <p:sp>
        <p:nvSpPr>
          <p:cNvPr id="42" name="Text 40"/>
          <p:cNvSpPr/>
          <p:nvPr/>
        </p:nvSpPr>
        <p:spPr>
          <a:xfrm>
            <a:off x="4709160" y="4645152"/>
            <a:ext cx="2011680" cy="320040"/>
          </a:xfrm>
          <a:prstGeom prst="rect">
            <a:avLst/>
          </a:prstGeom>
          <a:noFill/>
          <a:ln/>
        </p:spPr>
        <p:txBody>
          <a:bodyPr wrap="square" rtlCol="0" anchor="ctr"/>
          <a:lstStyle/>
          <a:p>
            <a:pPr marL="0" indent="0" algn="ctr">
              <a:buNone/>
            </a:pPr>
            <a:r>
              <a:rPr lang="en-US" sz="900" dirty="0">
                <a:solidFill>
                  <a:srgbClr val="FF7A00"/>
                </a:solidFill>
              </a:rPr>
              <a:t>Class Balancing</a:t>
            </a:r>
            <a:endParaRPr lang="en-US" sz="900" dirty="0"/>
          </a:p>
        </p:txBody>
      </p:sp>
      <p:sp>
        <p:nvSpPr>
          <p:cNvPr id="43" name="Shape 41"/>
          <p:cNvSpPr/>
          <p:nvPr/>
        </p:nvSpPr>
        <p:spPr>
          <a:xfrm>
            <a:off x="6858000" y="4645152"/>
            <a:ext cx="2011680" cy="320040"/>
          </a:xfrm>
          <a:prstGeom prst="rect">
            <a:avLst/>
          </a:prstGeom>
          <a:solidFill>
            <a:srgbClr val="112266"/>
          </a:solidFill>
          <a:ln w="12700">
            <a:solidFill>
              <a:srgbClr val="FF7A00"/>
            </a:solidFill>
            <a:prstDash val="solid"/>
          </a:ln>
        </p:spPr>
      </p:sp>
      <p:sp>
        <p:nvSpPr>
          <p:cNvPr id="44" name="Text 42"/>
          <p:cNvSpPr/>
          <p:nvPr/>
        </p:nvSpPr>
        <p:spPr>
          <a:xfrm>
            <a:off x="6858000" y="4645152"/>
            <a:ext cx="2011680" cy="320040"/>
          </a:xfrm>
          <a:prstGeom prst="rect">
            <a:avLst/>
          </a:prstGeom>
          <a:noFill/>
          <a:ln/>
        </p:spPr>
        <p:txBody>
          <a:bodyPr wrap="square" rtlCol="0" anchor="ctr"/>
          <a:lstStyle/>
          <a:p>
            <a:pPr marL="0" indent="0" algn="ctr">
              <a:buNone/>
            </a:pPr>
            <a:r>
              <a:rPr lang="en-US" sz="900" dirty="0">
                <a:solidFill>
                  <a:srgbClr val="FF7A00"/>
                </a:solidFill>
              </a:rPr>
              <a:t>Production-Ready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MODEL PERFORMANCE</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Evaluation &amp; Statistical Insights</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6 / 11</a:t>
            </a:r>
            <a:endParaRPr lang="en-US" sz="800" dirty="0"/>
          </a:p>
        </p:txBody>
      </p:sp>
      <p:sp>
        <p:nvSpPr>
          <p:cNvPr id="6" name="Shape 4"/>
          <p:cNvSpPr/>
          <p:nvPr/>
        </p:nvSpPr>
        <p:spPr>
          <a:xfrm>
            <a:off x="411480" y="1207008"/>
            <a:ext cx="1965960"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7" name="Shape 5"/>
          <p:cNvSpPr/>
          <p:nvPr/>
        </p:nvSpPr>
        <p:spPr>
          <a:xfrm>
            <a:off x="411480" y="1207008"/>
            <a:ext cx="1965960" cy="54864"/>
          </a:xfrm>
          <a:prstGeom prst="rect">
            <a:avLst/>
          </a:prstGeom>
          <a:solidFill>
            <a:srgbClr val="FF7A00"/>
          </a:solidFill>
          <a:ln w="12700">
            <a:solidFill>
              <a:srgbClr val="FF7A00"/>
            </a:solidFill>
            <a:prstDash val="solid"/>
          </a:ln>
        </p:spPr>
      </p:sp>
      <p:sp>
        <p:nvSpPr>
          <p:cNvPr id="8" name="Text 6"/>
          <p:cNvSpPr/>
          <p:nvPr/>
        </p:nvSpPr>
        <p:spPr>
          <a:xfrm>
            <a:off x="411480" y="1344168"/>
            <a:ext cx="1965960" cy="457200"/>
          </a:xfrm>
          <a:prstGeom prst="rect">
            <a:avLst/>
          </a:prstGeom>
          <a:noFill/>
          <a:ln/>
        </p:spPr>
        <p:txBody>
          <a:bodyPr wrap="square" rtlCol="0" anchor="ctr"/>
          <a:lstStyle/>
          <a:p>
            <a:pPr marL="0" indent="0" algn="ctr">
              <a:buNone/>
            </a:pPr>
            <a:r>
              <a:rPr lang="en-US" sz="2400" b="1" dirty="0">
                <a:solidFill>
                  <a:srgbClr val="FF7A00"/>
                </a:solidFill>
                <a:latin typeface="Calibri" pitchFamily="34" charset="0"/>
                <a:ea typeface="Calibri" pitchFamily="34" charset="-122"/>
                <a:cs typeface="Calibri" pitchFamily="34" charset="-120"/>
              </a:rPr>
              <a:t>0.884</a:t>
            </a:r>
            <a:endParaRPr lang="en-US" sz="2400" dirty="0"/>
          </a:p>
        </p:txBody>
      </p:sp>
      <p:sp>
        <p:nvSpPr>
          <p:cNvPr id="9" name="Text 7"/>
          <p:cNvSpPr/>
          <p:nvPr/>
        </p:nvSpPr>
        <p:spPr>
          <a:xfrm>
            <a:off x="411480" y="1801368"/>
            <a:ext cx="1965960" cy="274320"/>
          </a:xfrm>
          <a:prstGeom prst="rect">
            <a:avLst/>
          </a:prstGeom>
          <a:noFill/>
          <a:ln/>
        </p:spPr>
        <p:txBody>
          <a:bodyPr wrap="square" rtlCol="0" anchor="ctr"/>
          <a:lstStyle/>
          <a:p>
            <a:pPr marL="0" indent="0" algn="ctr">
              <a:buNone/>
            </a:pPr>
            <a:r>
              <a:rPr lang="en-US" sz="900" dirty="0">
                <a:solidFill>
                  <a:srgbClr val="8899BB"/>
                </a:solidFill>
              </a:rPr>
              <a:t>ROC-AUC</a:t>
            </a:r>
            <a:endParaRPr lang="en-US" sz="900" dirty="0"/>
          </a:p>
        </p:txBody>
      </p:sp>
      <p:sp>
        <p:nvSpPr>
          <p:cNvPr id="10" name="Shape 8"/>
          <p:cNvSpPr/>
          <p:nvPr/>
        </p:nvSpPr>
        <p:spPr>
          <a:xfrm>
            <a:off x="2560320" y="1207008"/>
            <a:ext cx="1965960"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1" name="Shape 9"/>
          <p:cNvSpPr/>
          <p:nvPr/>
        </p:nvSpPr>
        <p:spPr>
          <a:xfrm>
            <a:off x="2560320" y="1207008"/>
            <a:ext cx="1965960" cy="54864"/>
          </a:xfrm>
          <a:prstGeom prst="rect">
            <a:avLst/>
          </a:prstGeom>
          <a:solidFill>
            <a:srgbClr val="00C8E0"/>
          </a:solidFill>
          <a:ln w="12700">
            <a:solidFill>
              <a:srgbClr val="00C8E0"/>
            </a:solidFill>
            <a:prstDash val="solid"/>
          </a:ln>
        </p:spPr>
      </p:sp>
      <p:sp>
        <p:nvSpPr>
          <p:cNvPr id="12" name="Text 10"/>
          <p:cNvSpPr/>
          <p:nvPr/>
        </p:nvSpPr>
        <p:spPr>
          <a:xfrm>
            <a:off x="2560320" y="1344168"/>
            <a:ext cx="1965960" cy="457200"/>
          </a:xfrm>
          <a:prstGeom prst="rect">
            <a:avLst/>
          </a:prstGeom>
          <a:noFill/>
          <a:ln/>
        </p:spPr>
        <p:txBody>
          <a:bodyPr wrap="square" rtlCol="0" anchor="ctr"/>
          <a:lstStyle/>
          <a:p>
            <a:pPr marL="0" indent="0" algn="ctr">
              <a:buNone/>
            </a:pPr>
            <a:r>
              <a:rPr lang="en-US" sz="2400" b="1" dirty="0">
                <a:solidFill>
                  <a:srgbClr val="00C8E0"/>
                </a:solidFill>
                <a:latin typeface="Calibri" pitchFamily="34" charset="0"/>
                <a:ea typeface="Calibri" pitchFamily="34" charset="-122"/>
                <a:cs typeface="Calibri" pitchFamily="34" charset="-120"/>
              </a:rPr>
              <a:t>80.0%</a:t>
            </a:r>
            <a:endParaRPr lang="en-US" sz="2400" dirty="0"/>
          </a:p>
        </p:txBody>
      </p:sp>
      <p:sp>
        <p:nvSpPr>
          <p:cNvPr id="13" name="Text 11"/>
          <p:cNvSpPr/>
          <p:nvPr/>
        </p:nvSpPr>
        <p:spPr>
          <a:xfrm>
            <a:off x="2560320" y="1801368"/>
            <a:ext cx="1965960" cy="274320"/>
          </a:xfrm>
          <a:prstGeom prst="rect">
            <a:avLst/>
          </a:prstGeom>
          <a:noFill/>
          <a:ln/>
        </p:spPr>
        <p:txBody>
          <a:bodyPr wrap="square" rtlCol="0" anchor="ctr"/>
          <a:lstStyle/>
          <a:p>
            <a:pPr marL="0" indent="0" algn="ctr">
              <a:buNone/>
            </a:pPr>
            <a:r>
              <a:rPr lang="en-US" sz="900" dirty="0">
                <a:solidFill>
                  <a:srgbClr val="8899BB"/>
                </a:solidFill>
              </a:rPr>
              <a:t>Accuracy</a:t>
            </a:r>
            <a:endParaRPr lang="en-US" sz="900" dirty="0"/>
          </a:p>
        </p:txBody>
      </p:sp>
      <p:sp>
        <p:nvSpPr>
          <p:cNvPr id="14" name="Shape 12"/>
          <p:cNvSpPr/>
          <p:nvPr/>
        </p:nvSpPr>
        <p:spPr>
          <a:xfrm>
            <a:off x="4709160" y="1207008"/>
            <a:ext cx="1965960"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5" name="Shape 13"/>
          <p:cNvSpPr/>
          <p:nvPr/>
        </p:nvSpPr>
        <p:spPr>
          <a:xfrm>
            <a:off x="4709160" y="1207008"/>
            <a:ext cx="1965960" cy="54864"/>
          </a:xfrm>
          <a:prstGeom prst="rect">
            <a:avLst/>
          </a:prstGeom>
          <a:solidFill>
            <a:srgbClr val="00C48C"/>
          </a:solidFill>
          <a:ln w="12700">
            <a:solidFill>
              <a:srgbClr val="00C48C"/>
            </a:solidFill>
            <a:prstDash val="solid"/>
          </a:ln>
        </p:spPr>
      </p:sp>
      <p:sp>
        <p:nvSpPr>
          <p:cNvPr id="16" name="Text 14"/>
          <p:cNvSpPr/>
          <p:nvPr/>
        </p:nvSpPr>
        <p:spPr>
          <a:xfrm>
            <a:off x="4709160" y="1344168"/>
            <a:ext cx="1965960" cy="457200"/>
          </a:xfrm>
          <a:prstGeom prst="rect">
            <a:avLst/>
          </a:prstGeom>
          <a:noFill/>
          <a:ln/>
        </p:spPr>
        <p:txBody>
          <a:bodyPr wrap="square" rtlCol="0" anchor="ctr"/>
          <a:lstStyle/>
          <a:p>
            <a:pPr marL="0" indent="0" algn="ctr">
              <a:buNone/>
            </a:pPr>
            <a:r>
              <a:rPr lang="en-US" sz="2400" b="1" dirty="0">
                <a:solidFill>
                  <a:srgbClr val="00C48C"/>
                </a:solidFill>
                <a:latin typeface="Calibri" pitchFamily="34" charset="0"/>
                <a:ea typeface="Calibri" pitchFamily="34" charset="-122"/>
                <a:cs typeface="Calibri" pitchFamily="34" charset="-120"/>
              </a:rPr>
              <a:t>81.9%</a:t>
            </a:r>
            <a:endParaRPr lang="en-US" sz="2400" dirty="0"/>
          </a:p>
        </p:txBody>
      </p:sp>
      <p:sp>
        <p:nvSpPr>
          <p:cNvPr id="17" name="Text 15"/>
          <p:cNvSpPr/>
          <p:nvPr/>
        </p:nvSpPr>
        <p:spPr>
          <a:xfrm>
            <a:off x="4709160" y="1801368"/>
            <a:ext cx="1965960" cy="274320"/>
          </a:xfrm>
          <a:prstGeom prst="rect">
            <a:avLst/>
          </a:prstGeom>
          <a:noFill/>
          <a:ln/>
        </p:spPr>
        <p:txBody>
          <a:bodyPr wrap="square" rtlCol="0" anchor="ctr"/>
          <a:lstStyle/>
          <a:p>
            <a:pPr marL="0" indent="0" algn="ctr">
              <a:buNone/>
            </a:pPr>
            <a:r>
              <a:rPr lang="en-US" sz="900" dirty="0">
                <a:solidFill>
                  <a:srgbClr val="8899BB"/>
                </a:solidFill>
              </a:rPr>
              <a:t>Recall (Conv.)</a:t>
            </a:r>
            <a:endParaRPr lang="en-US" sz="900" dirty="0"/>
          </a:p>
        </p:txBody>
      </p:sp>
      <p:sp>
        <p:nvSpPr>
          <p:cNvPr id="18" name="Shape 16"/>
          <p:cNvSpPr/>
          <p:nvPr/>
        </p:nvSpPr>
        <p:spPr>
          <a:xfrm>
            <a:off x="6858000" y="1207008"/>
            <a:ext cx="1965960" cy="91440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9" name="Shape 17"/>
          <p:cNvSpPr/>
          <p:nvPr/>
        </p:nvSpPr>
        <p:spPr>
          <a:xfrm>
            <a:off x="6858000" y="1207008"/>
            <a:ext cx="1965960" cy="54864"/>
          </a:xfrm>
          <a:prstGeom prst="rect">
            <a:avLst/>
          </a:prstGeom>
          <a:solidFill>
            <a:srgbClr val="FFD166"/>
          </a:solidFill>
          <a:ln w="12700">
            <a:solidFill>
              <a:srgbClr val="FFD166"/>
            </a:solidFill>
            <a:prstDash val="solid"/>
          </a:ln>
        </p:spPr>
      </p:sp>
      <p:sp>
        <p:nvSpPr>
          <p:cNvPr id="20" name="Text 18"/>
          <p:cNvSpPr/>
          <p:nvPr/>
        </p:nvSpPr>
        <p:spPr>
          <a:xfrm>
            <a:off x="6797040" y="1344168"/>
            <a:ext cx="2133600" cy="457200"/>
          </a:xfrm>
          <a:prstGeom prst="rect">
            <a:avLst/>
          </a:prstGeom>
          <a:noFill/>
          <a:ln/>
        </p:spPr>
        <p:txBody>
          <a:bodyPr wrap="square" rtlCol="0" anchor="ctr"/>
          <a:lstStyle/>
          <a:p>
            <a:pPr marL="0" indent="0" algn="ctr">
              <a:buNone/>
            </a:pPr>
            <a:r>
              <a:rPr lang="en-US" sz="2400" b="1" dirty="0">
                <a:solidFill>
                  <a:srgbClr val="FFD166"/>
                </a:solidFill>
                <a:latin typeface="Calibri" pitchFamily="34" charset="0"/>
                <a:ea typeface="Calibri" pitchFamily="34" charset="-122"/>
                <a:cs typeface="Calibri" pitchFamily="34" charset="-120"/>
              </a:rPr>
              <a:t>Random Forest</a:t>
            </a:r>
            <a:endParaRPr lang="en-US" sz="2400" dirty="0"/>
          </a:p>
        </p:txBody>
      </p:sp>
      <p:sp>
        <p:nvSpPr>
          <p:cNvPr id="21" name="Text 19"/>
          <p:cNvSpPr/>
          <p:nvPr/>
        </p:nvSpPr>
        <p:spPr>
          <a:xfrm>
            <a:off x="6858000" y="1801368"/>
            <a:ext cx="1965960" cy="274320"/>
          </a:xfrm>
          <a:prstGeom prst="rect">
            <a:avLst/>
          </a:prstGeom>
          <a:noFill/>
          <a:ln/>
        </p:spPr>
        <p:txBody>
          <a:bodyPr wrap="square" rtlCol="0" anchor="ctr"/>
          <a:lstStyle/>
          <a:p>
            <a:pPr marL="0" indent="0" algn="ctr">
              <a:buNone/>
            </a:pPr>
            <a:r>
              <a:rPr lang="en-US" sz="900" dirty="0">
                <a:solidFill>
                  <a:srgbClr val="8899BB"/>
                </a:solidFill>
              </a:rPr>
              <a:t>Champion</a:t>
            </a:r>
            <a:endParaRPr lang="en-US" sz="900" dirty="0"/>
          </a:p>
        </p:txBody>
      </p:sp>
      <p:sp>
        <p:nvSpPr>
          <p:cNvPr id="22" name="Shape 20"/>
          <p:cNvSpPr/>
          <p:nvPr/>
        </p:nvSpPr>
        <p:spPr>
          <a:xfrm>
            <a:off x="411480" y="2286000"/>
            <a:ext cx="4069080" cy="233172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3" name="Shape 21"/>
          <p:cNvSpPr/>
          <p:nvPr/>
        </p:nvSpPr>
        <p:spPr>
          <a:xfrm>
            <a:off x="411480" y="2286000"/>
            <a:ext cx="4069080" cy="54864"/>
          </a:xfrm>
          <a:prstGeom prst="rect">
            <a:avLst/>
          </a:prstGeom>
          <a:solidFill>
            <a:srgbClr val="112266"/>
          </a:solidFill>
          <a:ln w="12700">
            <a:solidFill>
              <a:srgbClr val="112266"/>
            </a:solidFill>
            <a:prstDash val="solid"/>
          </a:ln>
        </p:spPr>
      </p:sp>
      <p:sp>
        <p:nvSpPr>
          <p:cNvPr id="24" name="Text 22"/>
          <p:cNvSpPr/>
          <p:nvPr/>
        </p:nvSpPr>
        <p:spPr>
          <a:xfrm>
            <a:off x="548640" y="2350008"/>
            <a:ext cx="3749040" cy="237744"/>
          </a:xfrm>
          <a:prstGeom prst="rect">
            <a:avLst/>
          </a:prstGeom>
          <a:noFill/>
          <a:ln/>
        </p:spPr>
        <p:txBody>
          <a:bodyPr wrap="square" rtlCol="0" anchor="ctr"/>
          <a:lstStyle/>
          <a:p>
            <a:pPr marL="0" indent="0">
              <a:buNone/>
            </a:pPr>
            <a:r>
              <a:rPr lang="en-US" sz="1000" b="1" dirty="0">
                <a:solidFill>
                  <a:srgbClr val="FF7A00"/>
                </a:solidFill>
              </a:rPr>
              <a:t>ROC Curve — Model Comparison</a:t>
            </a:r>
            <a:endParaRPr lang="en-US" sz="1000" dirty="0"/>
          </a:p>
        </p:txBody>
      </p:sp>
      <p:pic>
        <p:nvPicPr>
          <p:cNvPr id="25" name="Image 0" descr="/home/claude/roc.png"/>
          <p:cNvPicPr>
            <a:picLocks noChangeAspect="1"/>
          </p:cNvPicPr>
          <p:nvPr/>
        </p:nvPicPr>
        <p:blipFill>
          <a:blip r:embed="rId3"/>
          <a:srcRect/>
          <a:stretch/>
        </p:blipFill>
        <p:spPr>
          <a:xfrm>
            <a:off x="548640" y="2624328"/>
            <a:ext cx="3840480" cy="1874520"/>
          </a:xfrm>
          <a:prstGeom prst="rect">
            <a:avLst/>
          </a:prstGeom>
        </p:spPr>
      </p:pic>
      <p:sp>
        <p:nvSpPr>
          <p:cNvPr id="26" name="Shape 23"/>
          <p:cNvSpPr/>
          <p:nvPr/>
        </p:nvSpPr>
        <p:spPr>
          <a:xfrm>
            <a:off x="4663440" y="2286000"/>
            <a:ext cx="4069080" cy="2331720"/>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7" name="Shape 24"/>
          <p:cNvSpPr/>
          <p:nvPr/>
        </p:nvSpPr>
        <p:spPr>
          <a:xfrm>
            <a:off x="4663440" y="2286000"/>
            <a:ext cx="4069080" cy="54864"/>
          </a:xfrm>
          <a:prstGeom prst="rect">
            <a:avLst/>
          </a:prstGeom>
          <a:solidFill>
            <a:srgbClr val="112266"/>
          </a:solidFill>
          <a:ln w="12700">
            <a:solidFill>
              <a:srgbClr val="112266"/>
            </a:solidFill>
            <a:prstDash val="solid"/>
          </a:ln>
        </p:spPr>
      </p:sp>
      <p:sp>
        <p:nvSpPr>
          <p:cNvPr id="28" name="Text 25"/>
          <p:cNvSpPr/>
          <p:nvPr/>
        </p:nvSpPr>
        <p:spPr>
          <a:xfrm>
            <a:off x="4800600" y="2350008"/>
            <a:ext cx="3749040" cy="237744"/>
          </a:xfrm>
          <a:prstGeom prst="rect">
            <a:avLst/>
          </a:prstGeom>
          <a:noFill/>
          <a:ln/>
        </p:spPr>
        <p:txBody>
          <a:bodyPr wrap="square" rtlCol="0" anchor="ctr"/>
          <a:lstStyle/>
          <a:p>
            <a:pPr marL="0" indent="0">
              <a:buNone/>
            </a:pPr>
            <a:r>
              <a:rPr lang="en-US" sz="1000" b="1" dirty="0">
                <a:solidFill>
                  <a:srgbClr val="00C8E0"/>
                </a:solidFill>
              </a:rPr>
              <a:t>Confusion Matrix — Random Forest</a:t>
            </a:r>
            <a:endParaRPr lang="en-US" sz="1000" dirty="0"/>
          </a:p>
        </p:txBody>
      </p:sp>
      <p:pic>
        <p:nvPicPr>
          <p:cNvPr id="29" name="Image 1" descr="/home/claude/matrix.png"/>
          <p:cNvPicPr>
            <a:picLocks noChangeAspect="1"/>
          </p:cNvPicPr>
          <p:nvPr/>
        </p:nvPicPr>
        <p:blipFill>
          <a:blip r:embed="rId4"/>
          <a:srcRect/>
          <a:stretch/>
        </p:blipFill>
        <p:spPr>
          <a:xfrm>
            <a:off x="4800600" y="2624328"/>
            <a:ext cx="3840480" cy="1874520"/>
          </a:xfrm>
          <a:prstGeom prst="rect">
            <a:avLst/>
          </a:prstGeom>
        </p:spPr>
      </p:pic>
      <p:sp>
        <p:nvSpPr>
          <p:cNvPr id="30" name="Shape 26"/>
          <p:cNvSpPr/>
          <p:nvPr/>
        </p:nvSpPr>
        <p:spPr>
          <a:xfrm>
            <a:off x="411480" y="4681728"/>
            <a:ext cx="4069080" cy="347472"/>
          </a:xfrm>
          <a:prstGeom prst="rect">
            <a:avLst/>
          </a:prstGeom>
          <a:solidFill>
            <a:srgbClr val="0A1A30"/>
          </a:solidFill>
          <a:ln w="12700">
            <a:solidFill>
              <a:srgbClr val="FF7A00"/>
            </a:solidFill>
            <a:prstDash val="solid"/>
          </a:ln>
        </p:spPr>
      </p:sp>
      <p:sp>
        <p:nvSpPr>
          <p:cNvPr id="31" name="Text 27"/>
          <p:cNvSpPr/>
          <p:nvPr/>
        </p:nvSpPr>
        <p:spPr>
          <a:xfrm>
            <a:off x="548640" y="4700016"/>
            <a:ext cx="3794760" cy="274320"/>
          </a:xfrm>
          <a:prstGeom prst="rect">
            <a:avLst/>
          </a:prstGeom>
          <a:noFill/>
          <a:ln/>
        </p:spPr>
        <p:txBody>
          <a:bodyPr wrap="square" rtlCol="0" anchor="ctr"/>
          <a:lstStyle/>
          <a:p>
            <a:pPr marL="0" indent="0">
              <a:buNone/>
            </a:pPr>
            <a:r>
              <a:rPr lang="en-US" sz="900" i="1" dirty="0">
                <a:solidFill>
                  <a:srgbClr val="E8EDF7"/>
                </a:solidFill>
              </a:rPr>
              <a:t>AUC 0.884: Excellent discriminatory power between converting and non-converting leads across all thresholds.</a:t>
            </a:r>
            <a:endParaRPr lang="en-US" sz="900" dirty="0"/>
          </a:p>
        </p:txBody>
      </p:sp>
      <p:sp>
        <p:nvSpPr>
          <p:cNvPr id="32" name="Shape 28"/>
          <p:cNvSpPr/>
          <p:nvPr/>
        </p:nvSpPr>
        <p:spPr>
          <a:xfrm>
            <a:off x="4663440" y="4681728"/>
            <a:ext cx="4069080" cy="347472"/>
          </a:xfrm>
          <a:prstGeom prst="rect">
            <a:avLst/>
          </a:prstGeom>
          <a:solidFill>
            <a:srgbClr val="0A1A30"/>
          </a:solidFill>
          <a:ln w="12700">
            <a:solidFill>
              <a:srgbClr val="00C8E0"/>
            </a:solidFill>
            <a:prstDash val="solid"/>
          </a:ln>
        </p:spPr>
      </p:sp>
      <p:sp>
        <p:nvSpPr>
          <p:cNvPr id="33" name="Text 29"/>
          <p:cNvSpPr/>
          <p:nvPr/>
        </p:nvSpPr>
        <p:spPr>
          <a:xfrm>
            <a:off x="4800600" y="4700016"/>
            <a:ext cx="3794760" cy="274320"/>
          </a:xfrm>
          <a:prstGeom prst="rect">
            <a:avLst/>
          </a:prstGeom>
          <a:noFill/>
          <a:ln/>
        </p:spPr>
        <p:txBody>
          <a:bodyPr wrap="square" rtlCol="0" anchor="ctr"/>
          <a:lstStyle/>
          <a:p>
            <a:pPr marL="0" indent="0">
              <a:buNone/>
            </a:pPr>
            <a:r>
              <a:rPr lang="en-US" sz="900" i="1" dirty="0">
                <a:solidFill>
                  <a:srgbClr val="E8EDF7"/>
                </a:solidFill>
              </a:rPr>
              <a:t>Recall 81.9%: High recall minimizes missed high-value customers — missing them is more costly than false positives.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FEATURE ANALYSIS</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Drivers of Conversion</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7 / 11</a:t>
            </a:r>
            <a:endParaRPr lang="en-US" sz="800" dirty="0"/>
          </a:p>
        </p:txBody>
      </p:sp>
      <p:sp>
        <p:nvSpPr>
          <p:cNvPr id="6" name="Shape 4"/>
          <p:cNvSpPr/>
          <p:nvPr/>
        </p:nvSpPr>
        <p:spPr>
          <a:xfrm>
            <a:off x="411480" y="1207008"/>
            <a:ext cx="5394960" cy="3273552"/>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7" name="Shape 5"/>
          <p:cNvSpPr/>
          <p:nvPr/>
        </p:nvSpPr>
        <p:spPr>
          <a:xfrm>
            <a:off x="411480" y="1207008"/>
            <a:ext cx="5394960" cy="54864"/>
          </a:xfrm>
          <a:prstGeom prst="rect">
            <a:avLst/>
          </a:prstGeom>
          <a:solidFill>
            <a:srgbClr val="112266"/>
          </a:solidFill>
          <a:ln w="12700">
            <a:solidFill>
              <a:srgbClr val="112266"/>
            </a:solidFill>
            <a:prstDash val="solid"/>
          </a:ln>
        </p:spPr>
      </p:sp>
      <p:pic>
        <p:nvPicPr>
          <p:cNvPr id="8" name="Image 0" descr="/home/claude/features.png"/>
          <p:cNvPicPr>
            <a:picLocks noChangeAspect="1"/>
          </p:cNvPicPr>
          <p:nvPr/>
        </p:nvPicPr>
        <p:blipFill>
          <a:blip r:embed="rId3"/>
          <a:srcRect/>
          <a:stretch/>
        </p:blipFill>
        <p:spPr>
          <a:xfrm>
            <a:off x="502920" y="1280160"/>
            <a:ext cx="5212080" cy="3108960"/>
          </a:xfrm>
          <a:prstGeom prst="rect">
            <a:avLst/>
          </a:prstGeom>
        </p:spPr>
      </p:pic>
      <p:sp>
        <p:nvSpPr>
          <p:cNvPr id="9" name="Shape 6"/>
          <p:cNvSpPr/>
          <p:nvPr/>
        </p:nvSpPr>
        <p:spPr>
          <a:xfrm>
            <a:off x="5989320" y="1207008"/>
            <a:ext cx="2743200" cy="713232"/>
          </a:xfrm>
          <a:prstGeom prst="rect">
            <a:avLst/>
          </a:prstGeom>
          <a:solidFill>
            <a:srgbClr val="0D1B45"/>
          </a:solidFill>
          <a:ln w="12700">
            <a:solidFill>
              <a:srgbClr val="FF7A00"/>
            </a:solidFill>
            <a:prstDash val="solid"/>
          </a:ln>
          <a:effectLst>
            <a:outerShdw blurRad="101600" dist="38100" dir="8100000" algn="bl" rotWithShape="0">
              <a:srgbClr val="000000">
                <a:alpha val="20000"/>
              </a:srgbClr>
            </a:outerShdw>
          </a:effectLst>
        </p:spPr>
      </p:sp>
      <p:sp>
        <p:nvSpPr>
          <p:cNvPr id="10" name="Shape 7"/>
          <p:cNvSpPr/>
          <p:nvPr/>
        </p:nvSpPr>
        <p:spPr>
          <a:xfrm>
            <a:off x="5989320" y="1207008"/>
            <a:ext cx="2743200" cy="54864"/>
          </a:xfrm>
          <a:prstGeom prst="rect">
            <a:avLst/>
          </a:prstGeom>
          <a:solidFill>
            <a:srgbClr val="FF7A00"/>
          </a:solidFill>
          <a:ln w="12700">
            <a:solidFill>
              <a:srgbClr val="FF7A00"/>
            </a:solidFill>
            <a:prstDash val="solid"/>
          </a:ln>
        </p:spPr>
      </p:sp>
      <p:sp>
        <p:nvSpPr>
          <p:cNvPr id="11" name="Text 8"/>
          <p:cNvSpPr/>
          <p:nvPr/>
        </p:nvSpPr>
        <p:spPr>
          <a:xfrm>
            <a:off x="6126480" y="1280160"/>
            <a:ext cx="2514600" cy="219456"/>
          </a:xfrm>
          <a:prstGeom prst="rect">
            <a:avLst/>
          </a:prstGeom>
          <a:noFill/>
          <a:ln/>
        </p:spPr>
        <p:txBody>
          <a:bodyPr wrap="square" rtlCol="0" anchor="ctr"/>
          <a:lstStyle/>
          <a:p>
            <a:pPr marL="0" indent="0">
              <a:buNone/>
            </a:pPr>
            <a:r>
              <a:rPr lang="en-US" sz="950" b="1" dirty="0">
                <a:solidFill>
                  <a:srgbClr val="FF7A00"/>
                </a:solidFill>
              </a:rPr>
              <a:t>#1 Predictor</a:t>
            </a:r>
            <a:endParaRPr lang="en-US" sz="950" dirty="0"/>
          </a:p>
        </p:txBody>
      </p:sp>
      <p:sp>
        <p:nvSpPr>
          <p:cNvPr id="12" name="Text 9"/>
          <p:cNvSpPr/>
          <p:nvPr/>
        </p:nvSpPr>
        <p:spPr>
          <a:xfrm>
            <a:off x="6126480" y="1508760"/>
            <a:ext cx="2514600" cy="201168"/>
          </a:xfrm>
          <a:prstGeom prst="rect">
            <a:avLst/>
          </a:prstGeom>
          <a:noFill/>
          <a:ln/>
        </p:spPr>
        <p:txBody>
          <a:bodyPr wrap="square" rtlCol="0" anchor="ctr"/>
          <a:lstStyle/>
          <a:p>
            <a:pPr marL="0" indent="0">
              <a:buNone/>
            </a:pPr>
            <a:r>
              <a:rPr lang="en-US" sz="1000" dirty="0">
                <a:solidFill>
                  <a:srgbClr val="E8EDF7"/>
                </a:solidFill>
              </a:rPr>
              <a:t>Total Time on Website</a:t>
            </a:r>
            <a:endParaRPr lang="en-US" sz="1000" dirty="0"/>
          </a:p>
        </p:txBody>
      </p:sp>
      <p:sp>
        <p:nvSpPr>
          <p:cNvPr id="13" name="Text 10"/>
          <p:cNvSpPr/>
          <p:nvPr/>
        </p:nvSpPr>
        <p:spPr>
          <a:xfrm>
            <a:off x="6126480" y="1682496"/>
            <a:ext cx="2514600" cy="182880"/>
          </a:xfrm>
          <a:prstGeom prst="rect">
            <a:avLst/>
          </a:prstGeom>
          <a:noFill/>
          <a:ln/>
        </p:spPr>
        <p:txBody>
          <a:bodyPr wrap="square" rtlCol="0" anchor="ctr"/>
          <a:lstStyle/>
          <a:p>
            <a:pPr marL="0" indent="0">
              <a:buNone/>
            </a:pPr>
            <a:r>
              <a:rPr lang="en-US" sz="850" i="1" dirty="0">
                <a:solidFill>
                  <a:srgbClr val="8899BB"/>
                </a:solidFill>
              </a:rPr>
              <a:t>Score: 0.2184 — dominant signal</a:t>
            </a:r>
            <a:endParaRPr lang="en-US" sz="850" dirty="0"/>
          </a:p>
        </p:txBody>
      </p:sp>
      <p:sp>
        <p:nvSpPr>
          <p:cNvPr id="14" name="Shape 11"/>
          <p:cNvSpPr/>
          <p:nvPr/>
        </p:nvSpPr>
        <p:spPr>
          <a:xfrm>
            <a:off x="5989320" y="2029968"/>
            <a:ext cx="2743200" cy="713232"/>
          </a:xfrm>
          <a:prstGeom prst="rect">
            <a:avLst/>
          </a:prstGeom>
          <a:solidFill>
            <a:srgbClr val="0D1B45"/>
          </a:solidFill>
          <a:ln w="12700">
            <a:solidFill>
              <a:srgbClr val="00C8E0"/>
            </a:solidFill>
            <a:prstDash val="solid"/>
          </a:ln>
          <a:effectLst>
            <a:outerShdw blurRad="101600" dist="38100" dir="8100000" algn="bl" rotWithShape="0">
              <a:srgbClr val="000000">
                <a:alpha val="20000"/>
              </a:srgbClr>
            </a:outerShdw>
          </a:effectLst>
        </p:spPr>
      </p:sp>
      <p:sp>
        <p:nvSpPr>
          <p:cNvPr id="15" name="Shape 12"/>
          <p:cNvSpPr/>
          <p:nvPr/>
        </p:nvSpPr>
        <p:spPr>
          <a:xfrm>
            <a:off x="5989320" y="2029968"/>
            <a:ext cx="2743200" cy="54864"/>
          </a:xfrm>
          <a:prstGeom prst="rect">
            <a:avLst/>
          </a:prstGeom>
          <a:solidFill>
            <a:srgbClr val="00C8E0"/>
          </a:solidFill>
          <a:ln w="12700">
            <a:solidFill>
              <a:srgbClr val="00C8E0"/>
            </a:solidFill>
            <a:prstDash val="solid"/>
          </a:ln>
        </p:spPr>
      </p:sp>
      <p:sp>
        <p:nvSpPr>
          <p:cNvPr id="16" name="Text 13"/>
          <p:cNvSpPr/>
          <p:nvPr/>
        </p:nvSpPr>
        <p:spPr>
          <a:xfrm>
            <a:off x="6126480" y="2103120"/>
            <a:ext cx="2514600" cy="219456"/>
          </a:xfrm>
          <a:prstGeom prst="rect">
            <a:avLst/>
          </a:prstGeom>
          <a:noFill/>
          <a:ln/>
        </p:spPr>
        <p:txBody>
          <a:bodyPr wrap="square" rtlCol="0" anchor="ctr"/>
          <a:lstStyle/>
          <a:p>
            <a:pPr marL="0" indent="0">
              <a:buNone/>
            </a:pPr>
            <a:r>
              <a:rPr lang="en-US" sz="950" b="1" dirty="0">
                <a:solidFill>
                  <a:srgbClr val="00C8E0"/>
                </a:solidFill>
              </a:rPr>
              <a:t>SMS Activity</a:t>
            </a:r>
            <a:endParaRPr lang="en-US" sz="950" dirty="0"/>
          </a:p>
        </p:txBody>
      </p:sp>
      <p:sp>
        <p:nvSpPr>
          <p:cNvPr id="17" name="Text 14"/>
          <p:cNvSpPr/>
          <p:nvPr/>
        </p:nvSpPr>
        <p:spPr>
          <a:xfrm>
            <a:off x="6126480" y="2331720"/>
            <a:ext cx="2514600" cy="201168"/>
          </a:xfrm>
          <a:prstGeom prst="rect">
            <a:avLst/>
          </a:prstGeom>
          <a:noFill/>
          <a:ln/>
        </p:spPr>
        <p:txBody>
          <a:bodyPr wrap="square" rtlCol="0" anchor="ctr"/>
          <a:lstStyle/>
          <a:p>
            <a:pPr marL="0" indent="0">
              <a:buNone/>
            </a:pPr>
            <a:r>
              <a:rPr lang="en-US" sz="1000" dirty="0">
                <a:solidFill>
                  <a:srgbClr val="E8EDF7"/>
                </a:solidFill>
              </a:rPr>
              <a:t>2nd strongest signal</a:t>
            </a:r>
            <a:endParaRPr lang="en-US" sz="1000" dirty="0"/>
          </a:p>
        </p:txBody>
      </p:sp>
      <p:sp>
        <p:nvSpPr>
          <p:cNvPr id="18" name="Text 15"/>
          <p:cNvSpPr/>
          <p:nvPr/>
        </p:nvSpPr>
        <p:spPr>
          <a:xfrm>
            <a:off x="6126480" y="2505456"/>
            <a:ext cx="2514600" cy="182880"/>
          </a:xfrm>
          <a:prstGeom prst="rect">
            <a:avLst/>
          </a:prstGeom>
          <a:noFill/>
          <a:ln/>
        </p:spPr>
        <p:txBody>
          <a:bodyPr wrap="square" rtlCol="0" anchor="ctr"/>
          <a:lstStyle/>
          <a:p>
            <a:pPr marL="0" indent="0">
              <a:buNone/>
            </a:pPr>
            <a:r>
              <a:rPr lang="en-US" sz="850" i="1" dirty="0">
                <a:solidFill>
                  <a:srgbClr val="8899BB"/>
                </a:solidFill>
              </a:rPr>
              <a:t>Engagement via SMS = high intent</a:t>
            </a:r>
            <a:endParaRPr lang="en-US" sz="850" dirty="0"/>
          </a:p>
        </p:txBody>
      </p:sp>
      <p:sp>
        <p:nvSpPr>
          <p:cNvPr id="19" name="Shape 16"/>
          <p:cNvSpPr/>
          <p:nvPr/>
        </p:nvSpPr>
        <p:spPr>
          <a:xfrm>
            <a:off x="5989320" y="2852928"/>
            <a:ext cx="2743200" cy="713232"/>
          </a:xfrm>
          <a:prstGeom prst="rect">
            <a:avLst/>
          </a:prstGeom>
          <a:solidFill>
            <a:srgbClr val="0D1B45"/>
          </a:solidFill>
          <a:ln w="12700">
            <a:solidFill>
              <a:srgbClr val="00C48C"/>
            </a:solidFill>
            <a:prstDash val="solid"/>
          </a:ln>
          <a:effectLst>
            <a:outerShdw blurRad="101600" dist="38100" dir="8100000" algn="bl" rotWithShape="0">
              <a:srgbClr val="000000">
                <a:alpha val="20000"/>
              </a:srgbClr>
            </a:outerShdw>
          </a:effectLst>
        </p:spPr>
      </p:sp>
      <p:sp>
        <p:nvSpPr>
          <p:cNvPr id="20" name="Shape 17"/>
          <p:cNvSpPr/>
          <p:nvPr/>
        </p:nvSpPr>
        <p:spPr>
          <a:xfrm>
            <a:off x="5989320" y="2852928"/>
            <a:ext cx="2743200" cy="54864"/>
          </a:xfrm>
          <a:prstGeom prst="rect">
            <a:avLst/>
          </a:prstGeom>
          <a:solidFill>
            <a:srgbClr val="00C48C"/>
          </a:solidFill>
          <a:ln w="12700">
            <a:solidFill>
              <a:srgbClr val="00C48C"/>
            </a:solidFill>
            <a:prstDash val="solid"/>
          </a:ln>
        </p:spPr>
      </p:sp>
      <p:sp>
        <p:nvSpPr>
          <p:cNvPr id="21" name="Text 18"/>
          <p:cNvSpPr/>
          <p:nvPr/>
        </p:nvSpPr>
        <p:spPr>
          <a:xfrm>
            <a:off x="6126480" y="2926080"/>
            <a:ext cx="2514600" cy="219456"/>
          </a:xfrm>
          <a:prstGeom prst="rect">
            <a:avLst/>
          </a:prstGeom>
          <a:noFill/>
          <a:ln/>
        </p:spPr>
        <p:txBody>
          <a:bodyPr wrap="square" rtlCol="0" anchor="ctr"/>
          <a:lstStyle/>
          <a:p>
            <a:pPr marL="0" indent="0">
              <a:buNone/>
            </a:pPr>
            <a:r>
              <a:rPr lang="en-US" sz="950" b="1" dirty="0">
                <a:solidFill>
                  <a:srgbClr val="00C48C"/>
                </a:solidFill>
              </a:rPr>
              <a:t>Engagement Score</a:t>
            </a:r>
            <a:endParaRPr lang="en-US" sz="950" dirty="0"/>
          </a:p>
        </p:txBody>
      </p:sp>
      <p:sp>
        <p:nvSpPr>
          <p:cNvPr id="22" name="Text 19"/>
          <p:cNvSpPr/>
          <p:nvPr/>
        </p:nvSpPr>
        <p:spPr>
          <a:xfrm>
            <a:off x="6126480" y="3154680"/>
            <a:ext cx="2514600" cy="201168"/>
          </a:xfrm>
          <a:prstGeom prst="rect">
            <a:avLst/>
          </a:prstGeom>
          <a:noFill/>
          <a:ln/>
        </p:spPr>
        <p:txBody>
          <a:bodyPr wrap="square" rtlCol="0" anchor="ctr"/>
          <a:lstStyle/>
          <a:p>
            <a:pPr marL="0" indent="0">
              <a:buNone/>
            </a:pPr>
            <a:r>
              <a:rPr lang="en-US" sz="1000" dirty="0">
                <a:solidFill>
                  <a:srgbClr val="E8EDF7"/>
                </a:solidFill>
              </a:rPr>
              <a:t>Custom engineered feature</a:t>
            </a:r>
            <a:endParaRPr lang="en-US" sz="1000" dirty="0"/>
          </a:p>
        </p:txBody>
      </p:sp>
      <p:sp>
        <p:nvSpPr>
          <p:cNvPr id="23" name="Text 20"/>
          <p:cNvSpPr/>
          <p:nvPr/>
        </p:nvSpPr>
        <p:spPr>
          <a:xfrm>
            <a:off x="6126480" y="3328416"/>
            <a:ext cx="2514600" cy="182880"/>
          </a:xfrm>
          <a:prstGeom prst="rect">
            <a:avLst/>
          </a:prstGeom>
          <a:noFill/>
          <a:ln/>
        </p:spPr>
        <p:txBody>
          <a:bodyPr wrap="square" rtlCol="0" anchor="ctr"/>
          <a:lstStyle/>
          <a:p>
            <a:pPr marL="0" indent="0">
              <a:buNone/>
            </a:pPr>
            <a:r>
              <a:rPr lang="en-US" sz="850" i="1" dirty="0">
                <a:solidFill>
                  <a:srgbClr val="8899BB"/>
                </a:solidFill>
              </a:rPr>
              <a:t>Ranks #3 — validates methodology</a:t>
            </a:r>
            <a:endParaRPr lang="en-US" sz="850" dirty="0"/>
          </a:p>
        </p:txBody>
      </p:sp>
      <p:sp>
        <p:nvSpPr>
          <p:cNvPr id="24" name="Shape 21"/>
          <p:cNvSpPr/>
          <p:nvPr/>
        </p:nvSpPr>
        <p:spPr>
          <a:xfrm>
            <a:off x="5989320" y="3675888"/>
            <a:ext cx="2743200" cy="713232"/>
          </a:xfrm>
          <a:prstGeom prst="rect">
            <a:avLst/>
          </a:prstGeom>
          <a:solidFill>
            <a:srgbClr val="0D1B45"/>
          </a:solidFill>
          <a:ln w="12700">
            <a:solidFill>
              <a:srgbClr val="FFD166"/>
            </a:solidFill>
            <a:prstDash val="solid"/>
          </a:ln>
          <a:effectLst>
            <a:outerShdw blurRad="101600" dist="38100" dir="8100000" algn="bl" rotWithShape="0">
              <a:srgbClr val="000000">
                <a:alpha val="20000"/>
              </a:srgbClr>
            </a:outerShdw>
          </a:effectLst>
        </p:spPr>
      </p:sp>
      <p:sp>
        <p:nvSpPr>
          <p:cNvPr id="25" name="Shape 22"/>
          <p:cNvSpPr/>
          <p:nvPr/>
        </p:nvSpPr>
        <p:spPr>
          <a:xfrm>
            <a:off x="5989320" y="3675888"/>
            <a:ext cx="2743200" cy="54864"/>
          </a:xfrm>
          <a:prstGeom prst="rect">
            <a:avLst/>
          </a:prstGeom>
          <a:solidFill>
            <a:srgbClr val="FFD166"/>
          </a:solidFill>
          <a:ln w="12700">
            <a:solidFill>
              <a:srgbClr val="FFD166"/>
            </a:solidFill>
            <a:prstDash val="solid"/>
          </a:ln>
        </p:spPr>
      </p:sp>
      <p:sp>
        <p:nvSpPr>
          <p:cNvPr id="26" name="Text 23"/>
          <p:cNvSpPr/>
          <p:nvPr/>
        </p:nvSpPr>
        <p:spPr>
          <a:xfrm>
            <a:off x="6126480" y="3749040"/>
            <a:ext cx="2514600" cy="219456"/>
          </a:xfrm>
          <a:prstGeom prst="rect">
            <a:avLst/>
          </a:prstGeom>
          <a:noFill/>
          <a:ln/>
        </p:spPr>
        <p:txBody>
          <a:bodyPr wrap="square" rtlCol="0" anchor="ctr"/>
          <a:lstStyle/>
          <a:p>
            <a:pPr marL="0" indent="0">
              <a:buNone/>
            </a:pPr>
            <a:r>
              <a:rPr lang="en-US" sz="950" b="1" dirty="0">
                <a:solidFill>
                  <a:srgbClr val="FFD166"/>
                </a:solidFill>
              </a:rPr>
              <a:t>Behavioral &gt; Demographic</a:t>
            </a:r>
            <a:endParaRPr lang="en-US" sz="950" dirty="0"/>
          </a:p>
        </p:txBody>
      </p:sp>
      <p:sp>
        <p:nvSpPr>
          <p:cNvPr id="27" name="Text 24"/>
          <p:cNvSpPr/>
          <p:nvPr/>
        </p:nvSpPr>
        <p:spPr>
          <a:xfrm>
            <a:off x="6126480" y="3977640"/>
            <a:ext cx="2514600" cy="201168"/>
          </a:xfrm>
          <a:prstGeom prst="rect">
            <a:avLst/>
          </a:prstGeom>
          <a:noFill/>
          <a:ln/>
        </p:spPr>
        <p:txBody>
          <a:bodyPr wrap="square" rtlCol="0" anchor="ctr"/>
          <a:lstStyle/>
          <a:p>
            <a:pPr marL="0" indent="0">
              <a:buNone/>
            </a:pPr>
            <a:r>
              <a:rPr lang="en-US" sz="1000" dirty="0">
                <a:solidFill>
                  <a:srgbClr val="E8EDF7"/>
                </a:solidFill>
              </a:rPr>
              <a:t>Key insight</a:t>
            </a:r>
            <a:endParaRPr lang="en-US" sz="1000" dirty="0"/>
          </a:p>
        </p:txBody>
      </p:sp>
      <p:sp>
        <p:nvSpPr>
          <p:cNvPr id="28" name="Text 25"/>
          <p:cNvSpPr/>
          <p:nvPr/>
        </p:nvSpPr>
        <p:spPr>
          <a:xfrm>
            <a:off x="6126480" y="4151376"/>
            <a:ext cx="2514600" cy="182880"/>
          </a:xfrm>
          <a:prstGeom prst="rect">
            <a:avLst/>
          </a:prstGeom>
          <a:noFill/>
          <a:ln/>
        </p:spPr>
        <p:txBody>
          <a:bodyPr wrap="square" rtlCol="0" anchor="ctr"/>
          <a:lstStyle/>
          <a:p>
            <a:pPr marL="0" indent="0">
              <a:buNone/>
            </a:pPr>
            <a:r>
              <a:rPr lang="en-US" sz="850" i="1" dirty="0">
                <a:solidFill>
                  <a:srgbClr val="8899BB"/>
                </a:solidFill>
              </a:rPr>
              <a:t>Activity vars outperform demographics</a:t>
            </a:r>
            <a:endParaRPr lang="en-US" sz="850" dirty="0"/>
          </a:p>
        </p:txBody>
      </p:sp>
      <p:sp>
        <p:nvSpPr>
          <p:cNvPr id="29" name="Shape 26"/>
          <p:cNvSpPr/>
          <p:nvPr/>
        </p:nvSpPr>
        <p:spPr>
          <a:xfrm>
            <a:off x="411480" y="4572000"/>
            <a:ext cx="8321040" cy="457200"/>
          </a:xfrm>
          <a:prstGeom prst="rect">
            <a:avLst/>
          </a:prstGeom>
          <a:solidFill>
            <a:srgbClr val="0A1A30"/>
          </a:solidFill>
          <a:ln w="12700">
            <a:solidFill>
              <a:srgbClr val="FF7A00"/>
            </a:solidFill>
            <a:prstDash val="solid"/>
          </a:ln>
        </p:spPr>
      </p:sp>
      <p:sp>
        <p:nvSpPr>
          <p:cNvPr id="30" name="Text 27"/>
          <p:cNvSpPr/>
          <p:nvPr/>
        </p:nvSpPr>
        <p:spPr>
          <a:xfrm>
            <a:off x="548640" y="4599432"/>
            <a:ext cx="8046720" cy="384048"/>
          </a:xfrm>
          <a:prstGeom prst="rect">
            <a:avLst/>
          </a:prstGeom>
          <a:noFill/>
          <a:ln/>
        </p:spPr>
        <p:txBody>
          <a:bodyPr wrap="square" rtlCol="0" anchor="ctr"/>
          <a:lstStyle/>
          <a:p>
            <a:pPr marL="0" indent="0">
              <a:buNone/>
            </a:pPr>
            <a:r>
              <a:rPr lang="en-US" sz="950" i="1" dirty="0">
                <a:solidFill>
                  <a:srgbClr val="A0EAF5"/>
                </a:solidFill>
              </a:rPr>
              <a:t>Insight: Customers spending more time on the website exhibit significantly higher purchase intent. Behavioral engagement variables outperform demographic attributes in predicting conversion probability.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DECISION SUPPORT SYSTEM</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Interactive DSS Dashboard</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8 / 11</a:t>
            </a:r>
            <a:endParaRPr lang="en-US" sz="800" dirty="0"/>
          </a:p>
        </p:txBody>
      </p:sp>
      <p:sp>
        <p:nvSpPr>
          <p:cNvPr id="6" name="Shape 4"/>
          <p:cNvSpPr/>
          <p:nvPr/>
        </p:nvSpPr>
        <p:spPr>
          <a:xfrm>
            <a:off x="411480" y="1170432"/>
            <a:ext cx="8321040" cy="347472"/>
          </a:xfrm>
          <a:prstGeom prst="rect">
            <a:avLst/>
          </a:prstGeom>
          <a:solidFill>
            <a:srgbClr val="112266"/>
          </a:solidFill>
          <a:ln w="12700">
            <a:solidFill>
              <a:srgbClr val="FF7A00"/>
            </a:solidFill>
            <a:prstDash val="solid"/>
          </a:ln>
        </p:spPr>
      </p:sp>
      <p:sp>
        <p:nvSpPr>
          <p:cNvPr id="7" name="Text 5"/>
          <p:cNvSpPr/>
          <p:nvPr/>
        </p:nvSpPr>
        <p:spPr>
          <a:xfrm>
            <a:off x="548640" y="1188720"/>
            <a:ext cx="8046720" cy="301752"/>
          </a:xfrm>
          <a:prstGeom prst="rect">
            <a:avLst/>
          </a:prstGeom>
          <a:noFill/>
          <a:ln/>
        </p:spPr>
        <p:txBody>
          <a:bodyPr wrap="square" rtlCol="0" anchor="ctr"/>
          <a:lstStyle/>
          <a:p>
            <a:pPr marL="0" indent="0">
              <a:buNone/>
            </a:pPr>
            <a:r>
              <a:rPr lang="en-US" sz="1100" b="1" i="1" dirty="0">
                <a:solidFill>
                  <a:srgbClr val="FF7A00"/>
                </a:solidFill>
              </a:rPr>
              <a:t>Interactive DSS generates real-time mathematical lead prioritization for sales teams.</a:t>
            </a:r>
            <a:endParaRPr lang="en-US" sz="1100" dirty="0"/>
          </a:p>
        </p:txBody>
      </p:sp>
      <p:sp>
        <p:nvSpPr>
          <p:cNvPr id="8" name="Shape 6"/>
          <p:cNvSpPr/>
          <p:nvPr/>
        </p:nvSpPr>
        <p:spPr>
          <a:xfrm>
            <a:off x="411480" y="1627632"/>
            <a:ext cx="6492240" cy="3337560"/>
          </a:xfrm>
          <a:prstGeom prst="rect">
            <a:avLst/>
          </a:prstGeom>
          <a:solidFill>
            <a:srgbClr val="112266"/>
          </a:solidFill>
          <a:ln w="25400">
            <a:solidFill>
              <a:srgbClr val="FF7A00"/>
            </a:solidFill>
            <a:prstDash val="solid"/>
          </a:ln>
          <a:effectLst>
            <a:outerShdw blurRad="101600" dist="38100" dir="8100000" algn="bl" rotWithShape="0">
              <a:srgbClr val="000000">
                <a:alpha val="20000"/>
              </a:srgbClr>
            </a:outerShdw>
          </a:effectLst>
        </p:spPr>
      </p:sp>
      <p:pic>
        <p:nvPicPr>
          <p:cNvPr id="9" name="Image 0" descr="/home/claude/dashboard.png"/>
          <p:cNvPicPr>
            <a:picLocks noChangeAspect="1"/>
          </p:cNvPicPr>
          <p:nvPr/>
        </p:nvPicPr>
        <p:blipFill>
          <a:blip r:embed="rId3"/>
          <a:srcRect/>
          <a:stretch/>
        </p:blipFill>
        <p:spPr>
          <a:xfrm>
            <a:off x="502920" y="1691640"/>
            <a:ext cx="6309360" cy="3200400"/>
          </a:xfrm>
          <a:prstGeom prst="rect">
            <a:avLst/>
          </a:prstGeom>
        </p:spPr>
      </p:pic>
      <p:sp>
        <p:nvSpPr>
          <p:cNvPr id="10" name="Shape 7"/>
          <p:cNvSpPr/>
          <p:nvPr/>
        </p:nvSpPr>
        <p:spPr>
          <a:xfrm>
            <a:off x="7086600" y="1627632"/>
            <a:ext cx="1645920" cy="713232"/>
          </a:xfrm>
          <a:prstGeom prst="rect">
            <a:avLst/>
          </a:prstGeom>
          <a:solidFill>
            <a:srgbClr val="0D1B45"/>
          </a:solidFill>
          <a:ln w="12700">
            <a:solidFill>
              <a:srgbClr val="FF4557"/>
            </a:solidFill>
            <a:prstDash val="solid"/>
          </a:ln>
        </p:spPr>
      </p:sp>
      <p:sp>
        <p:nvSpPr>
          <p:cNvPr id="11" name="Shape 8"/>
          <p:cNvSpPr/>
          <p:nvPr/>
        </p:nvSpPr>
        <p:spPr>
          <a:xfrm>
            <a:off x="7086600" y="1627632"/>
            <a:ext cx="64008" cy="713232"/>
          </a:xfrm>
          <a:prstGeom prst="rect">
            <a:avLst/>
          </a:prstGeom>
          <a:solidFill>
            <a:srgbClr val="FF4557"/>
          </a:solidFill>
          <a:ln w="12700">
            <a:solidFill>
              <a:srgbClr val="FF4557"/>
            </a:solidFill>
            <a:prstDash val="solid"/>
          </a:ln>
        </p:spPr>
      </p:sp>
      <p:sp>
        <p:nvSpPr>
          <p:cNvPr id="12" name="Text 9"/>
          <p:cNvSpPr/>
          <p:nvPr/>
        </p:nvSpPr>
        <p:spPr>
          <a:xfrm>
            <a:off x="7269480" y="1682496"/>
            <a:ext cx="1371600" cy="237744"/>
          </a:xfrm>
          <a:prstGeom prst="rect">
            <a:avLst/>
          </a:prstGeom>
          <a:noFill/>
          <a:ln/>
        </p:spPr>
        <p:txBody>
          <a:bodyPr wrap="square" rtlCol="0" anchor="ctr"/>
          <a:lstStyle/>
          <a:p>
            <a:pPr marL="0" indent="0">
              <a:buNone/>
            </a:pPr>
            <a:r>
              <a:rPr lang="en-US" sz="1200" b="1" dirty="0">
                <a:solidFill>
                  <a:srgbClr val="FF4557"/>
                </a:solidFill>
              </a:rPr>
              <a:t>HOT</a:t>
            </a:r>
            <a:endParaRPr lang="en-US" sz="1200" dirty="0"/>
          </a:p>
        </p:txBody>
      </p:sp>
      <p:sp>
        <p:nvSpPr>
          <p:cNvPr id="13" name="Text 10"/>
          <p:cNvSpPr/>
          <p:nvPr/>
        </p:nvSpPr>
        <p:spPr>
          <a:xfrm>
            <a:off x="7269480" y="1920240"/>
            <a:ext cx="1371600" cy="182880"/>
          </a:xfrm>
          <a:prstGeom prst="rect">
            <a:avLst/>
          </a:prstGeom>
          <a:noFill/>
          <a:ln/>
        </p:spPr>
        <p:txBody>
          <a:bodyPr wrap="square" rtlCol="0" anchor="ctr"/>
          <a:lstStyle/>
          <a:p>
            <a:pPr marL="0" indent="0">
              <a:buNone/>
            </a:pPr>
            <a:r>
              <a:rPr lang="en-US" sz="850" dirty="0">
                <a:solidFill>
                  <a:srgbClr val="8899BB"/>
                </a:solidFill>
              </a:rPr>
              <a:t>Score: &gt;=70</a:t>
            </a:r>
            <a:endParaRPr lang="en-US" sz="850" dirty="0"/>
          </a:p>
        </p:txBody>
      </p:sp>
      <p:sp>
        <p:nvSpPr>
          <p:cNvPr id="14" name="Text 11"/>
          <p:cNvSpPr/>
          <p:nvPr/>
        </p:nvSpPr>
        <p:spPr>
          <a:xfrm>
            <a:off x="7269480" y="2103120"/>
            <a:ext cx="1371600" cy="182880"/>
          </a:xfrm>
          <a:prstGeom prst="rect">
            <a:avLst/>
          </a:prstGeom>
          <a:noFill/>
          <a:ln/>
        </p:spPr>
        <p:txBody>
          <a:bodyPr wrap="square" rtlCol="0" anchor="ctr"/>
          <a:lstStyle/>
          <a:p>
            <a:pPr marL="0" indent="0">
              <a:buNone/>
            </a:pPr>
            <a:r>
              <a:rPr lang="en-US" sz="850" dirty="0">
                <a:solidFill>
                  <a:srgbClr val="E8EDF7"/>
                </a:solidFill>
              </a:rPr>
              <a:t>Senior Rep call</a:t>
            </a:r>
            <a:endParaRPr lang="en-US" sz="850" dirty="0"/>
          </a:p>
        </p:txBody>
      </p:sp>
      <p:sp>
        <p:nvSpPr>
          <p:cNvPr id="15" name="Shape 12"/>
          <p:cNvSpPr/>
          <p:nvPr/>
        </p:nvSpPr>
        <p:spPr>
          <a:xfrm>
            <a:off x="7086600" y="2468880"/>
            <a:ext cx="1645920" cy="713232"/>
          </a:xfrm>
          <a:prstGeom prst="rect">
            <a:avLst/>
          </a:prstGeom>
          <a:solidFill>
            <a:srgbClr val="0D1B45"/>
          </a:solidFill>
          <a:ln w="12700">
            <a:solidFill>
              <a:srgbClr val="FF7A00"/>
            </a:solidFill>
            <a:prstDash val="solid"/>
          </a:ln>
        </p:spPr>
      </p:sp>
      <p:sp>
        <p:nvSpPr>
          <p:cNvPr id="16" name="Shape 13"/>
          <p:cNvSpPr/>
          <p:nvPr/>
        </p:nvSpPr>
        <p:spPr>
          <a:xfrm>
            <a:off x="7086600" y="2468880"/>
            <a:ext cx="64008" cy="713232"/>
          </a:xfrm>
          <a:prstGeom prst="rect">
            <a:avLst/>
          </a:prstGeom>
          <a:solidFill>
            <a:srgbClr val="FF7A00"/>
          </a:solidFill>
          <a:ln w="12700">
            <a:solidFill>
              <a:srgbClr val="FF7A00"/>
            </a:solidFill>
            <a:prstDash val="solid"/>
          </a:ln>
        </p:spPr>
      </p:sp>
      <p:sp>
        <p:nvSpPr>
          <p:cNvPr id="17" name="Text 14"/>
          <p:cNvSpPr/>
          <p:nvPr/>
        </p:nvSpPr>
        <p:spPr>
          <a:xfrm>
            <a:off x="7269480" y="2523744"/>
            <a:ext cx="1371600" cy="237744"/>
          </a:xfrm>
          <a:prstGeom prst="rect">
            <a:avLst/>
          </a:prstGeom>
          <a:noFill/>
          <a:ln/>
        </p:spPr>
        <p:txBody>
          <a:bodyPr wrap="square" rtlCol="0" anchor="ctr"/>
          <a:lstStyle/>
          <a:p>
            <a:pPr marL="0" indent="0">
              <a:buNone/>
            </a:pPr>
            <a:r>
              <a:rPr lang="en-US" sz="1200" b="1" dirty="0">
                <a:solidFill>
                  <a:srgbClr val="FF7A00"/>
                </a:solidFill>
              </a:rPr>
              <a:t>WARM</a:t>
            </a:r>
            <a:endParaRPr lang="en-US" sz="1200" dirty="0"/>
          </a:p>
        </p:txBody>
      </p:sp>
      <p:sp>
        <p:nvSpPr>
          <p:cNvPr id="18" name="Text 15"/>
          <p:cNvSpPr/>
          <p:nvPr/>
        </p:nvSpPr>
        <p:spPr>
          <a:xfrm>
            <a:off x="7269480" y="2761488"/>
            <a:ext cx="1371600" cy="182880"/>
          </a:xfrm>
          <a:prstGeom prst="rect">
            <a:avLst/>
          </a:prstGeom>
          <a:noFill/>
          <a:ln/>
        </p:spPr>
        <p:txBody>
          <a:bodyPr wrap="square" rtlCol="0" anchor="ctr"/>
          <a:lstStyle/>
          <a:p>
            <a:pPr marL="0" indent="0">
              <a:buNone/>
            </a:pPr>
            <a:r>
              <a:rPr lang="en-US" sz="850" dirty="0">
                <a:solidFill>
                  <a:srgbClr val="8899BB"/>
                </a:solidFill>
              </a:rPr>
              <a:t>Score: 45-69</a:t>
            </a:r>
            <a:endParaRPr lang="en-US" sz="850" dirty="0"/>
          </a:p>
        </p:txBody>
      </p:sp>
      <p:sp>
        <p:nvSpPr>
          <p:cNvPr id="19" name="Text 16"/>
          <p:cNvSpPr/>
          <p:nvPr/>
        </p:nvSpPr>
        <p:spPr>
          <a:xfrm>
            <a:off x="7269480" y="2944368"/>
            <a:ext cx="1371600" cy="182880"/>
          </a:xfrm>
          <a:prstGeom prst="rect">
            <a:avLst/>
          </a:prstGeom>
          <a:noFill/>
          <a:ln/>
        </p:spPr>
        <p:txBody>
          <a:bodyPr wrap="square" rtlCol="0" anchor="ctr"/>
          <a:lstStyle/>
          <a:p>
            <a:pPr marL="0" indent="0">
              <a:buNone/>
            </a:pPr>
            <a:r>
              <a:rPr lang="en-US" sz="850" dirty="0">
                <a:solidFill>
                  <a:srgbClr val="E8EDF7"/>
                </a:solidFill>
              </a:rPr>
              <a:t>Nurture email</a:t>
            </a:r>
            <a:endParaRPr lang="en-US" sz="850" dirty="0"/>
          </a:p>
        </p:txBody>
      </p:sp>
      <p:sp>
        <p:nvSpPr>
          <p:cNvPr id="20" name="Shape 17"/>
          <p:cNvSpPr/>
          <p:nvPr/>
        </p:nvSpPr>
        <p:spPr>
          <a:xfrm>
            <a:off x="7086600" y="3310128"/>
            <a:ext cx="1645920" cy="713232"/>
          </a:xfrm>
          <a:prstGeom prst="rect">
            <a:avLst/>
          </a:prstGeom>
          <a:solidFill>
            <a:srgbClr val="0D1B45"/>
          </a:solidFill>
          <a:ln w="12700">
            <a:solidFill>
              <a:srgbClr val="00C8E0"/>
            </a:solidFill>
            <a:prstDash val="solid"/>
          </a:ln>
        </p:spPr>
      </p:sp>
      <p:sp>
        <p:nvSpPr>
          <p:cNvPr id="21" name="Shape 18"/>
          <p:cNvSpPr/>
          <p:nvPr/>
        </p:nvSpPr>
        <p:spPr>
          <a:xfrm>
            <a:off x="7086600" y="3310128"/>
            <a:ext cx="64008" cy="713232"/>
          </a:xfrm>
          <a:prstGeom prst="rect">
            <a:avLst/>
          </a:prstGeom>
          <a:solidFill>
            <a:srgbClr val="00C8E0"/>
          </a:solidFill>
          <a:ln w="12700">
            <a:solidFill>
              <a:srgbClr val="00C8E0"/>
            </a:solidFill>
            <a:prstDash val="solid"/>
          </a:ln>
        </p:spPr>
      </p:sp>
      <p:sp>
        <p:nvSpPr>
          <p:cNvPr id="22" name="Text 19"/>
          <p:cNvSpPr/>
          <p:nvPr/>
        </p:nvSpPr>
        <p:spPr>
          <a:xfrm>
            <a:off x="7269480" y="3364992"/>
            <a:ext cx="1371600" cy="237744"/>
          </a:xfrm>
          <a:prstGeom prst="rect">
            <a:avLst/>
          </a:prstGeom>
          <a:noFill/>
          <a:ln/>
        </p:spPr>
        <p:txBody>
          <a:bodyPr wrap="square" rtlCol="0" anchor="ctr"/>
          <a:lstStyle/>
          <a:p>
            <a:pPr marL="0" indent="0">
              <a:buNone/>
            </a:pPr>
            <a:r>
              <a:rPr lang="en-US" sz="1200" b="1" dirty="0">
                <a:solidFill>
                  <a:srgbClr val="00C8E0"/>
                </a:solidFill>
              </a:rPr>
              <a:t>COLD</a:t>
            </a:r>
            <a:endParaRPr lang="en-US" sz="1200" dirty="0"/>
          </a:p>
        </p:txBody>
      </p:sp>
      <p:sp>
        <p:nvSpPr>
          <p:cNvPr id="23" name="Text 20"/>
          <p:cNvSpPr/>
          <p:nvPr/>
        </p:nvSpPr>
        <p:spPr>
          <a:xfrm>
            <a:off x="7269480" y="3602736"/>
            <a:ext cx="1371600" cy="182880"/>
          </a:xfrm>
          <a:prstGeom prst="rect">
            <a:avLst/>
          </a:prstGeom>
          <a:noFill/>
          <a:ln/>
        </p:spPr>
        <p:txBody>
          <a:bodyPr wrap="square" rtlCol="0" anchor="ctr"/>
          <a:lstStyle/>
          <a:p>
            <a:pPr marL="0" indent="0">
              <a:buNone/>
            </a:pPr>
            <a:r>
              <a:rPr lang="en-US" sz="850" dirty="0">
                <a:solidFill>
                  <a:srgbClr val="8899BB"/>
                </a:solidFill>
              </a:rPr>
              <a:t>Score: 25-44</a:t>
            </a:r>
            <a:endParaRPr lang="en-US" sz="850" dirty="0"/>
          </a:p>
        </p:txBody>
      </p:sp>
      <p:sp>
        <p:nvSpPr>
          <p:cNvPr id="24" name="Text 21"/>
          <p:cNvSpPr/>
          <p:nvPr/>
        </p:nvSpPr>
        <p:spPr>
          <a:xfrm>
            <a:off x="7269480" y="3785616"/>
            <a:ext cx="1371600" cy="182880"/>
          </a:xfrm>
          <a:prstGeom prst="rect">
            <a:avLst/>
          </a:prstGeom>
          <a:noFill/>
          <a:ln/>
        </p:spPr>
        <p:txBody>
          <a:bodyPr wrap="square" rtlCol="0" anchor="ctr"/>
          <a:lstStyle/>
          <a:p>
            <a:pPr marL="0" indent="0">
              <a:buNone/>
            </a:pPr>
            <a:r>
              <a:rPr lang="en-US" sz="850" dirty="0">
                <a:solidFill>
                  <a:srgbClr val="E8EDF7"/>
                </a:solidFill>
              </a:rPr>
              <a:t>Drip campaign</a:t>
            </a:r>
            <a:endParaRPr lang="en-US" sz="850" dirty="0"/>
          </a:p>
        </p:txBody>
      </p:sp>
      <p:sp>
        <p:nvSpPr>
          <p:cNvPr id="25" name="Shape 22"/>
          <p:cNvSpPr/>
          <p:nvPr/>
        </p:nvSpPr>
        <p:spPr>
          <a:xfrm>
            <a:off x="7086600" y="4151376"/>
            <a:ext cx="1645920" cy="713232"/>
          </a:xfrm>
          <a:prstGeom prst="rect">
            <a:avLst/>
          </a:prstGeom>
          <a:solidFill>
            <a:srgbClr val="0D1B45"/>
          </a:solidFill>
          <a:ln w="12700">
            <a:solidFill>
              <a:srgbClr val="4A5578"/>
            </a:solidFill>
            <a:prstDash val="solid"/>
          </a:ln>
        </p:spPr>
      </p:sp>
      <p:sp>
        <p:nvSpPr>
          <p:cNvPr id="26" name="Shape 23"/>
          <p:cNvSpPr/>
          <p:nvPr/>
        </p:nvSpPr>
        <p:spPr>
          <a:xfrm>
            <a:off x="7086600" y="4151376"/>
            <a:ext cx="64008" cy="713232"/>
          </a:xfrm>
          <a:prstGeom prst="rect">
            <a:avLst/>
          </a:prstGeom>
          <a:solidFill>
            <a:srgbClr val="4A5578"/>
          </a:solidFill>
          <a:ln w="12700">
            <a:solidFill>
              <a:srgbClr val="4A5578"/>
            </a:solidFill>
            <a:prstDash val="solid"/>
          </a:ln>
        </p:spPr>
      </p:sp>
      <p:sp>
        <p:nvSpPr>
          <p:cNvPr id="27" name="Text 24"/>
          <p:cNvSpPr/>
          <p:nvPr/>
        </p:nvSpPr>
        <p:spPr>
          <a:xfrm>
            <a:off x="7269480" y="4206240"/>
            <a:ext cx="1371600" cy="237744"/>
          </a:xfrm>
          <a:prstGeom prst="rect">
            <a:avLst/>
          </a:prstGeom>
          <a:noFill/>
          <a:ln/>
        </p:spPr>
        <p:txBody>
          <a:bodyPr wrap="square" rtlCol="0" anchor="ctr"/>
          <a:lstStyle/>
          <a:p>
            <a:pPr marL="0" indent="0">
              <a:buNone/>
            </a:pPr>
            <a:r>
              <a:rPr lang="en-US" sz="1200" b="1" dirty="0">
                <a:solidFill>
                  <a:srgbClr val="4A5578"/>
                </a:solidFill>
              </a:rPr>
              <a:t>DEAD</a:t>
            </a:r>
            <a:endParaRPr lang="en-US" sz="1200" dirty="0"/>
          </a:p>
        </p:txBody>
      </p:sp>
      <p:sp>
        <p:nvSpPr>
          <p:cNvPr id="28" name="Text 25"/>
          <p:cNvSpPr/>
          <p:nvPr/>
        </p:nvSpPr>
        <p:spPr>
          <a:xfrm>
            <a:off x="7269480" y="4443984"/>
            <a:ext cx="1371600" cy="182880"/>
          </a:xfrm>
          <a:prstGeom prst="rect">
            <a:avLst/>
          </a:prstGeom>
          <a:noFill/>
          <a:ln/>
        </p:spPr>
        <p:txBody>
          <a:bodyPr wrap="square" rtlCol="0" anchor="ctr"/>
          <a:lstStyle/>
          <a:p>
            <a:pPr marL="0" indent="0">
              <a:buNone/>
            </a:pPr>
            <a:r>
              <a:rPr lang="en-US" sz="850" dirty="0">
                <a:solidFill>
                  <a:srgbClr val="8899BB"/>
                </a:solidFill>
              </a:rPr>
              <a:t>Score: &lt;25</a:t>
            </a:r>
            <a:endParaRPr lang="en-US" sz="850" dirty="0"/>
          </a:p>
        </p:txBody>
      </p:sp>
      <p:sp>
        <p:nvSpPr>
          <p:cNvPr id="29" name="Text 26"/>
          <p:cNvSpPr/>
          <p:nvPr/>
        </p:nvSpPr>
        <p:spPr>
          <a:xfrm>
            <a:off x="7269480" y="4626864"/>
            <a:ext cx="1371600" cy="182880"/>
          </a:xfrm>
          <a:prstGeom prst="rect">
            <a:avLst/>
          </a:prstGeom>
          <a:noFill/>
          <a:ln/>
        </p:spPr>
        <p:txBody>
          <a:bodyPr wrap="square" rtlCol="0" anchor="ctr"/>
          <a:lstStyle/>
          <a:p>
            <a:pPr marL="0" indent="0">
              <a:buNone/>
            </a:pPr>
            <a:r>
              <a:rPr lang="en-US" sz="850" dirty="0">
                <a:solidFill>
                  <a:srgbClr val="E8EDF7"/>
                </a:solidFill>
              </a:rPr>
              <a:t>Newsletter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SYSTEM ARCHITECTURE</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ML Pipeline Architecture</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9 / 11</a:t>
            </a:r>
            <a:endParaRPr lang="en-US" sz="800" dirty="0"/>
          </a:p>
        </p:txBody>
      </p:sp>
      <p:sp>
        <p:nvSpPr>
          <p:cNvPr id="6" name="Shape 4"/>
          <p:cNvSpPr/>
          <p:nvPr/>
        </p:nvSpPr>
        <p:spPr>
          <a:xfrm>
            <a:off x="228600" y="2331720"/>
            <a:ext cx="1051560" cy="685800"/>
          </a:xfrm>
          <a:prstGeom prst="rect">
            <a:avLst/>
          </a:prstGeom>
          <a:solidFill>
            <a:srgbClr val="0D1B45"/>
          </a:solidFill>
          <a:ln w="19050">
            <a:solidFill>
              <a:srgbClr val="00C8E0"/>
            </a:solidFill>
            <a:prstDash val="solid"/>
          </a:ln>
          <a:effectLst>
            <a:outerShdw blurRad="101600" dist="38100" dir="8100000" algn="bl" rotWithShape="0">
              <a:srgbClr val="000000">
                <a:alpha val="20000"/>
              </a:srgbClr>
            </a:outerShdw>
          </a:effectLst>
        </p:spPr>
      </p:sp>
      <p:sp>
        <p:nvSpPr>
          <p:cNvPr id="7" name="Shape 5"/>
          <p:cNvSpPr/>
          <p:nvPr/>
        </p:nvSpPr>
        <p:spPr>
          <a:xfrm>
            <a:off x="228600" y="2331720"/>
            <a:ext cx="1051560" cy="54864"/>
          </a:xfrm>
          <a:prstGeom prst="rect">
            <a:avLst/>
          </a:prstGeom>
          <a:solidFill>
            <a:srgbClr val="00C8E0"/>
          </a:solidFill>
          <a:ln w="12700">
            <a:solidFill>
              <a:srgbClr val="00C8E0"/>
            </a:solidFill>
            <a:prstDash val="solid"/>
          </a:ln>
        </p:spPr>
      </p:sp>
      <p:sp>
        <p:nvSpPr>
          <p:cNvPr id="8" name="Text 6"/>
          <p:cNvSpPr/>
          <p:nvPr/>
        </p:nvSpPr>
        <p:spPr>
          <a:xfrm>
            <a:off x="228600" y="2441448"/>
            <a:ext cx="1051560" cy="548640"/>
          </a:xfrm>
          <a:prstGeom prst="rect">
            <a:avLst/>
          </a:prstGeom>
          <a:noFill/>
          <a:ln/>
        </p:spPr>
        <p:txBody>
          <a:bodyPr wrap="square" rtlCol="0" anchor="t"/>
          <a:lstStyle/>
          <a:p>
            <a:pPr marL="0" indent="0" algn="ctr">
              <a:buNone/>
            </a:pPr>
            <a:r>
              <a:rPr lang="en-US" sz="900" dirty="0">
                <a:solidFill>
                  <a:srgbClr val="E8EDF7"/>
                </a:solidFill>
              </a:rPr>
              <a:t>Dataset</a:t>
            </a:r>
            <a:endParaRPr lang="en-US" sz="900" dirty="0"/>
          </a:p>
          <a:p>
            <a:pPr marL="0" indent="0" algn="ctr">
              <a:buNone/>
            </a:pPr>
            <a:r>
              <a:rPr lang="en-US" sz="900" dirty="0">
                <a:solidFill>
                  <a:srgbClr val="E8EDF7"/>
                </a:solidFill>
              </a:rPr>
              <a:t>(9,240 rows)</a:t>
            </a:r>
            <a:endParaRPr lang="en-US" sz="900" dirty="0"/>
          </a:p>
        </p:txBody>
      </p:sp>
      <p:sp>
        <p:nvSpPr>
          <p:cNvPr id="9" name="Shape 7"/>
          <p:cNvSpPr/>
          <p:nvPr/>
        </p:nvSpPr>
        <p:spPr>
          <a:xfrm>
            <a:off x="1280160" y="2638044"/>
            <a:ext cx="155448" cy="73152"/>
          </a:xfrm>
          <a:prstGeom prst="rect">
            <a:avLst/>
          </a:prstGeom>
          <a:solidFill>
            <a:srgbClr val="00C8E0"/>
          </a:solidFill>
          <a:ln w="12700">
            <a:solidFill>
              <a:srgbClr val="00C8E0"/>
            </a:solidFill>
            <a:prstDash val="solid"/>
          </a:ln>
        </p:spPr>
      </p:sp>
      <p:sp>
        <p:nvSpPr>
          <p:cNvPr id="10" name="Shape 8"/>
          <p:cNvSpPr/>
          <p:nvPr/>
        </p:nvSpPr>
        <p:spPr>
          <a:xfrm>
            <a:off x="1435608" y="2331720"/>
            <a:ext cx="1051560" cy="685800"/>
          </a:xfrm>
          <a:prstGeom prst="rect">
            <a:avLst/>
          </a:prstGeom>
          <a:solidFill>
            <a:srgbClr val="0D1B45"/>
          </a:solidFill>
          <a:ln w="19050">
            <a:solidFill>
              <a:srgbClr val="FF7A00"/>
            </a:solidFill>
            <a:prstDash val="solid"/>
          </a:ln>
          <a:effectLst>
            <a:outerShdw blurRad="101600" dist="38100" dir="8100000" algn="bl" rotWithShape="0">
              <a:srgbClr val="000000">
                <a:alpha val="20000"/>
              </a:srgbClr>
            </a:outerShdw>
          </a:effectLst>
        </p:spPr>
      </p:sp>
      <p:sp>
        <p:nvSpPr>
          <p:cNvPr id="11" name="Shape 9"/>
          <p:cNvSpPr/>
          <p:nvPr/>
        </p:nvSpPr>
        <p:spPr>
          <a:xfrm>
            <a:off x="1435608" y="2331720"/>
            <a:ext cx="1051560" cy="54864"/>
          </a:xfrm>
          <a:prstGeom prst="rect">
            <a:avLst/>
          </a:prstGeom>
          <a:solidFill>
            <a:srgbClr val="FF7A00"/>
          </a:solidFill>
          <a:ln w="12700">
            <a:solidFill>
              <a:srgbClr val="FF7A00"/>
            </a:solidFill>
            <a:prstDash val="solid"/>
          </a:ln>
        </p:spPr>
      </p:sp>
      <p:sp>
        <p:nvSpPr>
          <p:cNvPr id="12" name="Text 10"/>
          <p:cNvSpPr/>
          <p:nvPr/>
        </p:nvSpPr>
        <p:spPr>
          <a:xfrm>
            <a:off x="1435608" y="2441448"/>
            <a:ext cx="1051560" cy="548640"/>
          </a:xfrm>
          <a:prstGeom prst="rect">
            <a:avLst/>
          </a:prstGeom>
          <a:noFill/>
          <a:ln/>
        </p:spPr>
        <p:txBody>
          <a:bodyPr wrap="square" rtlCol="0" anchor="t"/>
          <a:lstStyle/>
          <a:p>
            <a:pPr marL="0" indent="0" algn="ctr">
              <a:buNone/>
            </a:pPr>
            <a:r>
              <a:rPr lang="en-US" sz="900" dirty="0">
                <a:solidFill>
                  <a:srgbClr val="E8EDF7"/>
                </a:solidFill>
              </a:rPr>
              <a:t>Preprocessing</a:t>
            </a:r>
            <a:endParaRPr lang="en-US" sz="900" dirty="0"/>
          </a:p>
          <a:p>
            <a:pPr marL="0" indent="0" algn="ctr">
              <a:buNone/>
            </a:pPr>
            <a:r>
              <a:rPr lang="en-US" sz="900" dirty="0">
                <a:solidFill>
                  <a:srgbClr val="E8EDF7"/>
                </a:solidFill>
              </a:rPr>
              <a:t>&amp; Cleaning</a:t>
            </a:r>
            <a:endParaRPr lang="en-US" sz="900" dirty="0"/>
          </a:p>
        </p:txBody>
      </p:sp>
      <p:sp>
        <p:nvSpPr>
          <p:cNvPr id="13" name="Shape 11"/>
          <p:cNvSpPr/>
          <p:nvPr/>
        </p:nvSpPr>
        <p:spPr>
          <a:xfrm>
            <a:off x="2487168" y="2638044"/>
            <a:ext cx="155448" cy="73152"/>
          </a:xfrm>
          <a:prstGeom prst="rect">
            <a:avLst/>
          </a:prstGeom>
          <a:solidFill>
            <a:srgbClr val="FF7A00"/>
          </a:solidFill>
          <a:ln w="12700">
            <a:solidFill>
              <a:srgbClr val="FF7A00"/>
            </a:solidFill>
            <a:prstDash val="solid"/>
          </a:ln>
        </p:spPr>
      </p:sp>
      <p:sp>
        <p:nvSpPr>
          <p:cNvPr id="14" name="Shape 12"/>
          <p:cNvSpPr/>
          <p:nvPr/>
        </p:nvSpPr>
        <p:spPr>
          <a:xfrm>
            <a:off x="2642616" y="2331720"/>
            <a:ext cx="1051560" cy="685800"/>
          </a:xfrm>
          <a:prstGeom prst="rect">
            <a:avLst/>
          </a:prstGeom>
          <a:solidFill>
            <a:srgbClr val="0D1B45"/>
          </a:solidFill>
          <a:ln w="19050">
            <a:solidFill>
              <a:srgbClr val="FF7A00"/>
            </a:solidFill>
            <a:prstDash val="solid"/>
          </a:ln>
          <a:effectLst>
            <a:outerShdw blurRad="101600" dist="38100" dir="8100000" algn="bl" rotWithShape="0">
              <a:srgbClr val="000000">
                <a:alpha val="20000"/>
              </a:srgbClr>
            </a:outerShdw>
          </a:effectLst>
        </p:spPr>
      </p:sp>
      <p:sp>
        <p:nvSpPr>
          <p:cNvPr id="15" name="Shape 13"/>
          <p:cNvSpPr/>
          <p:nvPr/>
        </p:nvSpPr>
        <p:spPr>
          <a:xfrm>
            <a:off x="2642616" y="2331720"/>
            <a:ext cx="1051560" cy="54864"/>
          </a:xfrm>
          <a:prstGeom prst="rect">
            <a:avLst/>
          </a:prstGeom>
          <a:solidFill>
            <a:srgbClr val="FF7A00"/>
          </a:solidFill>
          <a:ln w="12700">
            <a:solidFill>
              <a:srgbClr val="FF7A00"/>
            </a:solidFill>
            <a:prstDash val="solid"/>
          </a:ln>
        </p:spPr>
      </p:sp>
      <p:sp>
        <p:nvSpPr>
          <p:cNvPr id="16" name="Text 14"/>
          <p:cNvSpPr/>
          <p:nvPr/>
        </p:nvSpPr>
        <p:spPr>
          <a:xfrm>
            <a:off x="2642616" y="2441448"/>
            <a:ext cx="1051560" cy="548640"/>
          </a:xfrm>
          <a:prstGeom prst="rect">
            <a:avLst/>
          </a:prstGeom>
          <a:noFill/>
          <a:ln/>
        </p:spPr>
        <p:txBody>
          <a:bodyPr wrap="square" rtlCol="0" anchor="t"/>
          <a:lstStyle/>
          <a:p>
            <a:pPr marL="0" indent="0" algn="ctr">
              <a:buNone/>
            </a:pPr>
            <a:r>
              <a:rPr lang="en-US" sz="900" dirty="0">
                <a:solidFill>
                  <a:srgbClr val="E8EDF7"/>
                </a:solidFill>
              </a:rPr>
              <a:t>Feature</a:t>
            </a:r>
            <a:endParaRPr lang="en-US" sz="900" dirty="0"/>
          </a:p>
          <a:p>
            <a:pPr marL="0" indent="0" algn="ctr">
              <a:buNone/>
            </a:pPr>
            <a:r>
              <a:rPr lang="en-US" sz="900" dirty="0">
                <a:solidFill>
                  <a:srgbClr val="E8EDF7"/>
                </a:solidFill>
              </a:rPr>
              <a:t>Engineering</a:t>
            </a:r>
            <a:endParaRPr lang="en-US" sz="900" dirty="0"/>
          </a:p>
        </p:txBody>
      </p:sp>
      <p:sp>
        <p:nvSpPr>
          <p:cNvPr id="17" name="Shape 15"/>
          <p:cNvSpPr/>
          <p:nvPr/>
        </p:nvSpPr>
        <p:spPr>
          <a:xfrm>
            <a:off x="3694176" y="2638044"/>
            <a:ext cx="155448" cy="73152"/>
          </a:xfrm>
          <a:prstGeom prst="rect">
            <a:avLst/>
          </a:prstGeom>
          <a:solidFill>
            <a:srgbClr val="FF7A00"/>
          </a:solidFill>
          <a:ln w="12700">
            <a:solidFill>
              <a:srgbClr val="FF7A00"/>
            </a:solidFill>
            <a:prstDash val="solid"/>
          </a:ln>
        </p:spPr>
      </p:sp>
      <p:sp>
        <p:nvSpPr>
          <p:cNvPr id="18" name="Shape 16"/>
          <p:cNvSpPr/>
          <p:nvPr/>
        </p:nvSpPr>
        <p:spPr>
          <a:xfrm>
            <a:off x="3849624" y="2331720"/>
            <a:ext cx="1051560" cy="685800"/>
          </a:xfrm>
          <a:prstGeom prst="rect">
            <a:avLst/>
          </a:prstGeom>
          <a:solidFill>
            <a:srgbClr val="0D1B45"/>
          </a:solidFill>
          <a:ln w="19050">
            <a:solidFill>
              <a:srgbClr val="FFD166"/>
            </a:solidFill>
            <a:prstDash val="solid"/>
          </a:ln>
          <a:effectLst>
            <a:outerShdw blurRad="101600" dist="38100" dir="8100000" algn="bl" rotWithShape="0">
              <a:srgbClr val="000000">
                <a:alpha val="20000"/>
              </a:srgbClr>
            </a:outerShdw>
          </a:effectLst>
        </p:spPr>
      </p:sp>
      <p:sp>
        <p:nvSpPr>
          <p:cNvPr id="19" name="Shape 17"/>
          <p:cNvSpPr/>
          <p:nvPr/>
        </p:nvSpPr>
        <p:spPr>
          <a:xfrm>
            <a:off x="3849624" y="2331720"/>
            <a:ext cx="1051560" cy="54864"/>
          </a:xfrm>
          <a:prstGeom prst="rect">
            <a:avLst/>
          </a:prstGeom>
          <a:solidFill>
            <a:srgbClr val="FFD166"/>
          </a:solidFill>
          <a:ln w="12700">
            <a:solidFill>
              <a:srgbClr val="FFD166"/>
            </a:solidFill>
            <a:prstDash val="solid"/>
          </a:ln>
        </p:spPr>
      </p:sp>
      <p:sp>
        <p:nvSpPr>
          <p:cNvPr id="20" name="Text 18"/>
          <p:cNvSpPr/>
          <p:nvPr/>
        </p:nvSpPr>
        <p:spPr>
          <a:xfrm>
            <a:off x="3849624" y="2441448"/>
            <a:ext cx="1051560" cy="548640"/>
          </a:xfrm>
          <a:prstGeom prst="rect">
            <a:avLst/>
          </a:prstGeom>
          <a:noFill/>
          <a:ln/>
        </p:spPr>
        <p:txBody>
          <a:bodyPr wrap="square" rtlCol="0" anchor="t"/>
          <a:lstStyle/>
          <a:p>
            <a:pPr marL="0" indent="0" algn="ctr">
              <a:buNone/>
            </a:pPr>
            <a:r>
              <a:rPr lang="en-US" sz="900" dirty="0">
                <a:solidFill>
                  <a:srgbClr val="E8EDF7"/>
                </a:solidFill>
              </a:rPr>
              <a:t>Random Forest</a:t>
            </a:r>
            <a:endParaRPr lang="en-US" sz="900" dirty="0"/>
          </a:p>
          <a:p>
            <a:pPr marL="0" indent="0" algn="ctr">
              <a:buNone/>
            </a:pPr>
            <a:r>
              <a:rPr lang="en-US" sz="900" dirty="0">
                <a:solidFill>
                  <a:srgbClr val="E8EDF7"/>
                </a:solidFill>
              </a:rPr>
              <a:t>Model</a:t>
            </a:r>
            <a:endParaRPr lang="en-US" sz="900" dirty="0"/>
          </a:p>
        </p:txBody>
      </p:sp>
      <p:sp>
        <p:nvSpPr>
          <p:cNvPr id="21" name="Shape 19"/>
          <p:cNvSpPr/>
          <p:nvPr/>
        </p:nvSpPr>
        <p:spPr>
          <a:xfrm>
            <a:off x="4901184" y="2638044"/>
            <a:ext cx="155448" cy="73152"/>
          </a:xfrm>
          <a:prstGeom prst="rect">
            <a:avLst/>
          </a:prstGeom>
          <a:solidFill>
            <a:srgbClr val="FFD166"/>
          </a:solidFill>
          <a:ln w="12700">
            <a:solidFill>
              <a:srgbClr val="FFD166"/>
            </a:solidFill>
            <a:prstDash val="solid"/>
          </a:ln>
        </p:spPr>
      </p:sp>
      <p:sp>
        <p:nvSpPr>
          <p:cNvPr id="22" name="Shape 20"/>
          <p:cNvSpPr/>
          <p:nvPr/>
        </p:nvSpPr>
        <p:spPr>
          <a:xfrm>
            <a:off x="5056632" y="2331720"/>
            <a:ext cx="1051560" cy="685800"/>
          </a:xfrm>
          <a:prstGeom prst="rect">
            <a:avLst/>
          </a:prstGeom>
          <a:solidFill>
            <a:srgbClr val="0D1B45"/>
          </a:solidFill>
          <a:ln w="19050">
            <a:solidFill>
              <a:srgbClr val="00C48C"/>
            </a:solidFill>
            <a:prstDash val="solid"/>
          </a:ln>
          <a:effectLst>
            <a:outerShdw blurRad="101600" dist="38100" dir="8100000" algn="bl" rotWithShape="0">
              <a:srgbClr val="000000">
                <a:alpha val="20000"/>
              </a:srgbClr>
            </a:outerShdw>
          </a:effectLst>
        </p:spPr>
      </p:sp>
      <p:sp>
        <p:nvSpPr>
          <p:cNvPr id="23" name="Shape 21"/>
          <p:cNvSpPr/>
          <p:nvPr/>
        </p:nvSpPr>
        <p:spPr>
          <a:xfrm>
            <a:off x="5056632" y="2331720"/>
            <a:ext cx="1051560" cy="54864"/>
          </a:xfrm>
          <a:prstGeom prst="rect">
            <a:avLst/>
          </a:prstGeom>
          <a:solidFill>
            <a:srgbClr val="00C48C"/>
          </a:solidFill>
          <a:ln w="12700">
            <a:solidFill>
              <a:srgbClr val="00C48C"/>
            </a:solidFill>
            <a:prstDash val="solid"/>
          </a:ln>
        </p:spPr>
      </p:sp>
      <p:sp>
        <p:nvSpPr>
          <p:cNvPr id="24" name="Text 22"/>
          <p:cNvSpPr/>
          <p:nvPr/>
        </p:nvSpPr>
        <p:spPr>
          <a:xfrm>
            <a:off x="5056632" y="2441448"/>
            <a:ext cx="1051560" cy="548640"/>
          </a:xfrm>
          <a:prstGeom prst="rect">
            <a:avLst/>
          </a:prstGeom>
          <a:noFill/>
          <a:ln/>
        </p:spPr>
        <p:txBody>
          <a:bodyPr wrap="square" rtlCol="0" anchor="t"/>
          <a:lstStyle/>
          <a:p>
            <a:pPr marL="0" indent="0" algn="ctr">
              <a:buNone/>
            </a:pPr>
            <a:r>
              <a:rPr lang="en-US" sz="900" dirty="0">
                <a:solidFill>
                  <a:srgbClr val="E8EDF7"/>
                </a:solidFill>
              </a:rPr>
              <a:t>Lead Scoring</a:t>
            </a:r>
            <a:endParaRPr lang="en-US" sz="900" dirty="0"/>
          </a:p>
          <a:p>
            <a:pPr marL="0" indent="0" algn="ctr">
              <a:buNone/>
            </a:pPr>
            <a:r>
              <a:rPr lang="en-US" sz="900" dirty="0">
                <a:solidFill>
                  <a:srgbClr val="E8EDF7"/>
                </a:solidFill>
              </a:rPr>
              <a:t>Engine (0-100)</a:t>
            </a:r>
            <a:endParaRPr lang="en-US" sz="900" dirty="0"/>
          </a:p>
        </p:txBody>
      </p:sp>
      <p:sp>
        <p:nvSpPr>
          <p:cNvPr id="25" name="Shape 23"/>
          <p:cNvSpPr/>
          <p:nvPr/>
        </p:nvSpPr>
        <p:spPr>
          <a:xfrm>
            <a:off x="6108192" y="2638044"/>
            <a:ext cx="155448" cy="73152"/>
          </a:xfrm>
          <a:prstGeom prst="rect">
            <a:avLst/>
          </a:prstGeom>
          <a:solidFill>
            <a:srgbClr val="00C48C"/>
          </a:solidFill>
          <a:ln w="12700">
            <a:solidFill>
              <a:srgbClr val="00C48C"/>
            </a:solidFill>
            <a:prstDash val="solid"/>
          </a:ln>
        </p:spPr>
      </p:sp>
      <p:sp>
        <p:nvSpPr>
          <p:cNvPr id="26" name="Shape 24"/>
          <p:cNvSpPr/>
          <p:nvPr/>
        </p:nvSpPr>
        <p:spPr>
          <a:xfrm>
            <a:off x="6263640" y="2331720"/>
            <a:ext cx="1051560" cy="685800"/>
          </a:xfrm>
          <a:prstGeom prst="rect">
            <a:avLst/>
          </a:prstGeom>
          <a:solidFill>
            <a:srgbClr val="0D1B45"/>
          </a:solidFill>
          <a:ln w="19050">
            <a:solidFill>
              <a:srgbClr val="00C48C"/>
            </a:solidFill>
            <a:prstDash val="solid"/>
          </a:ln>
          <a:effectLst>
            <a:outerShdw blurRad="101600" dist="38100" dir="8100000" algn="bl" rotWithShape="0">
              <a:srgbClr val="000000">
                <a:alpha val="20000"/>
              </a:srgbClr>
            </a:outerShdw>
          </a:effectLst>
        </p:spPr>
      </p:sp>
      <p:sp>
        <p:nvSpPr>
          <p:cNvPr id="27" name="Shape 25"/>
          <p:cNvSpPr/>
          <p:nvPr/>
        </p:nvSpPr>
        <p:spPr>
          <a:xfrm>
            <a:off x="6263640" y="2331720"/>
            <a:ext cx="1051560" cy="54864"/>
          </a:xfrm>
          <a:prstGeom prst="rect">
            <a:avLst/>
          </a:prstGeom>
          <a:solidFill>
            <a:srgbClr val="00C48C"/>
          </a:solidFill>
          <a:ln w="12700">
            <a:solidFill>
              <a:srgbClr val="00C48C"/>
            </a:solidFill>
            <a:prstDash val="solid"/>
          </a:ln>
        </p:spPr>
      </p:sp>
      <p:sp>
        <p:nvSpPr>
          <p:cNvPr id="28" name="Text 26"/>
          <p:cNvSpPr/>
          <p:nvPr/>
        </p:nvSpPr>
        <p:spPr>
          <a:xfrm>
            <a:off x="6263640" y="2441448"/>
            <a:ext cx="1051560" cy="548640"/>
          </a:xfrm>
          <a:prstGeom prst="rect">
            <a:avLst/>
          </a:prstGeom>
          <a:noFill/>
          <a:ln/>
        </p:spPr>
        <p:txBody>
          <a:bodyPr wrap="square" rtlCol="0" anchor="t"/>
          <a:lstStyle/>
          <a:p>
            <a:pPr marL="0" indent="0" algn="ctr">
              <a:buNone/>
            </a:pPr>
            <a:r>
              <a:rPr lang="en-US" sz="900" dirty="0">
                <a:solidFill>
                  <a:srgbClr val="E8EDF7"/>
                </a:solidFill>
              </a:rPr>
              <a:t>DSS Dashboard</a:t>
            </a:r>
            <a:endParaRPr lang="en-US" sz="900" dirty="0"/>
          </a:p>
        </p:txBody>
      </p:sp>
      <p:sp>
        <p:nvSpPr>
          <p:cNvPr id="29" name="Shape 27"/>
          <p:cNvSpPr/>
          <p:nvPr/>
        </p:nvSpPr>
        <p:spPr>
          <a:xfrm>
            <a:off x="7315200" y="2638044"/>
            <a:ext cx="155448" cy="73152"/>
          </a:xfrm>
          <a:prstGeom prst="rect">
            <a:avLst/>
          </a:prstGeom>
          <a:solidFill>
            <a:srgbClr val="00C48C"/>
          </a:solidFill>
          <a:ln w="12700">
            <a:solidFill>
              <a:srgbClr val="00C48C"/>
            </a:solidFill>
            <a:prstDash val="solid"/>
          </a:ln>
        </p:spPr>
      </p:sp>
      <p:sp>
        <p:nvSpPr>
          <p:cNvPr id="30" name="Shape 28"/>
          <p:cNvSpPr/>
          <p:nvPr/>
        </p:nvSpPr>
        <p:spPr>
          <a:xfrm>
            <a:off x="7470648" y="2331720"/>
            <a:ext cx="1051560" cy="685800"/>
          </a:xfrm>
          <a:prstGeom prst="rect">
            <a:avLst/>
          </a:prstGeom>
          <a:solidFill>
            <a:srgbClr val="0D1B45"/>
          </a:solidFill>
          <a:ln w="19050">
            <a:solidFill>
              <a:srgbClr val="00C8E0"/>
            </a:solidFill>
            <a:prstDash val="solid"/>
          </a:ln>
          <a:effectLst>
            <a:outerShdw blurRad="101600" dist="38100" dir="8100000" algn="bl" rotWithShape="0">
              <a:srgbClr val="000000">
                <a:alpha val="20000"/>
              </a:srgbClr>
            </a:outerShdw>
          </a:effectLst>
        </p:spPr>
      </p:sp>
      <p:sp>
        <p:nvSpPr>
          <p:cNvPr id="31" name="Shape 29"/>
          <p:cNvSpPr/>
          <p:nvPr/>
        </p:nvSpPr>
        <p:spPr>
          <a:xfrm>
            <a:off x="7470648" y="2331720"/>
            <a:ext cx="1051560" cy="54864"/>
          </a:xfrm>
          <a:prstGeom prst="rect">
            <a:avLst/>
          </a:prstGeom>
          <a:solidFill>
            <a:srgbClr val="00C8E0"/>
          </a:solidFill>
          <a:ln w="12700">
            <a:solidFill>
              <a:srgbClr val="00C8E0"/>
            </a:solidFill>
            <a:prstDash val="solid"/>
          </a:ln>
        </p:spPr>
      </p:sp>
      <p:sp>
        <p:nvSpPr>
          <p:cNvPr id="32" name="Text 30"/>
          <p:cNvSpPr/>
          <p:nvPr/>
        </p:nvSpPr>
        <p:spPr>
          <a:xfrm>
            <a:off x="7470648" y="2441448"/>
            <a:ext cx="1051560" cy="548640"/>
          </a:xfrm>
          <a:prstGeom prst="rect">
            <a:avLst/>
          </a:prstGeom>
          <a:noFill/>
          <a:ln/>
        </p:spPr>
        <p:txBody>
          <a:bodyPr wrap="square" rtlCol="0" anchor="t"/>
          <a:lstStyle/>
          <a:p>
            <a:pPr marL="0" indent="0" algn="ctr">
              <a:buNone/>
            </a:pPr>
            <a:r>
              <a:rPr lang="en-US" sz="900" dirty="0">
                <a:solidFill>
                  <a:srgbClr val="E8EDF7"/>
                </a:solidFill>
              </a:rPr>
              <a:t>Business</a:t>
            </a:r>
            <a:endParaRPr lang="en-US" sz="900" dirty="0"/>
          </a:p>
          <a:p>
            <a:pPr marL="0" indent="0" algn="ctr">
              <a:buNone/>
            </a:pPr>
            <a:r>
              <a:rPr lang="en-US" sz="900" dirty="0">
                <a:solidFill>
                  <a:srgbClr val="E8EDF7"/>
                </a:solidFill>
              </a:rPr>
              <a:t>Recommendations</a:t>
            </a:r>
            <a:endParaRPr lang="en-US" sz="900" dirty="0"/>
          </a:p>
        </p:txBody>
      </p:sp>
      <p:sp>
        <p:nvSpPr>
          <p:cNvPr id="33" name="Text 31"/>
          <p:cNvSpPr/>
          <p:nvPr/>
        </p:nvSpPr>
        <p:spPr>
          <a:xfrm>
            <a:off x="228600" y="3127248"/>
            <a:ext cx="1051560" cy="347472"/>
          </a:xfrm>
          <a:prstGeom prst="rect">
            <a:avLst/>
          </a:prstGeom>
          <a:noFill/>
          <a:ln/>
        </p:spPr>
        <p:txBody>
          <a:bodyPr wrap="square" rtlCol="0" anchor="ctr"/>
          <a:lstStyle/>
          <a:p>
            <a:pPr marL="0" indent="0" algn="ctr">
              <a:buNone/>
            </a:pPr>
            <a:r>
              <a:rPr lang="en-US" sz="800" dirty="0">
                <a:solidFill>
                  <a:srgbClr val="8899BB"/>
                </a:solidFill>
              </a:rPr>
              <a:t>Raw CSV</a:t>
            </a:r>
            <a:endParaRPr lang="en-US" sz="800" dirty="0"/>
          </a:p>
        </p:txBody>
      </p:sp>
      <p:sp>
        <p:nvSpPr>
          <p:cNvPr id="34" name="Text 32"/>
          <p:cNvSpPr/>
          <p:nvPr/>
        </p:nvSpPr>
        <p:spPr>
          <a:xfrm>
            <a:off x="228600" y="3474720"/>
            <a:ext cx="1051560" cy="292608"/>
          </a:xfrm>
          <a:prstGeom prst="rect">
            <a:avLst/>
          </a:prstGeom>
          <a:noFill/>
          <a:ln/>
        </p:spPr>
        <p:txBody>
          <a:bodyPr wrap="square" rtlCol="0" anchor="ctr"/>
          <a:lstStyle/>
          <a:p>
            <a:pPr marL="0" indent="0" algn="ctr">
              <a:buNone/>
            </a:pPr>
            <a:r>
              <a:rPr lang="en-US" sz="750" i="1" dirty="0">
                <a:solidFill>
                  <a:srgbClr val="4A5578"/>
                </a:solidFill>
              </a:rPr>
              <a:t>Lead_Scoring.csv</a:t>
            </a:r>
            <a:endParaRPr lang="en-US" sz="750" dirty="0"/>
          </a:p>
        </p:txBody>
      </p:sp>
      <p:sp>
        <p:nvSpPr>
          <p:cNvPr id="35" name="Text 33"/>
          <p:cNvSpPr/>
          <p:nvPr/>
        </p:nvSpPr>
        <p:spPr>
          <a:xfrm>
            <a:off x="1435608" y="3127248"/>
            <a:ext cx="1051560" cy="347472"/>
          </a:xfrm>
          <a:prstGeom prst="rect">
            <a:avLst/>
          </a:prstGeom>
          <a:noFill/>
          <a:ln/>
        </p:spPr>
        <p:txBody>
          <a:bodyPr wrap="square" rtlCol="0" anchor="ctr"/>
          <a:lstStyle/>
          <a:p>
            <a:pPr marL="0" indent="0" algn="ctr">
              <a:buNone/>
            </a:pPr>
            <a:r>
              <a:rPr lang="en-US" sz="800" dirty="0">
                <a:solidFill>
                  <a:srgbClr val="8899BB"/>
                </a:solidFill>
              </a:rPr>
              <a:t>Null handling</a:t>
            </a:r>
            <a:endParaRPr lang="en-US" sz="800" dirty="0"/>
          </a:p>
          <a:p>
            <a:pPr marL="0" indent="0" algn="ctr">
              <a:buNone/>
            </a:pPr>
            <a:r>
              <a:rPr lang="en-US" sz="800" dirty="0">
                <a:solidFill>
                  <a:srgbClr val="8899BB"/>
                </a:solidFill>
              </a:rPr>
              <a:t>Outlier clipping</a:t>
            </a:r>
            <a:endParaRPr lang="en-US" sz="800" dirty="0"/>
          </a:p>
        </p:txBody>
      </p:sp>
      <p:sp>
        <p:nvSpPr>
          <p:cNvPr id="36" name="Text 34"/>
          <p:cNvSpPr/>
          <p:nvPr/>
        </p:nvSpPr>
        <p:spPr>
          <a:xfrm>
            <a:off x="1435608" y="3474720"/>
            <a:ext cx="1051560" cy="292608"/>
          </a:xfrm>
          <a:prstGeom prst="rect">
            <a:avLst/>
          </a:prstGeom>
          <a:noFill/>
          <a:ln/>
        </p:spPr>
        <p:txBody>
          <a:bodyPr wrap="square" rtlCol="0" anchor="ctr"/>
          <a:lstStyle/>
          <a:p>
            <a:pPr marL="0" indent="0" algn="ctr">
              <a:buNone/>
            </a:pPr>
            <a:r>
              <a:rPr lang="en-US" sz="750" i="1" dirty="0">
                <a:solidFill>
                  <a:srgbClr val="4A5578"/>
                </a:solidFill>
              </a:rPr>
              <a:t>Mode/Median impute</a:t>
            </a:r>
            <a:endParaRPr lang="en-US" sz="750" dirty="0"/>
          </a:p>
        </p:txBody>
      </p:sp>
      <p:sp>
        <p:nvSpPr>
          <p:cNvPr id="37" name="Text 35"/>
          <p:cNvSpPr/>
          <p:nvPr/>
        </p:nvSpPr>
        <p:spPr>
          <a:xfrm>
            <a:off x="2642616" y="3127248"/>
            <a:ext cx="1051560" cy="347472"/>
          </a:xfrm>
          <a:prstGeom prst="rect">
            <a:avLst/>
          </a:prstGeom>
          <a:noFill/>
          <a:ln/>
        </p:spPr>
        <p:txBody>
          <a:bodyPr wrap="square" rtlCol="0" anchor="ctr"/>
          <a:lstStyle/>
          <a:p>
            <a:pPr marL="0" indent="0" algn="ctr">
              <a:buNone/>
            </a:pPr>
            <a:r>
              <a:rPr lang="en-US" sz="800" dirty="0">
                <a:solidFill>
                  <a:srgbClr val="8899BB"/>
                </a:solidFill>
              </a:rPr>
              <a:t>Engagement Score</a:t>
            </a:r>
            <a:endParaRPr lang="en-US" sz="800" dirty="0"/>
          </a:p>
          <a:p>
            <a:pPr marL="0" indent="0" algn="ctr">
              <a:buNone/>
            </a:pPr>
            <a:r>
              <a:rPr lang="en-US" sz="800" dirty="0">
                <a:solidFill>
                  <a:srgbClr val="8899BB"/>
                </a:solidFill>
              </a:rPr>
              <a:t>One-Hot Encoding</a:t>
            </a:r>
            <a:endParaRPr lang="en-US" sz="800" dirty="0"/>
          </a:p>
        </p:txBody>
      </p:sp>
      <p:sp>
        <p:nvSpPr>
          <p:cNvPr id="38" name="Text 36"/>
          <p:cNvSpPr/>
          <p:nvPr/>
        </p:nvSpPr>
        <p:spPr>
          <a:xfrm>
            <a:off x="2642616" y="3474720"/>
            <a:ext cx="1051560" cy="292608"/>
          </a:xfrm>
          <a:prstGeom prst="rect">
            <a:avLst/>
          </a:prstGeom>
          <a:noFill/>
          <a:ln/>
        </p:spPr>
        <p:txBody>
          <a:bodyPr wrap="square" rtlCol="0" anchor="ctr"/>
          <a:lstStyle/>
          <a:p>
            <a:pPr marL="0" indent="0" algn="ctr">
              <a:buNone/>
            </a:pPr>
            <a:r>
              <a:rPr lang="en-US" sz="750" i="1" dirty="0">
                <a:solidFill>
                  <a:srgbClr val="4A5578"/>
                </a:solidFill>
              </a:rPr>
              <a:t>MinMaxScaler</a:t>
            </a:r>
            <a:endParaRPr lang="en-US" sz="750" dirty="0"/>
          </a:p>
        </p:txBody>
      </p:sp>
      <p:sp>
        <p:nvSpPr>
          <p:cNvPr id="39" name="Text 37"/>
          <p:cNvSpPr/>
          <p:nvPr/>
        </p:nvSpPr>
        <p:spPr>
          <a:xfrm>
            <a:off x="3849624" y="3127248"/>
            <a:ext cx="1051560" cy="347472"/>
          </a:xfrm>
          <a:prstGeom prst="rect">
            <a:avLst/>
          </a:prstGeom>
          <a:noFill/>
          <a:ln/>
        </p:spPr>
        <p:txBody>
          <a:bodyPr wrap="square" rtlCol="0" anchor="ctr"/>
          <a:lstStyle/>
          <a:p>
            <a:pPr marL="0" indent="0" algn="ctr">
              <a:buNone/>
            </a:pPr>
            <a:r>
              <a:rPr lang="en-US" sz="800" dirty="0">
                <a:solidFill>
                  <a:srgbClr val="8899BB"/>
                </a:solidFill>
              </a:rPr>
              <a:t>300 Trees</a:t>
            </a:r>
            <a:endParaRPr lang="en-US" sz="800" dirty="0"/>
          </a:p>
          <a:p>
            <a:pPr marL="0" indent="0" algn="ctr">
              <a:buNone/>
            </a:pPr>
            <a:r>
              <a:rPr lang="en-US" sz="800" dirty="0">
                <a:solidFill>
                  <a:srgbClr val="8899BB"/>
                </a:solidFill>
              </a:rPr>
              <a:t>Class-balanced</a:t>
            </a:r>
            <a:endParaRPr lang="en-US" sz="800" dirty="0"/>
          </a:p>
        </p:txBody>
      </p:sp>
      <p:sp>
        <p:nvSpPr>
          <p:cNvPr id="40" name="Text 38"/>
          <p:cNvSpPr/>
          <p:nvPr/>
        </p:nvSpPr>
        <p:spPr>
          <a:xfrm>
            <a:off x="3849624" y="3474720"/>
            <a:ext cx="1051560" cy="292608"/>
          </a:xfrm>
          <a:prstGeom prst="rect">
            <a:avLst/>
          </a:prstGeom>
          <a:noFill/>
          <a:ln/>
        </p:spPr>
        <p:txBody>
          <a:bodyPr wrap="square" rtlCol="0" anchor="ctr"/>
          <a:lstStyle/>
          <a:p>
            <a:pPr marL="0" indent="0" algn="ctr">
              <a:buNone/>
            </a:pPr>
            <a:r>
              <a:rPr lang="en-US" sz="750" i="1" dirty="0">
                <a:solidFill>
                  <a:srgbClr val="4A5578"/>
                </a:solidFill>
              </a:rPr>
              <a:t>ROC-AUC: 0.884</a:t>
            </a:r>
            <a:endParaRPr lang="en-US" sz="750" dirty="0"/>
          </a:p>
        </p:txBody>
      </p:sp>
      <p:sp>
        <p:nvSpPr>
          <p:cNvPr id="41" name="Text 39"/>
          <p:cNvSpPr/>
          <p:nvPr/>
        </p:nvSpPr>
        <p:spPr>
          <a:xfrm>
            <a:off x="5056632" y="3127248"/>
            <a:ext cx="1051560" cy="347472"/>
          </a:xfrm>
          <a:prstGeom prst="rect">
            <a:avLst/>
          </a:prstGeom>
          <a:noFill/>
          <a:ln/>
        </p:spPr>
        <p:txBody>
          <a:bodyPr wrap="square" rtlCol="0" anchor="ctr"/>
          <a:lstStyle/>
          <a:p>
            <a:pPr marL="0" indent="0" algn="ctr">
              <a:buNone/>
            </a:pPr>
            <a:r>
              <a:rPr lang="en-US" sz="800" dirty="0">
                <a:solidFill>
                  <a:srgbClr val="8899BB"/>
                </a:solidFill>
              </a:rPr>
              <a:t>Probability × 100</a:t>
            </a:r>
            <a:endParaRPr lang="en-US" sz="800" dirty="0"/>
          </a:p>
        </p:txBody>
      </p:sp>
      <p:sp>
        <p:nvSpPr>
          <p:cNvPr id="42" name="Text 40"/>
          <p:cNvSpPr/>
          <p:nvPr/>
        </p:nvSpPr>
        <p:spPr>
          <a:xfrm>
            <a:off x="5056632" y="3474720"/>
            <a:ext cx="1051560" cy="292608"/>
          </a:xfrm>
          <a:prstGeom prst="rect">
            <a:avLst/>
          </a:prstGeom>
          <a:noFill/>
          <a:ln/>
        </p:spPr>
        <p:txBody>
          <a:bodyPr wrap="square" rtlCol="0" anchor="ctr"/>
          <a:lstStyle/>
          <a:p>
            <a:pPr marL="0" indent="0" algn="ctr">
              <a:buNone/>
            </a:pPr>
            <a:r>
              <a:rPr lang="en-US" sz="750" i="1" dirty="0">
                <a:solidFill>
                  <a:srgbClr val="4A5578"/>
                </a:solidFill>
              </a:rPr>
              <a:t>Tier classification</a:t>
            </a:r>
            <a:endParaRPr lang="en-US" sz="750" dirty="0"/>
          </a:p>
        </p:txBody>
      </p:sp>
      <p:sp>
        <p:nvSpPr>
          <p:cNvPr id="43" name="Text 41"/>
          <p:cNvSpPr/>
          <p:nvPr/>
        </p:nvSpPr>
        <p:spPr>
          <a:xfrm>
            <a:off x="6263640" y="3127248"/>
            <a:ext cx="1051560" cy="347472"/>
          </a:xfrm>
          <a:prstGeom prst="rect">
            <a:avLst/>
          </a:prstGeom>
          <a:noFill/>
          <a:ln/>
        </p:spPr>
        <p:txBody>
          <a:bodyPr wrap="square" rtlCol="0" anchor="ctr"/>
          <a:lstStyle/>
          <a:p>
            <a:pPr marL="0" indent="0" algn="ctr">
              <a:buNone/>
            </a:pPr>
            <a:r>
              <a:rPr lang="en-US" sz="800" dirty="0">
                <a:solidFill>
                  <a:srgbClr val="8899BB"/>
                </a:solidFill>
              </a:rPr>
              <a:t>ipywidgets</a:t>
            </a:r>
            <a:endParaRPr lang="en-US" sz="800" dirty="0"/>
          </a:p>
          <a:p>
            <a:pPr marL="0" indent="0" algn="ctr">
              <a:buNone/>
            </a:pPr>
            <a:r>
              <a:rPr lang="en-US" sz="800" dirty="0">
                <a:solidFill>
                  <a:srgbClr val="8899BB"/>
                </a:solidFill>
              </a:rPr>
              <a:t>Real-time UI</a:t>
            </a:r>
            <a:endParaRPr lang="en-US" sz="800" dirty="0"/>
          </a:p>
        </p:txBody>
      </p:sp>
      <p:sp>
        <p:nvSpPr>
          <p:cNvPr id="44" name="Text 42"/>
          <p:cNvSpPr/>
          <p:nvPr/>
        </p:nvSpPr>
        <p:spPr>
          <a:xfrm>
            <a:off x="6263640" y="3474720"/>
            <a:ext cx="1051560" cy="292608"/>
          </a:xfrm>
          <a:prstGeom prst="rect">
            <a:avLst/>
          </a:prstGeom>
          <a:noFill/>
          <a:ln/>
        </p:spPr>
        <p:txBody>
          <a:bodyPr wrap="square" rtlCol="0" anchor="ctr"/>
          <a:lstStyle/>
          <a:p>
            <a:pPr marL="0" indent="0" algn="ctr">
              <a:buNone/>
            </a:pPr>
            <a:r>
              <a:rPr lang="en-US" sz="750" i="1" dirty="0">
                <a:solidFill>
                  <a:srgbClr val="4A5578"/>
                </a:solidFill>
              </a:rPr>
              <a:t>Pipeline View</a:t>
            </a:r>
            <a:endParaRPr lang="en-US" sz="750" dirty="0"/>
          </a:p>
        </p:txBody>
      </p:sp>
      <p:sp>
        <p:nvSpPr>
          <p:cNvPr id="45" name="Text 43"/>
          <p:cNvSpPr/>
          <p:nvPr/>
        </p:nvSpPr>
        <p:spPr>
          <a:xfrm>
            <a:off x="7470648" y="3127248"/>
            <a:ext cx="1051560" cy="347472"/>
          </a:xfrm>
          <a:prstGeom prst="rect">
            <a:avLst/>
          </a:prstGeom>
          <a:noFill/>
          <a:ln/>
        </p:spPr>
        <p:txBody>
          <a:bodyPr wrap="square" rtlCol="0" anchor="ctr"/>
          <a:lstStyle/>
          <a:p>
            <a:pPr marL="0" indent="0" algn="ctr">
              <a:buNone/>
            </a:pPr>
            <a:r>
              <a:rPr lang="en-US" sz="800" dirty="0">
                <a:solidFill>
                  <a:srgbClr val="8899BB"/>
                </a:solidFill>
              </a:rPr>
              <a:t>HOT/WARM/COLD/DEAD</a:t>
            </a:r>
            <a:endParaRPr lang="en-US" sz="800" dirty="0"/>
          </a:p>
        </p:txBody>
      </p:sp>
      <p:sp>
        <p:nvSpPr>
          <p:cNvPr id="46" name="Text 44"/>
          <p:cNvSpPr/>
          <p:nvPr/>
        </p:nvSpPr>
        <p:spPr>
          <a:xfrm>
            <a:off x="7470648" y="3474720"/>
            <a:ext cx="1051560" cy="292608"/>
          </a:xfrm>
          <a:prstGeom prst="rect">
            <a:avLst/>
          </a:prstGeom>
          <a:noFill/>
          <a:ln/>
        </p:spPr>
        <p:txBody>
          <a:bodyPr wrap="square" rtlCol="0" anchor="ctr"/>
          <a:lstStyle/>
          <a:p>
            <a:pPr marL="0" indent="0" algn="ctr">
              <a:buNone/>
            </a:pPr>
            <a:r>
              <a:rPr lang="en-US" sz="750" i="1" dirty="0">
                <a:solidFill>
                  <a:srgbClr val="4A5578"/>
                </a:solidFill>
              </a:rPr>
              <a:t>Sales Directives</a:t>
            </a:r>
            <a:endParaRPr lang="en-US" sz="750" dirty="0"/>
          </a:p>
        </p:txBody>
      </p:sp>
      <p:sp>
        <p:nvSpPr>
          <p:cNvPr id="47" name="Shape 45"/>
          <p:cNvSpPr/>
          <p:nvPr/>
        </p:nvSpPr>
        <p:spPr>
          <a:xfrm>
            <a:off x="228600" y="1234440"/>
            <a:ext cx="2286000" cy="292608"/>
          </a:xfrm>
          <a:prstGeom prst="rect">
            <a:avLst/>
          </a:prstGeom>
          <a:solidFill>
            <a:srgbClr val="0D1B45"/>
          </a:solidFill>
          <a:ln w="12700">
            <a:solidFill>
              <a:srgbClr val="00C8E0"/>
            </a:solidFill>
            <a:prstDash val="solid"/>
          </a:ln>
        </p:spPr>
      </p:sp>
      <p:sp>
        <p:nvSpPr>
          <p:cNvPr id="48" name="Text 46"/>
          <p:cNvSpPr/>
          <p:nvPr/>
        </p:nvSpPr>
        <p:spPr>
          <a:xfrm>
            <a:off x="228600" y="1234440"/>
            <a:ext cx="2286000" cy="292608"/>
          </a:xfrm>
          <a:prstGeom prst="rect">
            <a:avLst/>
          </a:prstGeom>
          <a:noFill/>
          <a:ln/>
        </p:spPr>
        <p:txBody>
          <a:bodyPr wrap="square" rtlCol="0" anchor="ctr"/>
          <a:lstStyle/>
          <a:p>
            <a:pPr marL="0" indent="0" algn="ctr">
              <a:buNone/>
            </a:pPr>
            <a:r>
              <a:rPr lang="en-US" sz="900" b="1" kern="0" spc="200" dirty="0">
                <a:solidFill>
                  <a:srgbClr val="00C8E0"/>
                </a:solidFill>
              </a:rPr>
              <a:t>INPUT LAYER</a:t>
            </a:r>
            <a:endParaRPr lang="en-US" sz="900" dirty="0"/>
          </a:p>
        </p:txBody>
      </p:sp>
      <p:sp>
        <p:nvSpPr>
          <p:cNvPr id="49" name="Shape 47"/>
          <p:cNvSpPr/>
          <p:nvPr/>
        </p:nvSpPr>
        <p:spPr>
          <a:xfrm>
            <a:off x="2651760" y="1234440"/>
            <a:ext cx="2286000" cy="292608"/>
          </a:xfrm>
          <a:prstGeom prst="rect">
            <a:avLst/>
          </a:prstGeom>
          <a:solidFill>
            <a:srgbClr val="0D1B45"/>
          </a:solidFill>
          <a:ln w="12700">
            <a:solidFill>
              <a:srgbClr val="FF7A00"/>
            </a:solidFill>
            <a:prstDash val="solid"/>
          </a:ln>
        </p:spPr>
      </p:sp>
      <p:sp>
        <p:nvSpPr>
          <p:cNvPr id="50" name="Text 48"/>
          <p:cNvSpPr/>
          <p:nvPr/>
        </p:nvSpPr>
        <p:spPr>
          <a:xfrm>
            <a:off x="2651760" y="1234440"/>
            <a:ext cx="2286000" cy="292608"/>
          </a:xfrm>
          <a:prstGeom prst="rect">
            <a:avLst/>
          </a:prstGeom>
          <a:noFill/>
          <a:ln/>
        </p:spPr>
        <p:txBody>
          <a:bodyPr wrap="square" rtlCol="0" anchor="ctr"/>
          <a:lstStyle/>
          <a:p>
            <a:pPr marL="0" indent="0" algn="ctr">
              <a:buNone/>
            </a:pPr>
            <a:r>
              <a:rPr lang="en-US" sz="900" b="1" kern="0" spc="200" dirty="0">
                <a:solidFill>
                  <a:srgbClr val="FF7A00"/>
                </a:solidFill>
              </a:rPr>
              <a:t>PROCESSING LAYER</a:t>
            </a:r>
            <a:endParaRPr lang="en-US" sz="900" dirty="0"/>
          </a:p>
        </p:txBody>
      </p:sp>
      <p:sp>
        <p:nvSpPr>
          <p:cNvPr id="51" name="Shape 49"/>
          <p:cNvSpPr/>
          <p:nvPr/>
        </p:nvSpPr>
        <p:spPr>
          <a:xfrm>
            <a:off x="5852160" y="1234440"/>
            <a:ext cx="2286000" cy="292608"/>
          </a:xfrm>
          <a:prstGeom prst="rect">
            <a:avLst/>
          </a:prstGeom>
          <a:solidFill>
            <a:srgbClr val="0D1B45"/>
          </a:solidFill>
          <a:ln w="12700">
            <a:solidFill>
              <a:srgbClr val="00C48C"/>
            </a:solidFill>
            <a:prstDash val="solid"/>
          </a:ln>
        </p:spPr>
      </p:sp>
      <p:sp>
        <p:nvSpPr>
          <p:cNvPr id="52" name="Text 50"/>
          <p:cNvSpPr/>
          <p:nvPr/>
        </p:nvSpPr>
        <p:spPr>
          <a:xfrm>
            <a:off x="5852160" y="1234440"/>
            <a:ext cx="2286000" cy="292608"/>
          </a:xfrm>
          <a:prstGeom prst="rect">
            <a:avLst/>
          </a:prstGeom>
          <a:noFill/>
          <a:ln/>
        </p:spPr>
        <p:txBody>
          <a:bodyPr wrap="square" rtlCol="0" anchor="ctr"/>
          <a:lstStyle/>
          <a:p>
            <a:pPr marL="0" indent="0" algn="ctr">
              <a:buNone/>
            </a:pPr>
            <a:r>
              <a:rPr lang="en-US" sz="900" b="1" kern="0" spc="200" dirty="0">
                <a:solidFill>
                  <a:srgbClr val="00C48C"/>
                </a:solidFill>
              </a:rPr>
              <a:t>OUTPUT LAYER</a:t>
            </a:r>
            <a:endParaRPr lang="en-US" sz="900" dirty="0"/>
          </a:p>
        </p:txBody>
      </p:sp>
      <p:sp>
        <p:nvSpPr>
          <p:cNvPr id="53" name="Shape 51"/>
          <p:cNvSpPr/>
          <p:nvPr/>
        </p:nvSpPr>
        <p:spPr>
          <a:xfrm>
            <a:off x="411480" y="4480560"/>
            <a:ext cx="8321040" cy="502920"/>
          </a:xfrm>
          <a:prstGeom prst="rect">
            <a:avLst/>
          </a:prstGeom>
          <a:solidFill>
            <a:srgbClr val="0A1A30"/>
          </a:solidFill>
          <a:ln w="12700">
            <a:solidFill>
              <a:srgbClr val="4A5578"/>
            </a:solidFill>
            <a:prstDash val="solid"/>
          </a:ln>
        </p:spPr>
      </p:sp>
      <p:sp>
        <p:nvSpPr>
          <p:cNvPr id="54" name="Text 52"/>
          <p:cNvSpPr/>
          <p:nvPr/>
        </p:nvSpPr>
        <p:spPr>
          <a:xfrm>
            <a:off x="548640" y="4526280"/>
            <a:ext cx="8046720" cy="384048"/>
          </a:xfrm>
          <a:prstGeom prst="rect">
            <a:avLst/>
          </a:prstGeom>
          <a:noFill/>
          <a:ln/>
        </p:spPr>
        <p:txBody>
          <a:bodyPr wrap="square" rtlCol="0" anchor="ctr"/>
          <a:lstStyle/>
          <a:p>
            <a:pPr marL="0" indent="0" algn="ctr">
              <a:buNone/>
            </a:pPr>
            <a:r>
              <a:rPr lang="en-US" sz="1000" dirty="0">
                <a:solidFill>
                  <a:srgbClr val="8899BB"/>
                </a:solidFill>
                <a:latin typeface="Courier New" pitchFamily="34" charset="0"/>
                <a:ea typeface="Courier New" pitchFamily="34" charset="-122"/>
                <a:cs typeface="Courier New" pitchFamily="34" charset="-120"/>
              </a:rPr>
              <a:t>Serialized Artifacts: champion_model.pkl  |  data_scaler.pkl  |  model_columns.pkl  |  norm_stats.pkl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BUSINESS IMPACT</a:t>
            </a:r>
            <a:endParaRPr lang="en-US" sz="750" dirty="0"/>
          </a:p>
        </p:txBody>
      </p:sp>
      <p:sp>
        <p:nvSpPr>
          <p:cNvPr id="3" name="Text 1"/>
          <p:cNvSpPr/>
          <p:nvPr/>
        </p:nvSpPr>
        <p:spPr>
          <a:xfrm>
            <a:off x="411480" y="475488"/>
            <a:ext cx="832104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Strategic Business Impact &amp; Quantified ROI</a:t>
            </a:r>
            <a:endParaRPr lang="en-US" sz="2600" dirty="0"/>
          </a:p>
        </p:txBody>
      </p:sp>
      <p:sp>
        <p:nvSpPr>
          <p:cNvPr id="4" name="Shape 2"/>
          <p:cNvSpPr/>
          <p:nvPr/>
        </p:nvSpPr>
        <p:spPr>
          <a:xfrm>
            <a:off x="411480" y="1024128"/>
            <a:ext cx="1097280" cy="36576"/>
          </a:xfrm>
          <a:prstGeom prst="rect">
            <a:avLst/>
          </a:prstGeom>
          <a:solidFill>
            <a:srgbClr val="FF7A00"/>
          </a:solidFill>
          <a:ln w="12700">
            <a:solidFill>
              <a:srgbClr val="FF7A00"/>
            </a:solidFill>
            <a:prstDash val="solid"/>
          </a:ln>
        </p:spPr>
      </p:sp>
      <p:sp>
        <p:nvSpPr>
          <p:cNvPr id="5" name="Text 3"/>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10 / 11</a:t>
            </a:r>
            <a:endParaRPr lang="en-US" sz="800" dirty="0"/>
          </a:p>
        </p:txBody>
      </p:sp>
      <p:sp>
        <p:nvSpPr>
          <p:cNvPr id="6" name="Shape 4"/>
          <p:cNvSpPr/>
          <p:nvPr/>
        </p:nvSpPr>
        <p:spPr>
          <a:xfrm>
            <a:off x="2971800" y="1188720"/>
            <a:ext cx="3200400" cy="1188720"/>
          </a:xfrm>
          <a:prstGeom prst="rect">
            <a:avLst/>
          </a:prstGeom>
          <a:solidFill>
            <a:srgbClr val="112266"/>
          </a:solidFill>
          <a:ln w="25400">
            <a:solidFill>
              <a:srgbClr val="FF7A00"/>
            </a:solidFill>
            <a:prstDash val="solid"/>
          </a:ln>
          <a:effectLst>
            <a:outerShdw blurRad="101600" dist="38100" dir="8100000" algn="bl" rotWithShape="0">
              <a:srgbClr val="000000">
                <a:alpha val="20000"/>
              </a:srgbClr>
            </a:outerShdw>
          </a:effectLst>
        </p:spPr>
      </p:sp>
      <p:sp>
        <p:nvSpPr>
          <p:cNvPr id="7" name="Text 5"/>
          <p:cNvSpPr/>
          <p:nvPr/>
        </p:nvSpPr>
        <p:spPr>
          <a:xfrm>
            <a:off x="2971800" y="1261872"/>
            <a:ext cx="3200400" cy="548640"/>
          </a:xfrm>
          <a:prstGeom prst="rect">
            <a:avLst/>
          </a:prstGeom>
          <a:noFill/>
          <a:ln/>
        </p:spPr>
        <p:txBody>
          <a:bodyPr wrap="square" rtlCol="0" anchor="ctr"/>
          <a:lstStyle/>
          <a:p>
            <a:pPr marL="0" indent="0" algn="ctr">
              <a:buNone/>
            </a:pPr>
            <a:r>
              <a:rPr lang="en-US" sz="2300" b="1" dirty="0">
                <a:solidFill>
                  <a:srgbClr val="FF7A00"/>
                </a:solidFill>
                <a:latin typeface="Calibri" pitchFamily="34" charset="0"/>
                <a:ea typeface="Calibri" pitchFamily="34" charset="-122"/>
                <a:cs typeface="Calibri" pitchFamily="34" charset="-120"/>
              </a:rPr>
              <a:t>38.5%  →  70%+</a:t>
            </a:r>
            <a:endParaRPr lang="en-US" sz="2300" dirty="0"/>
          </a:p>
        </p:txBody>
      </p:sp>
      <p:sp>
        <p:nvSpPr>
          <p:cNvPr id="8" name="Text 6"/>
          <p:cNvSpPr/>
          <p:nvPr/>
        </p:nvSpPr>
        <p:spPr>
          <a:xfrm>
            <a:off x="2971800" y="1810512"/>
            <a:ext cx="3200400" cy="256032"/>
          </a:xfrm>
          <a:prstGeom prst="rect">
            <a:avLst/>
          </a:prstGeom>
          <a:noFill/>
          <a:ln/>
        </p:spPr>
        <p:txBody>
          <a:bodyPr wrap="square" rtlCol="0" anchor="ctr"/>
          <a:lstStyle/>
          <a:p>
            <a:pPr marL="0" indent="0" algn="ctr">
              <a:buNone/>
            </a:pPr>
            <a:r>
              <a:rPr lang="en-US" sz="950" dirty="0">
                <a:solidFill>
                  <a:srgbClr val="A0EAF5"/>
                </a:solidFill>
              </a:rPr>
              <a:t>Projected Conversion Lift</a:t>
            </a:r>
            <a:endParaRPr lang="en-US" sz="950" dirty="0"/>
          </a:p>
        </p:txBody>
      </p:sp>
      <p:sp>
        <p:nvSpPr>
          <p:cNvPr id="9" name="Text 7"/>
          <p:cNvSpPr/>
          <p:nvPr/>
        </p:nvSpPr>
        <p:spPr>
          <a:xfrm>
            <a:off x="2560320" y="2395728"/>
            <a:ext cx="4023360" cy="274320"/>
          </a:xfrm>
          <a:prstGeom prst="rect">
            <a:avLst/>
          </a:prstGeom>
          <a:noFill/>
          <a:ln/>
        </p:spPr>
        <p:txBody>
          <a:bodyPr wrap="square" rtlCol="0" anchor="ctr"/>
          <a:lstStyle/>
          <a:p>
            <a:pPr marL="0" indent="0" algn="ctr">
              <a:buNone/>
            </a:pPr>
            <a:r>
              <a:rPr lang="en-US" sz="800" i="1" dirty="0">
                <a:solidFill>
                  <a:srgbClr val="4A5578"/>
                </a:solidFill>
              </a:rPr>
              <a:t>(Among RF-scored HOT leads, ~72% historically converted vs 38.5% baseline)</a:t>
            </a:r>
            <a:endParaRPr lang="en-US" sz="800" dirty="0"/>
          </a:p>
        </p:txBody>
      </p:sp>
      <p:sp>
        <p:nvSpPr>
          <p:cNvPr id="10" name="Shape 8"/>
          <p:cNvSpPr/>
          <p:nvPr/>
        </p:nvSpPr>
        <p:spPr>
          <a:xfrm>
            <a:off x="411480" y="2724912"/>
            <a:ext cx="4023360" cy="102412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1" name="Shape 9"/>
          <p:cNvSpPr/>
          <p:nvPr/>
        </p:nvSpPr>
        <p:spPr>
          <a:xfrm>
            <a:off x="411480" y="2724912"/>
            <a:ext cx="4023360" cy="54864"/>
          </a:xfrm>
          <a:prstGeom prst="rect">
            <a:avLst/>
          </a:prstGeom>
          <a:solidFill>
            <a:srgbClr val="FF7A00"/>
          </a:solidFill>
          <a:ln w="12700">
            <a:solidFill>
              <a:srgbClr val="FF7A00"/>
            </a:solidFill>
            <a:prstDash val="solid"/>
          </a:ln>
        </p:spPr>
      </p:sp>
      <p:sp>
        <p:nvSpPr>
          <p:cNvPr id="12" name="Text 10"/>
          <p:cNvSpPr/>
          <p:nvPr/>
        </p:nvSpPr>
        <p:spPr>
          <a:xfrm>
            <a:off x="548640" y="2816352"/>
            <a:ext cx="1005840" cy="365760"/>
          </a:xfrm>
          <a:prstGeom prst="rect">
            <a:avLst/>
          </a:prstGeom>
          <a:noFill/>
          <a:ln/>
        </p:spPr>
        <p:txBody>
          <a:bodyPr wrap="square" rtlCol="0" anchor="ctr"/>
          <a:lstStyle/>
          <a:p>
            <a:pPr marL="0" indent="0">
              <a:buNone/>
            </a:pPr>
            <a:r>
              <a:rPr lang="en-US" sz="1700" b="1" dirty="0">
                <a:solidFill>
                  <a:srgbClr val="FF7A00"/>
                </a:solidFill>
              </a:rPr>
              <a:t>~50-60%</a:t>
            </a:r>
            <a:endParaRPr lang="en-US" sz="1700" dirty="0"/>
          </a:p>
        </p:txBody>
      </p:sp>
      <p:sp>
        <p:nvSpPr>
          <p:cNvPr id="13" name="Text 11"/>
          <p:cNvSpPr/>
          <p:nvPr/>
        </p:nvSpPr>
        <p:spPr>
          <a:xfrm>
            <a:off x="548640" y="3200400"/>
            <a:ext cx="3749040" cy="237744"/>
          </a:xfrm>
          <a:prstGeom prst="rect">
            <a:avLst/>
          </a:prstGeom>
          <a:noFill/>
          <a:ln/>
        </p:spPr>
        <p:txBody>
          <a:bodyPr wrap="square" rtlCol="0" anchor="ctr"/>
          <a:lstStyle/>
          <a:p>
            <a:pPr marL="0" indent="0">
              <a:buNone/>
            </a:pPr>
            <a:r>
              <a:rPr lang="en-US" sz="1050" b="1" dirty="0">
                <a:solidFill>
                  <a:srgbClr val="FFFFFF"/>
                </a:solidFill>
              </a:rPr>
              <a:t>Reduction in low-quality outreach</a:t>
            </a:r>
            <a:endParaRPr lang="en-US" sz="1050" dirty="0"/>
          </a:p>
        </p:txBody>
      </p:sp>
      <p:sp>
        <p:nvSpPr>
          <p:cNvPr id="14" name="Text 12"/>
          <p:cNvSpPr/>
          <p:nvPr/>
        </p:nvSpPr>
        <p:spPr>
          <a:xfrm>
            <a:off x="548640" y="3438144"/>
            <a:ext cx="3749040" cy="256032"/>
          </a:xfrm>
          <a:prstGeom prst="rect">
            <a:avLst/>
          </a:prstGeom>
          <a:noFill/>
          <a:ln/>
        </p:spPr>
        <p:txBody>
          <a:bodyPr wrap="square" rtlCol="0" anchor="ctr"/>
          <a:lstStyle/>
          <a:p>
            <a:pPr marL="0" indent="0">
              <a:buNone/>
            </a:pPr>
            <a:r>
              <a:rPr lang="en-US" sz="950" dirty="0">
                <a:solidFill>
                  <a:srgbClr val="8899BB"/>
                </a:solidFill>
              </a:rPr>
              <a:t>Concentrating only on HOT leads eliminates wasted sales calls.</a:t>
            </a:r>
            <a:endParaRPr lang="en-US" sz="950" dirty="0"/>
          </a:p>
        </p:txBody>
      </p:sp>
      <p:sp>
        <p:nvSpPr>
          <p:cNvPr id="15" name="Shape 13"/>
          <p:cNvSpPr/>
          <p:nvPr/>
        </p:nvSpPr>
        <p:spPr>
          <a:xfrm>
            <a:off x="4663440" y="2724912"/>
            <a:ext cx="4023360" cy="102412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16" name="Shape 14"/>
          <p:cNvSpPr/>
          <p:nvPr/>
        </p:nvSpPr>
        <p:spPr>
          <a:xfrm>
            <a:off x="4663440" y="2724912"/>
            <a:ext cx="4023360" cy="54864"/>
          </a:xfrm>
          <a:prstGeom prst="rect">
            <a:avLst/>
          </a:prstGeom>
          <a:solidFill>
            <a:srgbClr val="00C8E0"/>
          </a:solidFill>
          <a:ln w="12700">
            <a:solidFill>
              <a:srgbClr val="00C8E0"/>
            </a:solidFill>
            <a:prstDash val="solid"/>
          </a:ln>
        </p:spPr>
      </p:sp>
      <p:sp>
        <p:nvSpPr>
          <p:cNvPr id="17" name="Text 15"/>
          <p:cNvSpPr/>
          <p:nvPr/>
        </p:nvSpPr>
        <p:spPr>
          <a:xfrm>
            <a:off x="4800600" y="2816352"/>
            <a:ext cx="1005840" cy="365760"/>
          </a:xfrm>
          <a:prstGeom prst="rect">
            <a:avLst/>
          </a:prstGeom>
          <a:noFill/>
          <a:ln/>
        </p:spPr>
        <p:txBody>
          <a:bodyPr wrap="square" rtlCol="0" anchor="ctr"/>
          <a:lstStyle/>
          <a:p>
            <a:pPr marL="0" indent="0">
              <a:buNone/>
            </a:pPr>
            <a:r>
              <a:rPr lang="en-US" sz="1700" b="1" dirty="0">
                <a:solidFill>
                  <a:srgbClr val="00C8E0"/>
                </a:solidFill>
              </a:rPr>
              <a:t>2× Faster</a:t>
            </a:r>
            <a:endParaRPr lang="en-US" sz="1700" dirty="0"/>
          </a:p>
        </p:txBody>
      </p:sp>
      <p:sp>
        <p:nvSpPr>
          <p:cNvPr id="18" name="Text 16"/>
          <p:cNvSpPr/>
          <p:nvPr/>
        </p:nvSpPr>
        <p:spPr>
          <a:xfrm>
            <a:off x="4800600" y="3200400"/>
            <a:ext cx="3749040" cy="237744"/>
          </a:xfrm>
          <a:prstGeom prst="rect">
            <a:avLst/>
          </a:prstGeom>
          <a:noFill/>
          <a:ln/>
        </p:spPr>
        <p:txBody>
          <a:bodyPr wrap="square" rtlCol="0" anchor="ctr"/>
          <a:lstStyle/>
          <a:p>
            <a:pPr marL="0" indent="0">
              <a:buNone/>
            </a:pPr>
            <a:r>
              <a:rPr lang="en-US" sz="1050" b="1" dirty="0">
                <a:solidFill>
                  <a:srgbClr val="FFFFFF"/>
                </a:solidFill>
              </a:rPr>
              <a:t>Sales Prioritisation Efficiency</a:t>
            </a:r>
            <a:endParaRPr lang="en-US" sz="1050" dirty="0"/>
          </a:p>
        </p:txBody>
      </p:sp>
      <p:sp>
        <p:nvSpPr>
          <p:cNvPr id="19" name="Text 17"/>
          <p:cNvSpPr/>
          <p:nvPr/>
        </p:nvSpPr>
        <p:spPr>
          <a:xfrm>
            <a:off x="4800600" y="3438144"/>
            <a:ext cx="3749040" cy="256032"/>
          </a:xfrm>
          <a:prstGeom prst="rect">
            <a:avLst/>
          </a:prstGeom>
          <a:noFill/>
          <a:ln/>
        </p:spPr>
        <p:txBody>
          <a:bodyPr wrap="square" rtlCol="0" anchor="ctr"/>
          <a:lstStyle/>
          <a:p>
            <a:pPr marL="0" indent="0">
              <a:buNone/>
            </a:pPr>
            <a:r>
              <a:rPr lang="en-US" sz="950" dirty="0">
                <a:solidFill>
                  <a:srgbClr val="8899BB"/>
                </a:solidFill>
              </a:rPr>
              <a:t>Automated scoring replaces manual qualification pipeline.</a:t>
            </a:r>
            <a:endParaRPr lang="en-US" sz="950" dirty="0"/>
          </a:p>
        </p:txBody>
      </p:sp>
      <p:sp>
        <p:nvSpPr>
          <p:cNvPr id="20" name="Shape 18"/>
          <p:cNvSpPr/>
          <p:nvPr/>
        </p:nvSpPr>
        <p:spPr>
          <a:xfrm>
            <a:off x="411480" y="3913632"/>
            <a:ext cx="4023360" cy="102412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1" name="Shape 19"/>
          <p:cNvSpPr/>
          <p:nvPr/>
        </p:nvSpPr>
        <p:spPr>
          <a:xfrm>
            <a:off x="411480" y="3913632"/>
            <a:ext cx="4023360" cy="54864"/>
          </a:xfrm>
          <a:prstGeom prst="rect">
            <a:avLst/>
          </a:prstGeom>
          <a:solidFill>
            <a:srgbClr val="00C48C"/>
          </a:solidFill>
          <a:ln w="12700">
            <a:solidFill>
              <a:srgbClr val="00C48C"/>
            </a:solidFill>
            <a:prstDash val="solid"/>
          </a:ln>
        </p:spPr>
      </p:sp>
      <p:sp>
        <p:nvSpPr>
          <p:cNvPr id="22" name="Text 20"/>
          <p:cNvSpPr/>
          <p:nvPr/>
        </p:nvSpPr>
        <p:spPr>
          <a:xfrm>
            <a:off x="548640" y="4005072"/>
            <a:ext cx="1005840" cy="365760"/>
          </a:xfrm>
          <a:prstGeom prst="rect">
            <a:avLst/>
          </a:prstGeom>
          <a:noFill/>
          <a:ln/>
        </p:spPr>
        <p:txBody>
          <a:bodyPr wrap="square" rtlCol="0" anchor="ctr"/>
          <a:lstStyle/>
          <a:p>
            <a:pPr marL="0" indent="0">
              <a:buNone/>
            </a:pPr>
            <a:r>
              <a:rPr lang="en-US" sz="1700" b="1" dirty="0">
                <a:solidFill>
                  <a:srgbClr val="00C48C"/>
                </a:solidFill>
              </a:rPr>
              <a:t>81.9%</a:t>
            </a:r>
            <a:endParaRPr lang="en-US" sz="1700" dirty="0"/>
          </a:p>
        </p:txBody>
      </p:sp>
      <p:sp>
        <p:nvSpPr>
          <p:cNvPr id="23" name="Text 21"/>
          <p:cNvSpPr/>
          <p:nvPr/>
        </p:nvSpPr>
        <p:spPr>
          <a:xfrm>
            <a:off x="548640" y="4389120"/>
            <a:ext cx="3749040" cy="237744"/>
          </a:xfrm>
          <a:prstGeom prst="rect">
            <a:avLst/>
          </a:prstGeom>
          <a:noFill/>
          <a:ln/>
        </p:spPr>
        <p:txBody>
          <a:bodyPr wrap="square" rtlCol="0" anchor="ctr"/>
          <a:lstStyle/>
          <a:p>
            <a:pPr marL="0" indent="0">
              <a:buNone/>
            </a:pPr>
            <a:r>
              <a:rPr lang="en-US" sz="1050" b="1" dirty="0">
                <a:solidFill>
                  <a:srgbClr val="FFFFFF"/>
                </a:solidFill>
              </a:rPr>
              <a:t>Recall on Converting Leads</a:t>
            </a:r>
            <a:endParaRPr lang="en-US" sz="1050" dirty="0"/>
          </a:p>
        </p:txBody>
      </p:sp>
      <p:sp>
        <p:nvSpPr>
          <p:cNvPr id="24" name="Text 22"/>
          <p:cNvSpPr/>
          <p:nvPr/>
        </p:nvSpPr>
        <p:spPr>
          <a:xfrm>
            <a:off x="548640" y="4626864"/>
            <a:ext cx="3749040" cy="256032"/>
          </a:xfrm>
          <a:prstGeom prst="rect">
            <a:avLst/>
          </a:prstGeom>
          <a:noFill/>
          <a:ln/>
        </p:spPr>
        <p:txBody>
          <a:bodyPr wrap="square" rtlCol="0" anchor="ctr"/>
          <a:lstStyle/>
          <a:p>
            <a:pPr marL="0" indent="0">
              <a:buNone/>
            </a:pPr>
            <a:r>
              <a:rPr lang="en-US" sz="950" dirty="0">
                <a:solidFill>
                  <a:srgbClr val="8899BB"/>
                </a:solidFill>
              </a:rPr>
              <a:t>Minimises missed high-value customers — most costly error.</a:t>
            </a:r>
            <a:endParaRPr lang="en-US" sz="950" dirty="0"/>
          </a:p>
        </p:txBody>
      </p:sp>
      <p:sp>
        <p:nvSpPr>
          <p:cNvPr id="25" name="Shape 23"/>
          <p:cNvSpPr/>
          <p:nvPr/>
        </p:nvSpPr>
        <p:spPr>
          <a:xfrm>
            <a:off x="4663440" y="3913632"/>
            <a:ext cx="4023360" cy="1024128"/>
          </a:xfrm>
          <a:prstGeom prst="rect">
            <a:avLst/>
          </a:prstGeom>
          <a:solidFill>
            <a:srgbClr val="0D1B45"/>
          </a:solidFill>
          <a:ln w="12700">
            <a:solidFill>
              <a:srgbClr val="112266"/>
            </a:solidFill>
            <a:prstDash val="solid"/>
          </a:ln>
          <a:effectLst>
            <a:outerShdw blurRad="101600" dist="38100" dir="8100000" algn="bl" rotWithShape="0">
              <a:srgbClr val="000000">
                <a:alpha val="20000"/>
              </a:srgbClr>
            </a:outerShdw>
          </a:effectLst>
        </p:spPr>
      </p:sp>
      <p:sp>
        <p:nvSpPr>
          <p:cNvPr id="26" name="Shape 24"/>
          <p:cNvSpPr/>
          <p:nvPr/>
        </p:nvSpPr>
        <p:spPr>
          <a:xfrm>
            <a:off x="4663440" y="3913632"/>
            <a:ext cx="4023360" cy="54864"/>
          </a:xfrm>
          <a:prstGeom prst="rect">
            <a:avLst/>
          </a:prstGeom>
          <a:solidFill>
            <a:srgbClr val="FFD166"/>
          </a:solidFill>
          <a:ln w="12700">
            <a:solidFill>
              <a:srgbClr val="FFD166"/>
            </a:solidFill>
            <a:prstDash val="solid"/>
          </a:ln>
        </p:spPr>
      </p:sp>
      <p:sp>
        <p:nvSpPr>
          <p:cNvPr id="27" name="Text 25"/>
          <p:cNvSpPr/>
          <p:nvPr/>
        </p:nvSpPr>
        <p:spPr>
          <a:xfrm>
            <a:off x="4800600" y="4005072"/>
            <a:ext cx="1005840" cy="365760"/>
          </a:xfrm>
          <a:prstGeom prst="rect">
            <a:avLst/>
          </a:prstGeom>
          <a:noFill/>
          <a:ln/>
        </p:spPr>
        <p:txBody>
          <a:bodyPr wrap="square" rtlCol="0" anchor="ctr"/>
          <a:lstStyle/>
          <a:p>
            <a:pPr marL="0" indent="0">
              <a:buNone/>
            </a:pPr>
            <a:r>
              <a:rPr lang="en-US" sz="1700" b="1" dirty="0">
                <a:solidFill>
                  <a:srgbClr val="FFD166"/>
                </a:solidFill>
              </a:rPr>
              <a:t>Real-Time</a:t>
            </a:r>
            <a:endParaRPr lang="en-US" sz="1700" dirty="0"/>
          </a:p>
        </p:txBody>
      </p:sp>
      <p:sp>
        <p:nvSpPr>
          <p:cNvPr id="28" name="Text 26"/>
          <p:cNvSpPr/>
          <p:nvPr/>
        </p:nvSpPr>
        <p:spPr>
          <a:xfrm>
            <a:off x="4800600" y="4389120"/>
            <a:ext cx="3749040" cy="237744"/>
          </a:xfrm>
          <a:prstGeom prst="rect">
            <a:avLst/>
          </a:prstGeom>
          <a:noFill/>
          <a:ln/>
        </p:spPr>
        <p:txBody>
          <a:bodyPr wrap="square" rtlCol="0" anchor="ctr"/>
          <a:lstStyle/>
          <a:p>
            <a:pPr marL="0" indent="0">
              <a:buNone/>
            </a:pPr>
            <a:r>
              <a:rPr lang="en-US" sz="1050" b="1" dirty="0">
                <a:solidFill>
                  <a:srgbClr val="FFFFFF"/>
                </a:solidFill>
              </a:rPr>
              <a:t>Lead Scoring Speed</a:t>
            </a:r>
            <a:endParaRPr lang="en-US" sz="1050" dirty="0"/>
          </a:p>
        </p:txBody>
      </p:sp>
      <p:sp>
        <p:nvSpPr>
          <p:cNvPr id="29" name="Text 27"/>
          <p:cNvSpPr/>
          <p:nvPr/>
        </p:nvSpPr>
        <p:spPr>
          <a:xfrm>
            <a:off x="4800600" y="4626864"/>
            <a:ext cx="3749040" cy="256032"/>
          </a:xfrm>
          <a:prstGeom prst="rect">
            <a:avLst/>
          </a:prstGeom>
          <a:noFill/>
          <a:ln/>
        </p:spPr>
        <p:txBody>
          <a:bodyPr wrap="square" rtlCol="0" anchor="ctr"/>
          <a:lstStyle/>
          <a:p>
            <a:pPr marL="0" indent="0">
              <a:buNone/>
            </a:pPr>
            <a:r>
              <a:rPr lang="en-US" sz="950" dirty="0">
                <a:solidFill>
                  <a:srgbClr val="8899BB"/>
                </a:solidFill>
              </a:rPr>
              <a:t>Instant 0-100 score + directive from DSS dashboard.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2266"/>
        </a:solidFill>
        <a:effectLst/>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0A0E2A"/>
          </a:solidFill>
          <a:ln w="12700">
            <a:solidFill>
              <a:srgbClr val="0A0E2A"/>
            </a:solidFill>
            <a:prstDash val="solid"/>
          </a:ln>
        </p:spPr>
      </p:sp>
      <p:sp>
        <p:nvSpPr>
          <p:cNvPr id="3" name="Shape 1"/>
          <p:cNvSpPr/>
          <p:nvPr/>
        </p:nvSpPr>
        <p:spPr>
          <a:xfrm>
            <a:off x="4206240" y="0"/>
            <a:ext cx="64008" cy="5143500"/>
          </a:xfrm>
          <a:prstGeom prst="rect">
            <a:avLst/>
          </a:prstGeom>
          <a:solidFill>
            <a:srgbClr val="FF7A00"/>
          </a:solidFill>
          <a:ln w="12700">
            <a:solidFill>
              <a:srgbClr val="FF7A00"/>
            </a:solidFill>
            <a:prstDash val="solid"/>
          </a:ln>
        </p:spPr>
      </p:sp>
      <p:sp>
        <p:nvSpPr>
          <p:cNvPr id="4" name="Text 2"/>
          <p:cNvSpPr/>
          <p:nvPr/>
        </p:nvSpPr>
        <p:spPr>
          <a:xfrm>
            <a:off x="411480" y="228600"/>
            <a:ext cx="3657600" cy="201168"/>
          </a:xfrm>
          <a:prstGeom prst="rect">
            <a:avLst/>
          </a:prstGeom>
          <a:noFill/>
          <a:ln/>
        </p:spPr>
        <p:txBody>
          <a:bodyPr wrap="square" rtlCol="0" anchor="ctr"/>
          <a:lstStyle/>
          <a:p>
            <a:pPr marL="0" indent="0">
              <a:buNone/>
            </a:pPr>
            <a:r>
              <a:rPr lang="en-US" sz="750" b="1" kern="0" spc="300" dirty="0">
                <a:solidFill>
                  <a:srgbClr val="FF7A00"/>
                </a:solidFill>
              </a:rPr>
              <a:t>CONCLUSION &amp; FUTURE SCOPE</a:t>
            </a:r>
            <a:endParaRPr lang="en-US" sz="750" dirty="0"/>
          </a:p>
        </p:txBody>
      </p:sp>
      <p:sp>
        <p:nvSpPr>
          <p:cNvPr id="5" name="Text 3"/>
          <p:cNvSpPr/>
          <p:nvPr/>
        </p:nvSpPr>
        <p:spPr>
          <a:xfrm>
            <a:off x="365760" y="475488"/>
            <a:ext cx="3566160" cy="1097280"/>
          </a:xfrm>
          <a:prstGeom prst="rect">
            <a:avLst/>
          </a:prstGeom>
          <a:noFill/>
          <a:ln/>
        </p:spPr>
        <p:txBody>
          <a:bodyPr wrap="square" rtlCol="0" anchor="ctr"/>
          <a:lstStyle/>
          <a:p>
            <a:pPr marL="0" indent="0">
              <a:lnSpc>
                <a:spcPct val="115000"/>
              </a:lnSpc>
              <a:buNone/>
            </a:pPr>
            <a:r>
              <a:rPr lang="en-US" sz="2800" b="1" dirty="0">
                <a:solidFill>
                  <a:srgbClr val="FFFFFF"/>
                </a:solidFill>
                <a:latin typeface="Calibri" pitchFamily="34" charset="0"/>
                <a:ea typeface="Calibri" pitchFamily="34" charset="-122"/>
                <a:cs typeface="Calibri" pitchFamily="34" charset="-120"/>
              </a:rPr>
              <a:t>Conclusion &amp;</a:t>
            </a:r>
            <a:endParaRPr lang="en-US" sz="2800" dirty="0"/>
          </a:p>
          <a:p>
            <a:pPr marL="0" indent="0">
              <a:lnSpc>
                <a:spcPct val="115000"/>
              </a:lnSpc>
              <a:buNone/>
            </a:pPr>
            <a:r>
              <a:rPr lang="en-US" sz="2800" b="1" dirty="0">
                <a:solidFill>
                  <a:srgbClr val="FFFFFF"/>
                </a:solidFill>
                <a:latin typeface="Calibri" pitchFamily="34" charset="0"/>
                <a:ea typeface="Calibri" pitchFamily="34" charset="-122"/>
                <a:cs typeface="Calibri" pitchFamily="34" charset="-120"/>
              </a:rPr>
              <a:t>Future Scope</a:t>
            </a:r>
            <a:endParaRPr lang="en-US" sz="2800" dirty="0"/>
          </a:p>
        </p:txBody>
      </p:sp>
      <p:sp>
        <p:nvSpPr>
          <p:cNvPr id="6" name="Text 4"/>
          <p:cNvSpPr/>
          <p:nvPr/>
        </p:nvSpPr>
        <p:spPr>
          <a:xfrm>
            <a:off x="8046720" y="4892040"/>
            <a:ext cx="822960" cy="182880"/>
          </a:xfrm>
          <a:prstGeom prst="rect">
            <a:avLst/>
          </a:prstGeom>
          <a:noFill/>
          <a:ln/>
        </p:spPr>
        <p:txBody>
          <a:bodyPr wrap="square" rtlCol="0" anchor="ctr"/>
          <a:lstStyle/>
          <a:p>
            <a:pPr marL="0" indent="0" algn="r">
              <a:buNone/>
            </a:pPr>
            <a:r>
              <a:rPr lang="en-US" sz="800" dirty="0">
                <a:solidFill>
                  <a:srgbClr val="4A5578"/>
                </a:solidFill>
              </a:rPr>
              <a:t>11 / 11</a:t>
            </a:r>
            <a:endParaRPr lang="en-US" sz="800" dirty="0"/>
          </a:p>
        </p:txBody>
      </p:sp>
      <p:sp>
        <p:nvSpPr>
          <p:cNvPr id="7" name="Text 5"/>
          <p:cNvSpPr/>
          <p:nvPr/>
        </p:nvSpPr>
        <p:spPr>
          <a:xfrm>
            <a:off x="365760" y="1719072"/>
            <a:ext cx="3657600" cy="868680"/>
          </a:xfrm>
          <a:prstGeom prst="rect">
            <a:avLst/>
          </a:prstGeom>
          <a:noFill/>
          <a:ln/>
        </p:spPr>
        <p:txBody>
          <a:bodyPr wrap="square" rtlCol="0" anchor="ctr"/>
          <a:lstStyle/>
          <a:p>
            <a:pPr marL="0" indent="0">
              <a:lnSpc>
                <a:spcPct val="130000"/>
              </a:lnSpc>
              <a:buNone/>
            </a:pPr>
            <a:r>
              <a:rPr lang="en-US" sz="1250" i="1" dirty="0">
                <a:solidFill>
                  <a:srgbClr val="A0EAF5"/>
                </a:solidFill>
              </a:rPr>
              <a:t>"Machine Learning enables scalable, intelligent,</a:t>
            </a:r>
            <a:endParaRPr lang="en-US" sz="1250" dirty="0"/>
          </a:p>
          <a:p>
            <a:pPr marL="0" indent="0">
              <a:lnSpc>
                <a:spcPct val="130000"/>
              </a:lnSpc>
              <a:buNone/>
            </a:pPr>
            <a:r>
              <a:rPr lang="en-US" sz="1250" i="1" dirty="0">
                <a:solidFill>
                  <a:srgbClr val="A0EAF5"/>
                </a:solidFill>
              </a:rPr>
              <a:t>and data-driven customer acquisition strategies."</a:t>
            </a:r>
            <a:endParaRPr lang="en-US" sz="1250" dirty="0"/>
          </a:p>
        </p:txBody>
      </p:sp>
      <p:sp>
        <p:nvSpPr>
          <p:cNvPr id="8" name="Text 6"/>
          <p:cNvSpPr/>
          <p:nvPr/>
        </p:nvSpPr>
        <p:spPr>
          <a:xfrm>
            <a:off x="365760" y="2743200"/>
            <a:ext cx="3749040" cy="1645920"/>
          </a:xfrm>
          <a:prstGeom prst="rect">
            <a:avLst/>
          </a:prstGeom>
          <a:noFill/>
          <a:ln/>
        </p:spPr>
        <p:txBody>
          <a:bodyPr wrap="square" rtlCol="0" anchor="ctr"/>
          <a:lstStyle/>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ROC-AUC 0.884 — Random Forest champion</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Real-time DSS with 4-tier lead classification</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38.5% → 70%+ projected conversion lift</a:t>
            </a:r>
            <a:endParaRPr lang="en-US" sz="1200" dirty="0"/>
          </a:p>
          <a:p>
            <a:pPr marL="342900" indent="-342900">
              <a:spcAft>
                <a:spcPts val="400"/>
              </a:spcAft>
              <a:buSzPct val="100000"/>
              <a:buChar char="•"/>
            </a:pPr>
            <a:r>
              <a:rPr lang="en-US" sz="1200" dirty="0">
                <a:solidFill>
                  <a:srgbClr val="E8EDF7"/>
                </a:solidFill>
                <a:latin typeface="Calibri" pitchFamily="34" charset="0"/>
                <a:ea typeface="Calibri" pitchFamily="34" charset="-122"/>
                <a:cs typeface="Calibri" pitchFamily="34" charset="-120"/>
              </a:rPr>
              <a:t>Production pipeline with serialised artifacts</a:t>
            </a:r>
            <a:endParaRPr lang="en-US" sz="1200" dirty="0"/>
          </a:p>
        </p:txBody>
      </p:sp>
      <p:sp>
        <p:nvSpPr>
          <p:cNvPr id="9" name="Text 7"/>
          <p:cNvSpPr/>
          <p:nvPr/>
        </p:nvSpPr>
        <p:spPr>
          <a:xfrm>
            <a:off x="4572000" y="475488"/>
            <a:ext cx="4206240" cy="274320"/>
          </a:xfrm>
          <a:prstGeom prst="rect">
            <a:avLst/>
          </a:prstGeom>
          <a:noFill/>
          <a:ln/>
        </p:spPr>
        <p:txBody>
          <a:bodyPr wrap="square" rtlCol="0" anchor="ctr"/>
          <a:lstStyle/>
          <a:p>
            <a:pPr marL="0" indent="0">
              <a:buNone/>
            </a:pPr>
            <a:r>
              <a:rPr lang="en-US" sz="1400" b="1" dirty="0">
                <a:solidFill>
                  <a:srgbClr val="FF7A00"/>
                </a:solidFill>
              </a:rPr>
              <a:t>Roadmap</a:t>
            </a:r>
            <a:endParaRPr lang="en-US" sz="1400" dirty="0"/>
          </a:p>
        </p:txBody>
      </p:sp>
      <p:sp>
        <p:nvSpPr>
          <p:cNvPr id="10" name="Shape 8"/>
          <p:cNvSpPr/>
          <p:nvPr/>
        </p:nvSpPr>
        <p:spPr>
          <a:xfrm>
            <a:off x="4892040" y="1527048"/>
            <a:ext cx="36576" cy="164592"/>
          </a:xfrm>
          <a:prstGeom prst="rect">
            <a:avLst/>
          </a:prstGeom>
          <a:solidFill>
            <a:srgbClr val="00C48C"/>
          </a:solidFill>
          <a:ln w="12700">
            <a:solidFill>
              <a:srgbClr val="00C48C"/>
            </a:solidFill>
            <a:prstDash val="solid"/>
          </a:ln>
        </p:spPr>
      </p:sp>
      <p:sp>
        <p:nvSpPr>
          <p:cNvPr id="11" name="Shape 9"/>
          <p:cNvSpPr/>
          <p:nvPr/>
        </p:nvSpPr>
        <p:spPr>
          <a:xfrm>
            <a:off x="4572000" y="978408"/>
            <a:ext cx="411480" cy="411480"/>
          </a:xfrm>
          <a:prstGeom prst="ellipse">
            <a:avLst/>
          </a:prstGeom>
          <a:solidFill>
            <a:srgbClr val="00C48C"/>
          </a:solidFill>
          <a:ln w="12700">
            <a:solidFill>
              <a:srgbClr val="00C48C"/>
            </a:solidFill>
            <a:prstDash val="solid"/>
          </a:ln>
        </p:spPr>
      </p:sp>
      <p:sp>
        <p:nvSpPr>
          <p:cNvPr id="12" name="Text 10"/>
          <p:cNvSpPr/>
          <p:nvPr/>
        </p:nvSpPr>
        <p:spPr>
          <a:xfrm>
            <a:off x="4572000" y="978408"/>
            <a:ext cx="411480" cy="411480"/>
          </a:xfrm>
          <a:prstGeom prst="rect">
            <a:avLst/>
          </a:prstGeom>
          <a:noFill/>
          <a:ln/>
        </p:spPr>
        <p:txBody>
          <a:bodyPr wrap="square" rtlCol="0" anchor="ctr"/>
          <a:lstStyle/>
          <a:p>
            <a:pPr marL="0" indent="0" algn="ctr">
              <a:buNone/>
            </a:pPr>
            <a:r>
              <a:rPr lang="en-US" sz="1300" b="1" dirty="0">
                <a:solidFill>
                  <a:srgbClr val="FFFFFF"/>
                </a:solidFill>
              </a:rPr>
              <a:t>1</a:t>
            </a:r>
            <a:endParaRPr lang="en-US" sz="1300" dirty="0"/>
          </a:p>
        </p:txBody>
      </p:sp>
      <p:sp>
        <p:nvSpPr>
          <p:cNvPr id="13" name="Shape 11"/>
          <p:cNvSpPr/>
          <p:nvPr/>
        </p:nvSpPr>
        <p:spPr>
          <a:xfrm>
            <a:off x="5120640" y="941832"/>
            <a:ext cx="3657600" cy="502920"/>
          </a:xfrm>
          <a:prstGeom prst="rect">
            <a:avLst/>
          </a:prstGeom>
          <a:solidFill>
            <a:srgbClr val="0D1B45"/>
          </a:solidFill>
          <a:ln w="12700">
            <a:solidFill>
              <a:srgbClr val="00C48C"/>
            </a:solidFill>
            <a:prstDash val="solid"/>
          </a:ln>
        </p:spPr>
      </p:sp>
      <p:sp>
        <p:nvSpPr>
          <p:cNvPr id="14" name="Text 12"/>
          <p:cNvSpPr/>
          <p:nvPr/>
        </p:nvSpPr>
        <p:spPr>
          <a:xfrm>
            <a:off x="5257800" y="960120"/>
            <a:ext cx="3383280" cy="237744"/>
          </a:xfrm>
          <a:prstGeom prst="rect">
            <a:avLst/>
          </a:prstGeom>
          <a:noFill/>
          <a:ln/>
        </p:spPr>
        <p:txBody>
          <a:bodyPr wrap="square" rtlCol="0" anchor="ctr"/>
          <a:lstStyle/>
          <a:p>
            <a:pPr marL="0" indent="0">
              <a:buNone/>
            </a:pPr>
            <a:r>
              <a:rPr lang="en-US" sz="1100" b="1" dirty="0">
                <a:solidFill>
                  <a:srgbClr val="00C48C"/>
                </a:solidFill>
              </a:rPr>
              <a:t>Current DSS</a:t>
            </a:r>
            <a:endParaRPr lang="en-US" sz="1100" dirty="0"/>
          </a:p>
        </p:txBody>
      </p:sp>
      <p:sp>
        <p:nvSpPr>
          <p:cNvPr id="15" name="Text 13"/>
          <p:cNvSpPr/>
          <p:nvPr/>
        </p:nvSpPr>
        <p:spPr>
          <a:xfrm>
            <a:off x="5257800" y="1179576"/>
            <a:ext cx="3383280" cy="219456"/>
          </a:xfrm>
          <a:prstGeom prst="rect">
            <a:avLst/>
          </a:prstGeom>
          <a:noFill/>
          <a:ln/>
        </p:spPr>
        <p:txBody>
          <a:bodyPr wrap="square" rtlCol="0" anchor="ctr"/>
          <a:lstStyle/>
          <a:p>
            <a:pPr marL="0" indent="0">
              <a:buNone/>
            </a:pPr>
            <a:r>
              <a:rPr lang="en-US" sz="900" dirty="0">
                <a:solidFill>
                  <a:srgbClr val="8899BB"/>
                </a:solidFill>
              </a:rPr>
              <a:t>ipywidgets · Jupyter Notebook</a:t>
            </a:r>
            <a:endParaRPr lang="en-US" sz="900" dirty="0"/>
          </a:p>
        </p:txBody>
      </p:sp>
      <p:sp>
        <p:nvSpPr>
          <p:cNvPr id="16" name="Shape 14"/>
          <p:cNvSpPr/>
          <p:nvPr/>
        </p:nvSpPr>
        <p:spPr>
          <a:xfrm>
            <a:off x="4892040" y="2350008"/>
            <a:ext cx="36576" cy="164592"/>
          </a:xfrm>
          <a:prstGeom prst="rect">
            <a:avLst/>
          </a:prstGeom>
          <a:solidFill>
            <a:srgbClr val="00C8E0"/>
          </a:solidFill>
          <a:ln w="12700">
            <a:solidFill>
              <a:srgbClr val="00C8E0"/>
            </a:solidFill>
            <a:prstDash val="solid"/>
          </a:ln>
        </p:spPr>
      </p:sp>
      <p:sp>
        <p:nvSpPr>
          <p:cNvPr id="17" name="Shape 15"/>
          <p:cNvSpPr/>
          <p:nvPr/>
        </p:nvSpPr>
        <p:spPr>
          <a:xfrm>
            <a:off x="4572000" y="1801368"/>
            <a:ext cx="411480" cy="411480"/>
          </a:xfrm>
          <a:prstGeom prst="ellipse">
            <a:avLst/>
          </a:prstGeom>
          <a:solidFill>
            <a:srgbClr val="00C8E0"/>
          </a:solidFill>
          <a:ln w="12700">
            <a:solidFill>
              <a:srgbClr val="00C8E0"/>
            </a:solidFill>
            <a:prstDash val="solid"/>
          </a:ln>
        </p:spPr>
      </p:sp>
      <p:sp>
        <p:nvSpPr>
          <p:cNvPr id="18" name="Text 16"/>
          <p:cNvSpPr/>
          <p:nvPr/>
        </p:nvSpPr>
        <p:spPr>
          <a:xfrm>
            <a:off x="4572000" y="1801368"/>
            <a:ext cx="411480" cy="411480"/>
          </a:xfrm>
          <a:prstGeom prst="rect">
            <a:avLst/>
          </a:prstGeom>
          <a:noFill/>
          <a:ln/>
        </p:spPr>
        <p:txBody>
          <a:bodyPr wrap="square" rtlCol="0" anchor="ctr"/>
          <a:lstStyle/>
          <a:p>
            <a:pPr marL="0" indent="0" algn="ctr">
              <a:buNone/>
            </a:pPr>
            <a:r>
              <a:rPr lang="en-US" sz="1300" b="1" dirty="0">
                <a:solidFill>
                  <a:srgbClr val="FFFFFF"/>
                </a:solidFill>
              </a:rPr>
              <a:t>2</a:t>
            </a:r>
            <a:endParaRPr lang="en-US" sz="1300" dirty="0"/>
          </a:p>
        </p:txBody>
      </p:sp>
      <p:sp>
        <p:nvSpPr>
          <p:cNvPr id="19" name="Shape 17"/>
          <p:cNvSpPr/>
          <p:nvPr/>
        </p:nvSpPr>
        <p:spPr>
          <a:xfrm>
            <a:off x="5120640" y="1764792"/>
            <a:ext cx="3657600" cy="502920"/>
          </a:xfrm>
          <a:prstGeom prst="rect">
            <a:avLst/>
          </a:prstGeom>
          <a:solidFill>
            <a:srgbClr val="0D1B45"/>
          </a:solidFill>
          <a:ln w="12700">
            <a:solidFill>
              <a:srgbClr val="00C8E0"/>
            </a:solidFill>
            <a:prstDash val="solid"/>
          </a:ln>
        </p:spPr>
      </p:sp>
      <p:sp>
        <p:nvSpPr>
          <p:cNvPr id="20" name="Text 18"/>
          <p:cNvSpPr/>
          <p:nvPr/>
        </p:nvSpPr>
        <p:spPr>
          <a:xfrm>
            <a:off x="5257800" y="1783080"/>
            <a:ext cx="3383280" cy="237744"/>
          </a:xfrm>
          <a:prstGeom prst="rect">
            <a:avLst/>
          </a:prstGeom>
          <a:noFill/>
          <a:ln/>
        </p:spPr>
        <p:txBody>
          <a:bodyPr wrap="square" rtlCol="0" anchor="ctr"/>
          <a:lstStyle/>
          <a:p>
            <a:pPr marL="0" indent="0">
              <a:buNone/>
            </a:pPr>
            <a:r>
              <a:rPr lang="en-US" sz="1100" b="1" dirty="0">
                <a:solidFill>
                  <a:srgbClr val="00C8E0"/>
                </a:solidFill>
              </a:rPr>
              <a:t>Streamlit App</a:t>
            </a:r>
            <a:endParaRPr lang="en-US" sz="1100" dirty="0"/>
          </a:p>
        </p:txBody>
      </p:sp>
      <p:sp>
        <p:nvSpPr>
          <p:cNvPr id="21" name="Text 19"/>
          <p:cNvSpPr/>
          <p:nvPr/>
        </p:nvSpPr>
        <p:spPr>
          <a:xfrm>
            <a:off x="5257800" y="2002536"/>
            <a:ext cx="3383280" cy="219456"/>
          </a:xfrm>
          <a:prstGeom prst="rect">
            <a:avLst/>
          </a:prstGeom>
          <a:noFill/>
          <a:ln/>
        </p:spPr>
        <p:txBody>
          <a:bodyPr wrap="square" rtlCol="0" anchor="ctr"/>
          <a:lstStyle/>
          <a:p>
            <a:pPr marL="0" indent="0">
              <a:buNone/>
            </a:pPr>
            <a:r>
              <a:rPr lang="en-US" sz="900" dirty="0">
                <a:solidFill>
                  <a:srgbClr val="8899BB"/>
                </a:solidFill>
              </a:rPr>
              <a:t>Full SaaS-style web deployment</a:t>
            </a:r>
            <a:endParaRPr lang="en-US" sz="900" dirty="0"/>
          </a:p>
        </p:txBody>
      </p:sp>
      <p:sp>
        <p:nvSpPr>
          <p:cNvPr id="22" name="Shape 20"/>
          <p:cNvSpPr/>
          <p:nvPr/>
        </p:nvSpPr>
        <p:spPr>
          <a:xfrm>
            <a:off x="4892040" y="3172968"/>
            <a:ext cx="36576" cy="164592"/>
          </a:xfrm>
          <a:prstGeom prst="rect">
            <a:avLst/>
          </a:prstGeom>
          <a:solidFill>
            <a:srgbClr val="00C8E0"/>
          </a:solidFill>
          <a:ln w="12700">
            <a:solidFill>
              <a:srgbClr val="00C8E0"/>
            </a:solidFill>
            <a:prstDash val="solid"/>
          </a:ln>
        </p:spPr>
      </p:sp>
      <p:sp>
        <p:nvSpPr>
          <p:cNvPr id="23" name="Shape 21"/>
          <p:cNvSpPr/>
          <p:nvPr/>
        </p:nvSpPr>
        <p:spPr>
          <a:xfrm>
            <a:off x="4572000" y="2624328"/>
            <a:ext cx="411480" cy="411480"/>
          </a:xfrm>
          <a:prstGeom prst="ellipse">
            <a:avLst/>
          </a:prstGeom>
          <a:solidFill>
            <a:srgbClr val="00C8E0"/>
          </a:solidFill>
          <a:ln w="12700">
            <a:solidFill>
              <a:srgbClr val="00C8E0"/>
            </a:solidFill>
            <a:prstDash val="solid"/>
          </a:ln>
        </p:spPr>
      </p:sp>
      <p:sp>
        <p:nvSpPr>
          <p:cNvPr id="24" name="Text 22"/>
          <p:cNvSpPr/>
          <p:nvPr/>
        </p:nvSpPr>
        <p:spPr>
          <a:xfrm>
            <a:off x="4572000" y="2624328"/>
            <a:ext cx="411480" cy="411480"/>
          </a:xfrm>
          <a:prstGeom prst="rect">
            <a:avLst/>
          </a:prstGeom>
          <a:noFill/>
          <a:ln/>
        </p:spPr>
        <p:txBody>
          <a:bodyPr wrap="square" rtlCol="0" anchor="ctr"/>
          <a:lstStyle/>
          <a:p>
            <a:pPr marL="0" indent="0" algn="ctr">
              <a:buNone/>
            </a:pPr>
            <a:r>
              <a:rPr lang="en-US" sz="1300" b="1" dirty="0">
                <a:solidFill>
                  <a:srgbClr val="FFFFFF"/>
                </a:solidFill>
              </a:rPr>
              <a:t>3</a:t>
            </a:r>
            <a:endParaRPr lang="en-US" sz="1300" dirty="0"/>
          </a:p>
        </p:txBody>
      </p:sp>
      <p:sp>
        <p:nvSpPr>
          <p:cNvPr id="25" name="Shape 23"/>
          <p:cNvSpPr/>
          <p:nvPr/>
        </p:nvSpPr>
        <p:spPr>
          <a:xfrm>
            <a:off x="5120640" y="2587752"/>
            <a:ext cx="3657600" cy="502920"/>
          </a:xfrm>
          <a:prstGeom prst="rect">
            <a:avLst/>
          </a:prstGeom>
          <a:solidFill>
            <a:srgbClr val="0D1B45"/>
          </a:solidFill>
          <a:ln w="12700">
            <a:solidFill>
              <a:srgbClr val="00C8E0"/>
            </a:solidFill>
            <a:prstDash val="solid"/>
          </a:ln>
        </p:spPr>
      </p:sp>
      <p:sp>
        <p:nvSpPr>
          <p:cNvPr id="26" name="Text 24"/>
          <p:cNvSpPr/>
          <p:nvPr/>
        </p:nvSpPr>
        <p:spPr>
          <a:xfrm>
            <a:off x="5257800" y="2606040"/>
            <a:ext cx="3383280" cy="237744"/>
          </a:xfrm>
          <a:prstGeom prst="rect">
            <a:avLst/>
          </a:prstGeom>
          <a:noFill/>
          <a:ln/>
        </p:spPr>
        <p:txBody>
          <a:bodyPr wrap="square" rtlCol="0" anchor="ctr"/>
          <a:lstStyle/>
          <a:p>
            <a:pPr marL="0" indent="0">
              <a:buNone/>
            </a:pPr>
            <a:r>
              <a:rPr lang="en-US" sz="1100" b="1" dirty="0">
                <a:solidFill>
                  <a:srgbClr val="00C8E0"/>
                </a:solidFill>
              </a:rPr>
              <a:t>FastAPI REST API</a:t>
            </a:r>
            <a:endParaRPr lang="en-US" sz="1100" dirty="0"/>
          </a:p>
        </p:txBody>
      </p:sp>
      <p:sp>
        <p:nvSpPr>
          <p:cNvPr id="27" name="Text 25"/>
          <p:cNvSpPr/>
          <p:nvPr/>
        </p:nvSpPr>
        <p:spPr>
          <a:xfrm>
            <a:off x="5257800" y="2825496"/>
            <a:ext cx="3383280" cy="219456"/>
          </a:xfrm>
          <a:prstGeom prst="rect">
            <a:avLst/>
          </a:prstGeom>
          <a:noFill/>
          <a:ln/>
        </p:spPr>
        <p:txBody>
          <a:bodyPr wrap="square" rtlCol="0" anchor="ctr"/>
          <a:lstStyle/>
          <a:p>
            <a:pPr marL="0" indent="0">
              <a:buNone/>
            </a:pPr>
            <a:r>
              <a:rPr lang="en-US" sz="900" dirty="0">
                <a:solidFill>
                  <a:srgbClr val="8899BB"/>
                </a:solidFill>
              </a:rPr>
              <a:t>Real-time prediction endpoint</a:t>
            </a:r>
            <a:endParaRPr lang="en-US" sz="900" dirty="0"/>
          </a:p>
        </p:txBody>
      </p:sp>
      <p:sp>
        <p:nvSpPr>
          <p:cNvPr id="28" name="Shape 26"/>
          <p:cNvSpPr/>
          <p:nvPr/>
        </p:nvSpPr>
        <p:spPr>
          <a:xfrm>
            <a:off x="4892040" y="3995928"/>
            <a:ext cx="36576" cy="164592"/>
          </a:xfrm>
          <a:prstGeom prst="rect">
            <a:avLst/>
          </a:prstGeom>
          <a:solidFill>
            <a:srgbClr val="FFD166"/>
          </a:solidFill>
          <a:ln w="12700">
            <a:solidFill>
              <a:srgbClr val="FFD166"/>
            </a:solidFill>
            <a:prstDash val="solid"/>
          </a:ln>
        </p:spPr>
      </p:sp>
      <p:sp>
        <p:nvSpPr>
          <p:cNvPr id="29" name="Shape 27"/>
          <p:cNvSpPr/>
          <p:nvPr/>
        </p:nvSpPr>
        <p:spPr>
          <a:xfrm>
            <a:off x="4572000" y="3447288"/>
            <a:ext cx="411480" cy="411480"/>
          </a:xfrm>
          <a:prstGeom prst="ellipse">
            <a:avLst/>
          </a:prstGeom>
          <a:solidFill>
            <a:srgbClr val="FFD166"/>
          </a:solidFill>
          <a:ln w="12700">
            <a:solidFill>
              <a:srgbClr val="FFD166"/>
            </a:solidFill>
            <a:prstDash val="solid"/>
          </a:ln>
        </p:spPr>
      </p:sp>
      <p:sp>
        <p:nvSpPr>
          <p:cNvPr id="30" name="Text 28"/>
          <p:cNvSpPr/>
          <p:nvPr/>
        </p:nvSpPr>
        <p:spPr>
          <a:xfrm>
            <a:off x="4572000" y="3447288"/>
            <a:ext cx="411480" cy="411480"/>
          </a:xfrm>
          <a:prstGeom prst="rect">
            <a:avLst/>
          </a:prstGeom>
          <a:noFill/>
          <a:ln/>
        </p:spPr>
        <p:txBody>
          <a:bodyPr wrap="square" rtlCol="0" anchor="ctr"/>
          <a:lstStyle/>
          <a:p>
            <a:pPr marL="0" indent="0" algn="ctr">
              <a:buNone/>
            </a:pPr>
            <a:r>
              <a:rPr lang="en-US" sz="1300" b="1" dirty="0">
                <a:solidFill>
                  <a:srgbClr val="FFFFFF"/>
                </a:solidFill>
              </a:rPr>
              <a:t>4</a:t>
            </a:r>
            <a:endParaRPr lang="en-US" sz="1300" dirty="0"/>
          </a:p>
        </p:txBody>
      </p:sp>
      <p:sp>
        <p:nvSpPr>
          <p:cNvPr id="31" name="Shape 29"/>
          <p:cNvSpPr/>
          <p:nvPr/>
        </p:nvSpPr>
        <p:spPr>
          <a:xfrm>
            <a:off x="5120640" y="3410712"/>
            <a:ext cx="3657600" cy="502920"/>
          </a:xfrm>
          <a:prstGeom prst="rect">
            <a:avLst/>
          </a:prstGeom>
          <a:solidFill>
            <a:srgbClr val="0D1B45"/>
          </a:solidFill>
          <a:ln w="12700">
            <a:solidFill>
              <a:srgbClr val="FFD166"/>
            </a:solidFill>
            <a:prstDash val="solid"/>
          </a:ln>
        </p:spPr>
      </p:sp>
      <p:sp>
        <p:nvSpPr>
          <p:cNvPr id="32" name="Text 30"/>
          <p:cNvSpPr/>
          <p:nvPr/>
        </p:nvSpPr>
        <p:spPr>
          <a:xfrm>
            <a:off x="5257800" y="3429000"/>
            <a:ext cx="3383280" cy="237744"/>
          </a:xfrm>
          <a:prstGeom prst="rect">
            <a:avLst/>
          </a:prstGeom>
          <a:noFill/>
          <a:ln/>
        </p:spPr>
        <p:txBody>
          <a:bodyPr wrap="square" rtlCol="0" anchor="ctr"/>
          <a:lstStyle/>
          <a:p>
            <a:pPr marL="0" indent="0">
              <a:buNone/>
            </a:pPr>
            <a:r>
              <a:rPr lang="en-US" sz="1100" b="1" dirty="0">
                <a:solidFill>
                  <a:srgbClr val="FFD166"/>
                </a:solidFill>
              </a:rPr>
              <a:t>SHAP Explainability</a:t>
            </a:r>
            <a:endParaRPr lang="en-US" sz="1100" dirty="0"/>
          </a:p>
        </p:txBody>
      </p:sp>
      <p:sp>
        <p:nvSpPr>
          <p:cNvPr id="33" name="Text 31"/>
          <p:cNvSpPr/>
          <p:nvPr/>
        </p:nvSpPr>
        <p:spPr>
          <a:xfrm>
            <a:off x="5257800" y="3648456"/>
            <a:ext cx="3383280" cy="219456"/>
          </a:xfrm>
          <a:prstGeom prst="rect">
            <a:avLst/>
          </a:prstGeom>
          <a:noFill/>
          <a:ln/>
        </p:spPr>
        <p:txBody>
          <a:bodyPr wrap="square" rtlCol="0" anchor="ctr"/>
          <a:lstStyle/>
          <a:p>
            <a:pPr marL="0" indent="0">
              <a:buNone/>
            </a:pPr>
            <a:r>
              <a:rPr lang="en-US" sz="900" dirty="0">
                <a:solidFill>
                  <a:srgbClr val="8899BB"/>
                </a:solidFill>
              </a:rPr>
              <a:t>Model interpretability &amp; fairness</a:t>
            </a:r>
            <a:endParaRPr lang="en-US" sz="900" dirty="0"/>
          </a:p>
        </p:txBody>
      </p:sp>
      <p:sp>
        <p:nvSpPr>
          <p:cNvPr id="34" name="Shape 32"/>
          <p:cNvSpPr/>
          <p:nvPr/>
        </p:nvSpPr>
        <p:spPr>
          <a:xfrm>
            <a:off x="4572000" y="4270248"/>
            <a:ext cx="411480" cy="411480"/>
          </a:xfrm>
          <a:prstGeom prst="ellipse">
            <a:avLst/>
          </a:prstGeom>
          <a:solidFill>
            <a:srgbClr val="FF7A00"/>
          </a:solidFill>
          <a:ln w="12700">
            <a:solidFill>
              <a:srgbClr val="FF7A00"/>
            </a:solidFill>
            <a:prstDash val="solid"/>
          </a:ln>
        </p:spPr>
      </p:sp>
      <p:sp>
        <p:nvSpPr>
          <p:cNvPr id="35" name="Text 33"/>
          <p:cNvSpPr/>
          <p:nvPr/>
        </p:nvSpPr>
        <p:spPr>
          <a:xfrm>
            <a:off x="4572000" y="4270248"/>
            <a:ext cx="411480" cy="411480"/>
          </a:xfrm>
          <a:prstGeom prst="rect">
            <a:avLst/>
          </a:prstGeom>
          <a:noFill/>
          <a:ln/>
        </p:spPr>
        <p:txBody>
          <a:bodyPr wrap="square" rtlCol="0" anchor="ctr"/>
          <a:lstStyle/>
          <a:p>
            <a:pPr marL="0" indent="0" algn="ctr">
              <a:buNone/>
            </a:pPr>
            <a:r>
              <a:rPr lang="en-US" sz="1300" b="1" dirty="0">
                <a:solidFill>
                  <a:srgbClr val="FFFFFF"/>
                </a:solidFill>
              </a:rPr>
              <a:t>5</a:t>
            </a:r>
            <a:endParaRPr lang="en-US" sz="1300" dirty="0"/>
          </a:p>
        </p:txBody>
      </p:sp>
      <p:sp>
        <p:nvSpPr>
          <p:cNvPr id="36" name="Shape 34"/>
          <p:cNvSpPr/>
          <p:nvPr/>
        </p:nvSpPr>
        <p:spPr>
          <a:xfrm>
            <a:off x="5120640" y="4233672"/>
            <a:ext cx="3657600" cy="502920"/>
          </a:xfrm>
          <a:prstGeom prst="rect">
            <a:avLst/>
          </a:prstGeom>
          <a:solidFill>
            <a:srgbClr val="0D1B45"/>
          </a:solidFill>
          <a:ln w="12700">
            <a:solidFill>
              <a:srgbClr val="FF7A00"/>
            </a:solidFill>
            <a:prstDash val="solid"/>
          </a:ln>
        </p:spPr>
      </p:sp>
      <p:sp>
        <p:nvSpPr>
          <p:cNvPr id="37" name="Text 35"/>
          <p:cNvSpPr/>
          <p:nvPr/>
        </p:nvSpPr>
        <p:spPr>
          <a:xfrm>
            <a:off x="5257800" y="4251960"/>
            <a:ext cx="3383280" cy="237744"/>
          </a:xfrm>
          <a:prstGeom prst="rect">
            <a:avLst/>
          </a:prstGeom>
          <a:noFill/>
          <a:ln/>
        </p:spPr>
        <p:txBody>
          <a:bodyPr wrap="square" rtlCol="0" anchor="ctr"/>
          <a:lstStyle/>
          <a:p>
            <a:pPr marL="0" indent="0">
              <a:buNone/>
            </a:pPr>
            <a:r>
              <a:rPr lang="en-US" sz="1100" b="1" dirty="0">
                <a:solidFill>
                  <a:srgbClr val="FF7A00"/>
                </a:solidFill>
              </a:rPr>
              <a:t>CRM Integration</a:t>
            </a:r>
            <a:endParaRPr lang="en-US" sz="1100" dirty="0"/>
          </a:p>
        </p:txBody>
      </p:sp>
      <p:sp>
        <p:nvSpPr>
          <p:cNvPr id="38" name="Text 36"/>
          <p:cNvSpPr/>
          <p:nvPr/>
        </p:nvSpPr>
        <p:spPr>
          <a:xfrm>
            <a:off x="5257800" y="4471416"/>
            <a:ext cx="3383280" cy="219456"/>
          </a:xfrm>
          <a:prstGeom prst="rect">
            <a:avLst/>
          </a:prstGeom>
          <a:noFill/>
          <a:ln/>
        </p:spPr>
        <p:txBody>
          <a:bodyPr wrap="square" rtlCol="0" anchor="ctr"/>
          <a:lstStyle/>
          <a:p>
            <a:pPr marL="0" indent="0">
              <a:buNone/>
            </a:pPr>
            <a:r>
              <a:rPr lang="en-US" sz="900" dirty="0">
                <a:solidFill>
                  <a:srgbClr val="8899BB"/>
                </a:solidFill>
              </a:rPr>
              <a:t>Salesforce / HubSpot plugin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3402</Words>
  <Application>Microsoft Office PowerPoint</Application>
  <PresentationFormat>On-screen Show (16:9)</PresentationFormat>
  <Paragraphs>507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Lead Scoring &amp; Decision Support System</dc:title>
  <dc:subject>PptxGenJS Presentation</dc:subject>
  <dc:creator>Alex Abraham</dc:creator>
  <cp:lastModifiedBy>ALEX ABRAHAM</cp:lastModifiedBy>
  <cp:revision>5</cp:revision>
  <dcterms:created xsi:type="dcterms:W3CDTF">2026-05-06T21:02:40Z</dcterms:created>
  <dcterms:modified xsi:type="dcterms:W3CDTF">2026-05-07T19:11:02Z</dcterms:modified>
</cp:coreProperties>
</file>